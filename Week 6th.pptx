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88" r:id="rId3"/>
    <p:sldId id="257" r:id="rId4"/>
    <p:sldId id="258" r:id="rId5"/>
    <p:sldId id="259" r:id="rId6"/>
    <p:sldId id="261" r:id="rId7"/>
    <p:sldId id="260" r:id="rId8"/>
    <p:sldId id="262" r:id="rId9"/>
    <p:sldId id="264" r:id="rId10"/>
    <p:sldId id="268" r:id="rId11"/>
    <p:sldId id="269" r:id="rId12"/>
    <p:sldId id="267" r:id="rId13"/>
    <p:sldId id="265" r:id="rId14"/>
    <p:sldId id="266" r:id="rId15"/>
    <p:sldId id="270" r:id="rId16"/>
    <p:sldId id="278" r:id="rId17"/>
    <p:sldId id="272" r:id="rId18"/>
    <p:sldId id="274" r:id="rId19"/>
    <p:sldId id="275" r:id="rId20"/>
    <p:sldId id="284" r:id="rId21"/>
    <p:sldId id="289" r:id="rId22"/>
    <p:sldId id="279" r:id="rId23"/>
    <p:sldId id="286" r:id="rId24"/>
    <p:sldId id="287" r:id="rId25"/>
    <p:sldId id="285" r:id="rId26"/>
    <p:sldId id="281" r:id="rId27"/>
    <p:sldId id="26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51C108-3730-499F-80C3-E78DA23924B9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6E00D-3D58-4E7D-8061-047FBA9FF1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4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6E00D-3D58-4E7D-8061-047FBA9FF1D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24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102FC-451F-4CB8-A1A8-04C6F1774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0C9E6-D743-421A-5516-FD9C03358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32F3E-CAE0-0899-E18C-9F23E122B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0862-8BC1-402C-AF61-C78A99EE097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F1782-20F6-65AB-6AFF-0AB3CF22E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DF8C8-FD6F-A217-8CA8-51E06F3B1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1FB1-B030-495A-A75D-F192A1390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546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15C7B-67BF-4F3C-6BFB-BBF39DFAE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9D7B9-469A-9F40-3DFC-66112B9F8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C76CB-8F65-DB5D-9917-1EAA35CB9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0862-8BC1-402C-AF61-C78A99EE097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54495-108A-D5D0-010C-B4860C856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789DA-579B-ACCE-CCE0-AEE02A7D0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1FB1-B030-495A-A75D-F192A1390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11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2329E-3CE7-2AB6-F461-450943BBF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84765-2110-A075-1D81-A77ED136F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7BDDD-97F3-E6DA-9003-D2894DFAB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0862-8BC1-402C-AF61-C78A99EE097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BBCE7-0E13-8153-2996-38238E78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B554C-FB5C-D844-0639-E5ABDEA50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1FB1-B030-495A-A75D-F192A1390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57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A70A9-7D47-C381-45CE-ACD744255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D667D-D0CC-BB96-3808-A0AE1680F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D3E35-38D0-4CC4-C00E-535F90E05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C4D89-5F23-38C4-62DB-FD02C61FA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0862-8BC1-402C-AF61-C78A99EE097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A3F25-98B6-22E4-992D-A27875848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D5799-A765-32B3-B93F-645B6F7AB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1FB1-B030-495A-A75D-F192A1390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28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D94C3-6C7D-E0B6-EA3C-9C1EF5EFC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87F1F-2423-403F-1512-3B7596170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B2A175-F953-3285-3BCF-1EB8923B9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BB9969-608A-432A-3A10-36BFD2EDD4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7E3E44-E14C-AC82-EF0B-6C2782DF2B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353498-43E5-C766-586E-A39459889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0862-8BC1-402C-AF61-C78A99EE097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06FF32-480F-1146-7B58-27636CEE8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60A9CA-F150-9FCC-DD70-F0503317C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1FB1-B030-495A-A75D-F192A1390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503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A82E3-73C4-D5CA-A059-F81A44E8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E9BB3-50CD-3AB5-A406-E917EAD39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0862-8BC1-402C-AF61-C78A99EE097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882369-EDF7-D120-D623-761A4EAE4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5141E-A204-CE8C-FA68-D7DA36ED3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1FB1-B030-495A-A75D-F192A1390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94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019CAC-C09A-7C36-94F0-FB11EE9F0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0862-8BC1-402C-AF61-C78A99EE097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E645F3-E489-7913-576A-0237EE94B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6FE11-BCB9-2345-041C-6180FCB21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1FB1-B030-495A-A75D-F192A1390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2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98225-6F66-4610-4170-B7E9E8CBD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F6A0B-AFC6-A931-0EBB-A5556493E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D0CFF7-9324-B6BF-60DA-7F4FB25F9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3456AC-9ACD-88B0-6F46-3BC6A044E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0862-8BC1-402C-AF61-C78A99EE097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D8A13-B42F-C918-A3D7-1FA35990A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69C5F-F1D0-C556-6B98-6B1A6DD07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1FB1-B030-495A-A75D-F192A1390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324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145C5-D491-F36E-E7BE-34067C8F1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1325FF-F36D-1E96-A07E-D893DCCE40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E4A13-45F5-6688-3DE7-CAC58BE7B5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A16AF-ABF2-6174-DB02-EFDBBE9E2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0862-8BC1-402C-AF61-C78A99EE097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B7C35-750F-5994-B5DD-6578F15C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59C167-5190-34C2-365D-23AAC75E2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1FB1-B030-495A-A75D-F192A1390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657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5DDE5-85CB-1E25-CCD8-F118EBF44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A1B246-E741-3D47-BF10-624548B62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A3C6-BECC-E4A7-4804-F90429E00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0862-8BC1-402C-AF61-C78A99EE097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B1088-2A90-3CF5-53F0-89249B43E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39054-5A00-A8F9-5359-FFF2527A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1FB1-B030-495A-A75D-F192A1390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113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2A24EE-BCC6-8EDF-8B47-59AFB0633B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73144-BEE6-B565-5EBD-CC722AB58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84C57-0170-6DCA-8590-B58EDC461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00862-8BC1-402C-AF61-C78A99EE097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02E92A-6778-014C-7C40-72F3B6B08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79456-AB26-9C33-487B-16961376F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1FB1-B030-495A-A75D-F192A1390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33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0F4B73-E39F-9CB5-2BF5-A927DB9A4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F9BD07-6F94-7786-2A29-424477975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8C1AA-305B-59A8-A111-FC239BF50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C00862-8BC1-402C-AF61-C78A99EE097E}" type="datetimeFigureOut">
              <a:rPr lang="en-US" smtClean="0"/>
              <a:t>3/4/2025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FDAFB-AA2F-B78A-D3B3-C496A3161D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C3651-D22B-BBB4-378E-4D05C456A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D1FB1-B030-495A-A75D-F192A1390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06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pacelift.io/blog/docker-alternativ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AD5E4-0C58-18A7-1E6A-D795342EDA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aseline="30000" dirty="0"/>
              <a:t>6th</a:t>
            </a:r>
            <a:r>
              <a:rPr lang="en-US" dirty="0"/>
              <a:t> Week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FA0B0-522E-382F-E0C2-A6060C655B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Cloud Computing </a:t>
            </a:r>
          </a:p>
          <a:p>
            <a:r>
              <a:rPr lang="en-US" dirty="0"/>
              <a:t>CE-308</a:t>
            </a:r>
          </a:p>
          <a:p>
            <a:r>
              <a:rPr lang="en-US" dirty="0"/>
              <a:t>Safia Baloch</a:t>
            </a:r>
          </a:p>
        </p:txBody>
      </p:sp>
    </p:spTree>
    <p:extLst>
      <p:ext uri="{BB962C8B-B14F-4D97-AF65-F5344CB8AC3E}">
        <p14:creationId xmlns:p14="http://schemas.microsoft.com/office/powerpoint/2010/main" val="158365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AE80-0AF8-B800-AB2D-A038FBD1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Virtualization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DFDB4-58D9-23E0-B09A-CAA94E59FB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Organization of dependencies</a:t>
            </a:r>
          </a:p>
          <a:p>
            <a:r>
              <a:rPr lang="en-US" dirty="0"/>
              <a:t>More time to boot-up process</a:t>
            </a:r>
          </a:p>
          <a:p>
            <a:r>
              <a:rPr lang="en-US" dirty="0"/>
              <a:t>Unstable performance due to multiple VMs</a:t>
            </a:r>
          </a:p>
          <a:p>
            <a:r>
              <a:rPr lang="en-US" dirty="0"/>
              <a:t>Unable to manage such as updates, CI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760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67753-C699-7D0E-1786-275A2927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Containers Vs Virtual Machines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E96D4-4D55-7864-A2C2-4226D7ACE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Virtual machine?	What is Container ?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B55E6B-60B3-BED1-5A8D-970B81CE0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53" y="2303654"/>
            <a:ext cx="9817768" cy="45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80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6B9B2-21E1-0974-E1A0-BCD71897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Comparison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E3CC02-3C95-676D-AAE6-E70C0773BD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91916"/>
            <a:ext cx="10663989" cy="5000959"/>
          </a:xfrm>
        </p:spPr>
      </p:pic>
    </p:spTree>
    <p:extLst>
      <p:ext uri="{BB962C8B-B14F-4D97-AF65-F5344CB8AC3E}">
        <p14:creationId xmlns:p14="http://schemas.microsoft.com/office/powerpoint/2010/main" val="3597779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D24B4-1270-805F-A86A-30EADAD3E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 (normal Process)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4424A-757A-12B0-04CA-3B61E8366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Includes</a:t>
            </a:r>
          </a:p>
          <a:p>
            <a:pPr lvl="1"/>
            <a:r>
              <a:rPr lang="en-US" dirty="0"/>
              <a:t>Application executables</a:t>
            </a:r>
          </a:p>
          <a:p>
            <a:pPr lvl="1"/>
            <a:r>
              <a:rPr lang="en-US" dirty="0"/>
              <a:t>All libraries and dependencies </a:t>
            </a:r>
          </a:p>
          <a:p>
            <a:r>
              <a:rPr lang="en-US" dirty="0"/>
              <a:t>Features</a:t>
            </a:r>
          </a:p>
          <a:p>
            <a:pPr lvl="1"/>
            <a:r>
              <a:rPr lang="en-US" dirty="0" err="1"/>
              <a:t>Cgroups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namespaces</a:t>
            </a:r>
          </a:p>
        </p:txBody>
      </p:sp>
    </p:spTree>
    <p:extLst>
      <p:ext uri="{BB962C8B-B14F-4D97-AF65-F5344CB8AC3E}">
        <p14:creationId xmlns:p14="http://schemas.microsoft.com/office/powerpoint/2010/main" val="2504262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4DC68-24BF-B01A-B04C-ED3AC09FB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8D9EB-AD70-4770-3DA7-8CFF54C73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6097C-2A1A-6033-CD85-AF522AB6C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/>
              <a:t>What is Virtual machine?	What is Container ?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OS (size)</a:t>
            </a:r>
          </a:p>
          <a:p>
            <a:r>
              <a:rPr lang="en-US" dirty="0"/>
              <a:t>Hypervisor ( Executable Mode)</a:t>
            </a:r>
          </a:p>
          <a:p>
            <a:r>
              <a:rPr lang="en-US" dirty="0"/>
              <a:t>Image size ( file system)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94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F10F6A-53CE-F646-ADF4-433CE5BFB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File Systems</a:t>
            </a:r>
          </a:p>
        </p:txBody>
      </p:sp>
      <p:pic>
        <p:nvPicPr>
          <p:cNvPr id="21" name="Graphic 20" descr="Open Folder">
            <a:extLst>
              <a:ext uri="{FF2B5EF4-FFF2-40B4-BE49-F238E27FC236}">
                <a16:creationId xmlns:a16="http://schemas.microsoft.com/office/drawing/2014/main" id="{87F82B01-FE67-64BC-A8C8-C7D1A2FA0B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51BDE-5658-F2AA-DE47-6E6F4BCF6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en-US" sz="1500" dirty="0">
                <a:solidFill>
                  <a:schemeClr val="tx2"/>
                </a:solidFill>
              </a:rPr>
              <a:t>Virtual Machine: </a:t>
            </a:r>
            <a:r>
              <a:rPr lang="en-US" sz="1500" b="1" dirty="0" err="1">
                <a:solidFill>
                  <a:schemeClr val="tx2"/>
                </a:solidFill>
              </a:rPr>
              <a:t>vmdk</a:t>
            </a:r>
            <a:endParaRPr lang="en-US" sz="1500" b="1" dirty="0">
              <a:solidFill>
                <a:schemeClr val="tx2"/>
              </a:solidFill>
            </a:endParaRPr>
          </a:p>
          <a:p>
            <a:r>
              <a:rPr lang="en-US" sz="1500" dirty="0">
                <a:solidFill>
                  <a:schemeClr val="tx2"/>
                </a:solidFill>
              </a:rPr>
              <a:t>Container: </a:t>
            </a:r>
            <a:r>
              <a:rPr lang="en-US" sz="1500" b="1" dirty="0" err="1">
                <a:solidFill>
                  <a:schemeClr val="tx2"/>
                </a:solidFill>
              </a:rPr>
              <a:t>UnionFS</a:t>
            </a:r>
            <a:endParaRPr lang="en-US" sz="1500" b="1" dirty="0">
              <a:solidFill>
                <a:schemeClr val="tx2"/>
              </a:solidFill>
            </a:endParaRPr>
          </a:p>
          <a:p>
            <a:pPr lvl="1" fontAlgn="base"/>
            <a:r>
              <a:rPr lang="en-US" sz="1500" b="1" i="0" dirty="0">
                <a:solidFill>
                  <a:schemeClr val="tx2"/>
                </a:solidFill>
                <a:effectLst/>
                <a:latin typeface="IBM Plex Sans" panose="020B0503050203000203" pitchFamily="34" charset="0"/>
              </a:rPr>
              <a:t>Restrictions for UFS</a:t>
            </a:r>
          </a:p>
          <a:p>
            <a:pPr lvl="1" fontAlgn="base">
              <a:buFont typeface="+mj-lt"/>
              <a:buAutoNum type="arabicPeriod"/>
            </a:pPr>
            <a:r>
              <a:rPr lang="en-US" sz="1500" b="0" i="0" dirty="0">
                <a:solidFill>
                  <a:schemeClr val="tx2"/>
                </a:solidFill>
                <a:effectLst/>
                <a:latin typeface="inherit"/>
              </a:rPr>
              <a:t>Directories in an NFS file system cannot be used in the union file system mount options.</a:t>
            </a:r>
          </a:p>
          <a:p>
            <a:pPr lvl="1" fontAlgn="base">
              <a:buFont typeface="+mj-lt"/>
              <a:buAutoNum type="arabicPeriod"/>
            </a:pPr>
            <a:r>
              <a:rPr lang="en-US" sz="1500" b="0" i="0" dirty="0">
                <a:solidFill>
                  <a:schemeClr val="tx2"/>
                </a:solidFill>
                <a:effectLst/>
                <a:latin typeface="inherit"/>
              </a:rPr>
              <a:t>Directories in a union file system cannot be used in the union file system mount options.</a:t>
            </a:r>
          </a:p>
          <a:p>
            <a:pPr lvl="1" fontAlgn="base">
              <a:buFont typeface="+mj-lt"/>
              <a:buAutoNum type="arabicPeriod"/>
            </a:pPr>
            <a:r>
              <a:rPr lang="en-US" sz="1500" b="0" i="0" dirty="0">
                <a:solidFill>
                  <a:schemeClr val="tx2"/>
                </a:solidFill>
                <a:effectLst/>
                <a:latin typeface="inherit"/>
              </a:rPr>
              <a:t>The union file system cannot be exported.</a:t>
            </a:r>
          </a:p>
          <a:p>
            <a:pPr lvl="1" fontAlgn="base">
              <a:buFont typeface="+mj-lt"/>
              <a:buAutoNum type="arabicPeriod"/>
            </a:pPr>
            <a:r>
              <a:rPr lang="en-US" sz="1500" b="0" i="0" dirty="0">
                <a:solidFill>
                  <a:schemeClr val="tx2"/>
                </a:solidFill>
                <a:effectLst/>
                <a:latin typeface="inherit"/>
              </a:rPr>
              <a:t>The directory that is used in the upper directory can only be used in one union file system.</a:t>
            </a:r>
          </a:p>
          <a:p>
            <a:pPr lvl="1" fontAlgn="base">
              <a:buFont typeface="+mj-lt"/>
              <a:buAutoNum type="arabicPeriod"/>
            </a:pPr>
            <a:r>
              <a:rPr lang="en-US" sz="1500" b="0" i="0" dirty="0">
                <a:solidFill>
                  <a:schemeClr val="tx2"/>
                </a:solidFill>
                <a:effectLst/>
                <a:latin typeface="inherit"/>
              </a:rPr>
              <a:t>If any of the underlying file systems of a union file system is unmounted, it will become unusable, and all operations will fail.</a:t>
            </a:r>
          </a:p>
          <a:p>
            <a:pPr lvl="1"/>
            <a:endParaRPr lang="en-US" sz="1500" dirty="0">
              <a:solidFill>
                <a:schemeClr val="tx2"/>
              </a:solidFill>
            </a:endParaRPr>
          </a:p>
          <a:p>
            <a:endParaRPr lang="en-US" sz="1500" dirty="0">
              <a:solidFill>
                <a:schemeClr val="tx2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76588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CD0B8C-37B3-12D6-C7CB-38F89E91F6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7867" y="1012637"/>
            <a:ext cx="5293945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28A9DC-00B5-A433-9B89-CEEC677C2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10" y="908427"/>
            <a:ext cx="6477857" cy="557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1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7CBBD-3B60-740B-A150-C58E6F9DD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Containerization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68D43-7023-5A48-C4F2-44600A2C0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Docker, which makes sure that application works in every environment. It also automates the applications that will deploy into Containers. The Docker appends an additional layer of deployment engine over a container environment where the applications are executed and virtualized.</a:t>
            </a:r>
          </a:p>
        </p:txBody>
      </p:sp>
    </p:spTree>
    <p:extLst>
      <p:ext uri="{BB962C8B-B14F-4D97-AF65-F5344CB8AC3E}">
        <p14:creationId xmlns:p14="http://schemas.microsoft.com/office/powerpoint/2010/main" val="2430677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DF17F-8CC3-5701-BE12-5F7185F7A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C615D-5C21-40D6-A63D-F91A8113B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four main parts of Docker: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Docker Containers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Docker Client-Server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Docker Images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Docker Engine.</a:t>
            </a:r>
          </a:p>
        </p:txBody>
      </p:sp>
    </p:spTree>
    <p:extLst>
      <p:ext uri="{BB962C8B-B14F-4D97-AF65-F5344CB8AC3E}">
        <p14:creationId xmlns:p14="http://schemas.microsoft.com/office/powerpoint/2010/main" val="2470151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E14C5-D5AC-B54C-273D-7FC578157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57BA5-A022-245F-1B71-4CE8BB9AE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Docker container are created by docker image</a:t>
            </a:r>
          </a:p>
          <a:p>
            <a:r>
              <a:rPr lang="en-US" dirty="0"/>
              <a:t>All service requirements of application are equipped  into container image.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446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FCA48-2E57-4318-EA2F-46F5A7B97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9E181-BE46-F9D7-0447-C76F73964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Images are generally created by base OS image which are lightweight.</a:t>
            </a:r>
          </a:p>
          <a:p>
            <a:r>
              <a:rPr lang="en-US" dirty="0"/>
              <a:t>First method: create image from scratch</a:t>
            </a:r>
          </a:p>
          <a:p>
            <a:pPr lvl="1"/>
            <a:r>
              <a:rPr lang="en-US" b="1" i="1" dirty="0"/>
              <a:t>Once images are created, it needs ?, is called committing a change.</a:t>
            </a:r>
          </a:p>
          <a:p>
            <a:r>
              <a:rPr lang="en-US" dirty="0"/>
              <a:t>Second method:</a:t>
            </a:r>
          </a:p>
          <a:p>
            <a:pPr lvl="1"/>
            <a:r>
              <a:rPr lang="en-US" dirty="0"/>
              <a:t>Create Docker file which has all information of docker image.</a:t>
            </a:r>
          </a:p>
          <a:p>
            <a:pPr lvl="1"/>
            <a:r>
              <a:rPr lang="en-US" dirty="0"/>
              <a:t>Docker build command will create image with all the dependencies mentioned in a docker file. Is also called automated method of building an image</a:t>
            </a:r>
          </a:p>
        </p:txBody>
      </p:sp>
    </p:spTree>
    <p:extLst>
      <p:ext uri="{BB962C8B-B14F-4D97-AF65-F5344CB8AC3E}">
        <p14:creationId xmlns:p14="http://schemas.microsoft.com/office/powerpoint/2010/main" val="2026767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23CCB-5633-1177-F201-4A5635D3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9EDFD-EBE2-C051-0491-F8D3E470C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Client-server application which is installed on the host machine with the following components</a:t>
            </a:r>
          </a:p>
          <a:p>
            <a:pPr lvl="1"/>
            <a:r>
              <a:rPr lang="en-US" dirty="0"/>
              <a:t>Docker Daemon: program which create , build, and run application</a:t>
            </a:r>
          </a:p>
          <a:p>
            <a:pPr lvl="1"/>
            <a:r>
              <a:rPr lang="en-US" dirty="0"/>
              <a:t>A Rest API</a:t>
            </a:r>
          </a:p>
          <a:p>
            <a:pPr lvl="1"/>
            <a:r>
              <a:rPr lang="en-US" dirty="0"/>
              <a:t>Client request to docker daemon through terminal to access the operation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08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0854C-E158-D7A2-E434-17B90CE95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Client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2589D-D218-EE8C-3D59-3E8A154FD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 request server ( docker daemon: within host machine)</a:t>
            </a:r>
          </a:p>
          <a:p>
            <a:r>
              <a:rPr lang="en-US" dirty="0"/>
              <a:t>Server processes: running, building, and distributing containers</a:t>
            </a:r>
          </a:p>
          <a:p>
            <a:r>
              <a:rPr lang="en-US" dirty="0"/>
              <a:t>Docker container and daemon can be placed in a single machine</a:t>
            </a:r>
          </a:p>
        </p:txBody>
      </p:sp>
    </p:spTree>
    <p:extLst>
      <p:ext uri="{BB962C8B-B14F-4D97-AF65-F5344CB8AC3E}">
        <p14:creationId xmlns:p14="http://schemas.microsoft.com/office/powerpoint/2010/main" val="446623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32B5F-4260-72A8-D061-626C88433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Docker Container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7AE869-A186-37A5-C5E0-338DB73E71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31496"/>
            <a:ext cx="12192000" cy="5342020"/>
          </a:xfrm>
        </p:spPr>
      </p:pic>
    </p:spTree>
    <p:extLst>
      <p:ext uri="{BB962C8B-B14F-4D97-AF65-F5344CB8AC3E}">
        <p14:creationId xmlns:p14="http://schemas.microsoft.com/office/powerpoint/2010/main" val="3416458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CAED8-82CE-F19D-4AC9-1333AFCD2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Docker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82D14-F052-70B1-0B20-D40E6D6EF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Easy Deployment: </a:t>
            </a:r>
            <a:r>
              <a:rPr lang="en-US" dirty="0"/>
              <a:t>seamlessly moved from one environment to another</a:t>
            </a:r>
          </a:p>
          <a:p>
            <a:r>
              <a:rPr lang="en-US" b="1" dirty="0"/>
              <a:t>Resource Efficiency </a:t>
            </a:r>
            <a:r>
              <a:rPr lang="en-US" dirty="0"/>
              <a:t>: many containers deployed on a single host</a:t>
            </a:r>
          </a:p>
          <a:p>
            <a:r>
              <a:rPr lang="en-US" b="1" dirty="0"/>
              <a:t>Portability</a:t>
            </a:r>
            <a:r>
              <a:rPr lang="en-US" dirty="0"/>
              <a:t>: encapsulated into single unit, and deployed in various environments without any changes</a:t>
            </a:r>
          </a:p>
          <a:p>
            <a:r>
              <a:rPr lang="en-US" b="1" dirty="0"/>
              <a:t>Rapid Build time: why?</a:t>
            </a:r>
          </a:p>
          <a:p>
            <a:r>
              <a:rPr lang="en-US" b="1" dirty="0"/>
              <a:t>Scalability</a:t>
            </a:r>
          </a:p>
        </p:txBody>
      </p:sp>
    </p:spTree>
    <p:extLst>
      <p:ext uri="{BB962C8B-B14F-4D97-AF65-F5344CB8AC3E}">
        <p14:creationId xmlns:p14="http://schemas.microsoft.com/office/powerpoint/2010/main" val="1179254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169EA-A175-1500-4044-E0269E017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LXD: Linux Based Container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7E39B-AB1B-5E97-A9BD-48AF7FE77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Builds on LXC: Linux container, an interface to Linux containerization</a:t>
            </a:r>
          </a:p>
          <a:p>
            <a:r>
              <a:rPr lang="en-US" dirty="0"/>
              <a:t>LXD use LXC library for low overhead of OS.</a:t>
            </a:r>
          </a:p>
          <a:p>
            <a:r>
              <a:rPr lang="en-US" dirty="0"/>
              <a:t>LXD also integrate into OpenStack Nova compute component.</a:t>
            </a:r>
          </a:p>
        </p:txBody>
      </p:sp>
    </p:spTree>
    <p:extLst>
      <p:ext uri="{BB962C8B-B14F-4D97-AF65-F5344CB8AC3E}">
        <p14:creationId xmlns:p14="http://schemas.microsoft.com/office/powerpoint/2010/main" val="447446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7EB93-210F-9D33-07DE-13C1FEFC0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Deployment strategies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2C4CA1-6C77-492C-508F-0A99B0B4F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558" y="2130421"/>
            <a:ext cx="10940716" cy="4362453"/>
          </a:xfrm>
        </p:spPr>
      </p:pic>
    </p:spTree>
    <p:extLst>
      <p:ext uri="{BB962C8B-B14F-4D97-AF65-F5344CB8AC3E}">
        <p14:creationId xmlns:p14="http://schemas.microsoft.com/office/powerpoint/2010/main" val="1444867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C68E5-F139-BB1A-EB42-C3F52052E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Hostel Task: Other than docker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59017-8621-4849-E7D7-F81E77163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https://spacelift.io/blog/docker-alternatives</a:t>
            </a:r>
            <a:endParaRPr lang="en-US" dirty="0"/>
          </a:p>
          <a:p>
            <a:r>
              <a:rPr lang="en-US" dirty="0"/>
              <a:t>What is CaaS? Container as a service</a:t>
            </a:r>
          </a:p>
        </p:txBody>
      </p:sp>
    </p:spTree>
    <p:extLst>
      <p:ext uri="{BB962C8B-B14F-4D97-AF65-F5344CB8AC3E}">
        <p14:creationId xmlns:p14="http://schemas.microsoft.com/office/powerpoint/2010/main" val="2807221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B10C77-5BA0-FA5B-15C3-5393F5BE4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Container Orchestration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64A2140-549D-870B-78E6-CD5E903F06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2390953"/>
              </p:ext>
            </p:extLst>
          </p:nvPr>
        </p:nvGraphicFramePr>
        <p:xfrm>
          <a:off x="0" y="1889612"/>
          <a:ext cx="7379368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401">
                  <a:extLst>
                    <a:ext uri="{9D8B030D-6E8A-4147-A177-3AD203B41FA5}">
                      <a16:colId xmlns:a16="http://schemas.microsoft.com/office/drawing/2014/main" val="1977055552"/>
                    </a:ext>
                  </a:extLst>
                </a:gridCol>
                <a:gridCol w="5307967">
                  <a:extLst>
                    <a:ext uri="{9D8B030D-6E8A-4147-A177-3AD203B41FA5}">
                      <a16:colId xmlns:a16="http://schemas.microsoft.com/office/drawing/2014/main" val="11180462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Functional elements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542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Service Management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Managed low level resources.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320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Scheduling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cluster resources efficiently., placement and replication of containers. Readiness ,rescheduling, rolling deployment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044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Resource Management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 high level aspects, labels- groups/namespace, load balancing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746476"/>
                  </a:ext>
                </a:extLst>
              </a:tr>
            </a:tbl>
          </a:graphicData>
        </a:graphic>
      </p:graphicFrame>
      <p:pic>
        <p:nvPicPr>
          <p:cNvPr id="5" name="Content Placeholder 4" descr="A screenshot of a web application&#10;&#10;Description automatically generated">
            <a:extLst>
              <a:ext uri="{FF2B5EF4-FFF2-40B4-BE49-F238E27FC236}">
                <a16:creationId xmlns:a16="http://schemas.microsoft.com/office/drawing/2014/main" id="{337C704B-984C-993A-8515-ED8256D2F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368" y="1816784"/>
            <a:ext cx="5150277" cy="351506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729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13F8-D382-686D-384A-D6351B613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Orchestration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E920A-0341-5178-153E-363C28C3F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we need it ?</a:t>
            </a:r>
          </a:p>
          <a:p>
            <a:r>
              <a:rPr lang="en-US" dirty="0"/>
              <a:t>How it works ?</a:t>
            </a:r>
          </a:p>
          <a:p>
            <a:pPr lvl="1"/>
            <a:r>
              <a:rPr lang="en-US" dirty="0"/>
              <a:t>Container cluster across multiple machines and environments.</a:t>
            </a:r>
          </a:p>
          <a:p>
            <a:pPr lvl="1"/>
            <a:r>
              <a:rPr lang="en-US" dirty="0"/>
              <a:t>Cluster has server instances </a:t>
            </a:r>
          </a:p>
          <a:p>
            <a:pPr lvl="1"/>
            <a:r>
              <a:rPr lang="en-US" dirty="0"/>
              <a:t>Worker nodes run container runtimes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649136-449E-B155-89A0-82B1B4604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589" y="4195932"/>
            <a:ext cx="2019475" cy="18670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BF4679-2C1D-FD07-E2D1-8A5E5E0A03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484" y="4142240"/>
            <a:ext cx="2149026" cy="21109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082B89-490D-A140-C463-EC5068F9A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177" y="4100673"/>
            <a:ext cx="1988992" cy="26138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D50BD43-72EF-9F92-03CB-22545860FC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9268" y="4100673"/>
            <a:ext cx="2171888" cy="205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693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A5A4FD-9756-9382-1505-DA546B086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Container Cluster: Docker Swarm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A88588-DC7F-09D0-DD94-07D9B268D6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6740" y="1675227"/>
            <a:ext cx="8658520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151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EABD3C-3994-ADE2-11B9-FE89664999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1995" y="643466"/>
            <a:ext cx="8808010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489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39F8A7-8916-B6F1-CA46-8CAF63D28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latin typeface="+mj-lt"/>
                <a:ea typeface="+mj-ea"/>
                <a:cs typeface="+mj-cs"/>
              </a:rPr>
              <a:t>Kubernetes </a:t>
            </a: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09F4E-4152-F163-5C5B-C31FE236B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kern="1200" dirty="0" err="1">
                <a:latin typeface="+mn-lt"/>
                <a:ea typeface="+mn-ea"/>
                <a:cs typeface="+mn-cs"/>
              </a:rPr>
              <a:t>Etcd</a:t>
            </a:r>
            <a:r>
              <a:rPr lang="en-US" sz="2200" kern="1200" dirty="0">
                <a:latin typeface="+mn-lt"/>
                <a:ea typeface="+mn-ea"/>
                <a:cs typeface="+mn-cs"/>
              </a:rPr>
              <a:t>: storage component to synchronize the desired state of the master component by watching it. (key , value) pair</a:t>
            </a:r>
          </a:p>
          <a:p>
            <a:pPr marL="0" indent="0">
              <a:buNone/>
            </a:pPr>
            <a:r>
              <a:rPr lang="en-US" sz="2200" dirty="0"/>
              <a:t>Scheduler: maps each pod on a worker nod.</a:t>
            </a:r>
          </a:p>
          <a:p>
            <a:pPr marL="0" indent="0">
              <a:buNone/>
            </a:pPr>
            <a:r>
              <a:rPr lang="en-US" sz="2200" kern="1200" dirty="0">
                <a:latin typeface="+mn-lt"/>
                <a:ea typeface="+mn-ea"/>
                <a:cs typeface="+mn-cs"/>
              </a:rPr>
              <a:t>API sever: receive service commands and manipulate the data for Kubernetes objects. (</a:t>
            </a:r>
            <a:r>
              <a:rPr lang="en-US" sz="2200" kern="1200" dirty="0" err="1">
                <a:latin typeface="+mn-lt"/>
                <a:ea typeface="+mn-ea"/>
                <a:cs typeface="+mn-cs"/>
              </a:rPr>
              <a:t>kubectl</a:t>
            </a:r>
            <a:r>
              <a:rPr lang="en-US" sz="2200" kern="1200" dirty="0">
                <a:latin typeface="+mn-lt"/>
                <a:ea typeface="+mn-ea"/>
                <a:cs typeface="+mn-cs"/>
              </a:rPr>
              <a:t>)</a:t>
            </a:r>
          </a:p>
          <a:p>
            <a:pPr marL="0" indent="0">
              <a:buNone/>
            </a:pPr>
            <a:r>
              <a:rPr lang="en-US" sz="2200" dirty="0"/>
              <a:t>Controller: monitor </a:t>
            </a:r>
            <a:r>
              <a:rPr lang="en-US" sz="2200" dirty="0" err="1"/>
              <a:t>etcd</a:t>
            </a:r>
            <a:r>
              <a:rPr lang="en-US" sz="2200" dirty="0"/>
              <a:t> and force the system state.</a:t>
            </a:r>
            <a:endParaRPr lang="en-US" sz="2200" kern="12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sz="2200" kern="1200" dirty="0"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sz="22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6" name="Content Placeholder 4" descr="A diagram of a computer program&#10;&#10;Description automatically generated">
            <a:extLst>
              <a:ext uri="{FF2B5EF4-FFF2-40B4-BE49-F238E27FC236}">
                <a16:creationId xmlns:a16="http://schemas.microsoft.com/office/drawing/2014/main" id="{C122492F-C9B0-05C6-CEAB-23A95AA3A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875663"/>
            <a:ext cx="6903720" cy="3106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351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1637A7-6804-C039-6737-5C765CE1B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711" y="643466"/>
            <a:ext cx="692057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659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6EFED-8A2D-781D-7BF1-454EE52FE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AWS: Elastic Container Services (ECS)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5F311-DC83-5EFE-4282-F1485B16D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03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C9FFA-CA7E-AF7A-8319-D59F05F03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as a Service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DF915-0EC8-9C6D-88BA-61D4F4029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014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879</TotalTime>
  <Words>693</Words>
  <Application>Microsoft Office PowerPoint</Application>
  <PresentationFormat>Widescreen</PresentationFormat>
  <Paragraphs>101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IBM Plex Sans</vt:lpstr>
      <vt:lpstr>inherit</vt:lpstr>
      <vt:lpstr>Office Theme</vt:lpstr>
      <vt:lpstr>6th Week </vt:lpstr>
      <vt:lpstr>Problems with Virtualization ?</vt:lpstr>
      <vt:lpstr>Containers Vs Virtual Machines</vt:lpstr>
      <vt:lpstr>Architecture Comparison </vt:lpstr>
      <vt:lpstr>Container (normal Process)</vt:lpstr>
      <vt:lpstr>Differences</vt:lpstr>
      <vt:lpstr>File Systems</vt:lpstr>
      <vt:lpstr>PowerPoint Presentation</vt:lpstr>
      <vt:lpstr>Docker Containerization</vt:lpstr>
      <vt:lpstr>Docker Components</vt:lpstr>
      <vt:lpstr>Docker Container</vt:lpstr>
      <vt:lpstr>Docker Images</vt:lpstr>
      <vt:lpstr>Docker Engine</vt:lpstr>
      <vt:lpstr>Docker Client Server</vt:lpstr>
      <vt:lpstr>Architecture of Docker Container</vt:lpstr>
      <vt:lpstr>Advantages of Docker Container</vt:lpstr>
      <vt:lpstr>LXD: Linux Based Container </vt:lpstr>
      <vt:lpstr>Deployment strategies</vt:lpstr>
      <vt:lpstr>Hostel Task: Other than docker container</vt:lpstr>
      <vt:lpstr>Container Orchestration</vt:lpstr>
      <vt:lpstr>Orchestration </vt:lpstr>
      <vt:lpstr>Container Cluster: Docker Swarm</vt:lpstr>
      <vt:lpstr>PowerPoint Presentation</vt:lpstr>
      <vt:lpstr>Kubernetes </vt:lpstr>
      <vt:lpstr>PowerPoint Presentation</vt:lpstr>
      <vt:lpstr>AWS: Elastic Container Services (ECS)</vt:lpstr>
      <vt:lpstr>Model as a Service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Safia Baloch</dc:creator>
  <cp:lastModifiedBy>Safia Baloch Lecturer FCS</cp:lastModifiedBy>
  <cp:revision>81</cp:revision>
  <dcterms:created xsi:type="dcterms:W3CDTF">2024-11-11T08:02:17Z</dcterms:created>
  <dcterms:modified xsi:type="dcterms:W3CDTF">2025-03-04T08:28:52Z</dcterms:modified>
</cp:coreProperties>
</file>