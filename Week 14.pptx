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319" r:id="rId4"/>
    <p:sldId id="320" r:id="rId5"/>
    <p:sldId id="304" r:id="rId6"/>
    <p:sldId id="273" r:id="rId7"/>
    <p:sldId id="274" r:id="rId8"/>
    <p:sldId id="258" r:id="rId9"/>
    <p:sldId id="305" r:id="rId10"/>
    <p:sldId id="306" r:id="rId11"/>
    <p:sldId id="293" r:id="rId12"/>
    <p:sldId id="260" r:id="rId13"/>
    <p:sldId id="282" r:id="rId14"/>
    <p:sldId id="283" r:id="rId15"/>
    <p:sldId id="284" r:id="rId16"/>
    <p:sldId id="292" r:id="rId17"/>
    <p:sldId id="285" r:id="rId18"/>
    <p:sldId id="307" r:id="rId19"/>
    <p:sldId id="308" r:id="rId20"/>
    <p:sldId id="309" r:id="rId21"/>
    <p:sldId id="310" r:id="rId22"/>
    <p:sldId id="322" r:id="rId23"/>
    <p:sldId id="323" r:id="rId24"/>
    <p:sldId id="311" r:id="rId25"/>
    <p:sldId id="324" r:id="rId26"/>
    <p:sldId id="325" r:id="rId27"/>
    <p:sldId id="312" r:id="rId28"/>
    <p:sldId id="321" r:id="rId29"/>
    <p:sldId id="314" r:id="rId30"/>
    <p:sldId id="315" r:id="rId31"/>
    <p:sldId id="316" r:id="rId32"/>
    <p:sldId id="317" r:id="rId33"/>
    <p:sldId id="286" r:id="rId34"/>
    <p:sldId id="294" r:id="rId35"/>
    <p:sldId id="296" r:id="rId36"/>
    <p:sldId id="297" r:id="rId37"/>
    <p:sldId id="266" r:id="rId38"/>
    <p:sldId id="267" r:id="rId39"/>
    <p:sldId id="272" r:id="rId40"/>
    <p:sldId id="326" r:id="rId41"/>
    <p:sldId id="327" r:id="rId42"/>
    <p:sldId id="329" r:id="rId43"/>
    <p:sldId id="328" r:id="rId44"/>
    <p:sldId id="330" r:id="rId45"/>
    <p:sldId id="331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0000FF"/>
    <a:srgbClr val="800080"/>
    <a:srgbClr val="AAE5EB"/>
    <a:srgbClr val="FFEEED"/>
    <a:srgbClr val="CCCCCC"/>
    <a:srgbClr val="FFFFFF"/>
    <a:srgbClr val="66FF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6B22A-D469-9946-8FF8-6B1DCBB4D56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9448A-6774-2848-AD1B-31CB2884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68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YARN is resource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39448A-6774-2848-AD1B-31CB28844BC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45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39448A-6774-2848-AD1B-31CB28844BC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18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6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1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2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9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06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2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85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04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A6413-97CB-5C45-8F68-2BED69C633D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8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Apache </a:t>
            </a:r>
            <a:r>
              <a:rPr lang="en-US" dirty="0" err="1"/>
              <a:t>Hadoop</a:t>
            </a:r>
            <a:r>
              <a:rPr lang="en-US" dirty="0"/>
              <a:t> and Spark: Introduction</a:t>
            </a:r>
            <a:br>
              <a:rPr lang="en-US" dirty="0"/>
            </a:br>
            <a:r>
              <a:rPr lang="en-US" dirty="0"/>
              <a:t>and Use Cases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Afzal Godil</a:t>
            </a:r>
          </a:p>
          <a:p>
            <a:r>
              <a:rPr lang="en-US" dirty="0"/>
              <a:t>Information Access Division, ITL, NIST</a:t>
            </a:r>
          </a:p>
        </p:txBody>
      </p:sp>
    </p:spTree>
    <p:extLst>
      <p:ext uri="{BB962C8B-B14F-4D97-AF65-F5344CB8AC3E}">
        <p14:creationId xmlns:p14="http://schemas.microsoft.com/office/powerpoint/2010/main" val="2371623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Growth of big datasets</a:t>
            </a:r>
          </a:p>
          <a:p>
            <a:r>
              <a:rPr lang="en-US" sz="2400" dirty="0"/>
              <a:t>Introduction to Apache </a:t>
            </a:r>
            <a:r>
              <a:rPr lang="en-US" sz="2400" dirty="0" err="1"/>
              <a:t>Hadoop</a:t>
            </a:r>
            <a:r>
              <a:rPr lang="en-US" sz="2400" dirty="0"/>
              <a:t> and Spark for developing applications </a:t>
            </a:r>
          </a:p>
          <a:p>
            <a:r>
              <a:rPr lang="en-US" sz="2400" dirty="0"/>
              <a:t>Components of Hadoop, HDFS, MapReduce and </a:t>
            </a:r>
            <a:r>
              <a:rPr lang="en-US" sz="2400" dirty="0" err="1"/>
              <a:t>HBase</a:t>
            </a:r>
            <a:r>
              <a:rPr lang="en-US" sz="2400" dirty="0"/>
              <a:t> </a:t>
            </a:r>
          </a:p>
          <a:p>
            <a:r>
              <a:rPr lang="en-US" sz="2400" dirty="0"/>
              <a:t>Capabilities of Spark and the differences from a typical MapReduce solution </a:t>
            </a:r>
          </a:p>
          <a:p>
            <a:r>
              <a:rPr lang="en-US" sz="2400" dirty="0"/>
              <a:t>Some Spark use cases for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71624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AB05-EA08-97D4-1715-A0E50E4D3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difference between web server and Apache http server 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BA3DF-68D1-70CE-A3B3-3E3D86E2B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604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CFDA4-BE4E-EE37-4305-C5B28E965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1AAF4-6050-EEA8-0BAD-E7131ABF7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distributed system that breaks big problems into smaller parts, runs them in parallel on many machines, and tolerates failure automatically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5851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Large Hadron Collider produces about 30 petabytes of data per year</a:t>
            </a:r>
          </a:p>
          <a:p>
            <a:r>
              <a:rPr lang="en-US" sz="2400" dirty="0"/>
              <a:t>Facebook’s data is growing at 8 petabytes per month</a:t>
            </a:r>
          </a:p>
          <a:p>
            <a:r>
              <a:rPr lang="en-US" sz="2400" dirty="0"/>
              <a:t>The New York stock exchange generates about 4 terabyte of data per day</a:t>
            </a:r>
          </a:p>
          <a:p>
            <a:r>
              <a:rPr lang="en-US" sz="2400" dirty="0"/>
              <a:t>YouTube had around 80 petabytes of storage in 2012</a:t>
            </a:r>
          </a:p>
          <a:p>
            <a:r>
              <a:rPr lang="en-US" sz="2400" dirty="0"/>
              <a:t>Internet Archive stores around 19 petabytes of data</a:t>
            </a:r>
          </a:p>
        </p:txBody>
      </p:sp>
    </p:spTree>
    <p:extLst>
      <p:ext uri="{BB962C8B-B14F-4D97-AF65-F5344CB8AC3E}">
        <p14:creationId xmlns:p14="http://schemas.microsoft.com/office/powerpoint/2010/main" val="3442728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Cloud and Distributed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second trend is pervasiveness of cloud-based storage and computational resources</a:t>
            </a:r>
          </a:p>
          <a:p>
            <a:pPr lvl="1"/>
            <a:r>
              <a:rPr lang="en-US" sz="2400" dirty="0"/>
              <a:t>For processing of these big datasets </a:t>
            </a:r>
          </a:p>
          <a:p>
            <a:r>
              <a:rPr lang="en-US" sz="2400" dirty="0"/>
              <a:t>Cloud characteristics</a:t>
            </a:r>
          </a:p>
          <a:p>
            <a:pPr lvl="1"/>
            <a:r>
              <a:rPr lang="en-US" sz="2400" dirty="0"/>
              <a:t>Provide a scalable standard environment</a:t>
            </a:r>
          </a:p>
          <a:p>
            <a:pPr lvl="1"/>
            <a:r>
              <a:rPr lang="en-US" sz="2400" dirty="0"/>
              <a:t>On-demand computing</a:t>
            </a:r>
          </a:p>
          <a:p>
            <a:pPr lvl="1"/>
            <a:r>
              <a:rPr lang="en-US" sz="2400" dirty="0"/>
              <a:t>Pay as you need</a:t>
            </a:r>
          </a:p>
          <a:p>
            <a:pPr lvl="1"/>
            <a:r>
              <a:rPr lang="en-US" sz="2400" dirty="0"/>
              <a:t>Dynamically scalable</a:t>
            </a:r>
          </a:p>
          <a:p>
            <a:pPr lvl="1"/>
            <a:r>
              <a:rPr lang="en-US" sz="2400" dirty="0"/>
              <a:t>Cheaper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499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Processing and Machine learning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Data processing (third trend)</a:t>
            </a:r>
          </a:p>
          <a:p>
            <a:pPr lvl="1"/>
            <a:r>
              <a:rPr lang="en-US" sz="1800" dirty="0"/>
              <a:t>Traditional ETL (extract, transform, load) </a:t>
            </a:r>
          </a:p>
          <a:p>
            <a:pPr lvl="1"/>
            <a:r>
              <a:rPr lang="en-US" sz="1800" dirty="0"/>
              <a:t>Data Stores (</a:t>
            </a:r>
            <a:r>
              <a:rPr lang="en-US" sz="1800" dirty="0" err="1"/>
              <a:t>HBase</a:t>
            </a:r>
            <a:r>
              <a:rPr lang="en-US" sz="1800" dirty="0"/>
              <a:t>, ……..)</a:t>
            </a:r>
          </a:p>
          <a:p>
            <a:pPr lvl="1"/>
            <a:r>
              <a:rPr lang="en-US" sz="1800" dirty="0"/>
              <a:t>Tools for processing of streaming, </a:t>
            </a:r>
          </a:p>
          <a:p>
            <a:pPr marL="457200" lvl="1" indent="0">
              <a:buNone/>
            </a:pPr>
            <a:r>
              <a:rPr lang="en-US" sz="1800" dirty="0"/>
              <a:t>     multimedia &amp; batch data</a:t>
            </a:r>
          </a:p>
          <a:p>
            <a:r>
              <a:rPr lang="en-US" sz="1800" dirty="0"/>
              <a:t>Machine Learning (fourth trend)</a:t>
            </a:r>
          </a:p>
          <a:p>
            <a:pPr lvl="1"/>
            <a:r>
              <a:rPr lang="en-US" sz="1800" dirty="0"/>
              <a:t>Classification</a:t>
            </a:r>
          </a:p>
          <a:p>
            <a:pPr lvl="1"/>
            <a:r>
              <a:rPr lang="en-US" sz="1800" dirty="0"/>
              <a:t>Regression</a:t>
            </a:r>
          </a:p>
          <a:p>
            <a:pPr lvl="1"/>
            <a:r>
              <a:rPr lang="en-US" sz="1800" dirty="0"/>
              <a:t>Clustering</a:t>
            </a:r>
          </a:p>
          <a:p>
            <a:pPr lvl="1"/>
            <a:r>
              <a:rPr lang="en-US" sz="1800" dirty="0"/>
              <a:t>Collaborative filtering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Alternate Process 3"/>
          <p:cNvSpPr/>
          <p:nvPr/>
        </p:nvSpPr>
        <p:spPr>
          <a:xfrm>
            <a:off x="4147919" y="4017850"/>
            <a:ext cx="3004559" cy="910583"/>
          </a:xfrm>
          <a:prstGeom prst="flowChartAlternateProcess">
            <a:avLst/>
          </a:prstGeom>
          <a:solidFill>
            <a:srgbClr val="FF6600">
              <a:alpha val="45000"/>
            </a:srgb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Big Datasets</a:t>
            </a:r>
          </a:p>
        </p:txBody>
      </p:sp>
      <p:sp>
        <p:nvSpPr>
          <p:cNvPr id="5" name="Alternate Process 4"/>
          <p:cNvSpPr/>
          <p:nvPr/>
        </p:nvSpPr>
        <p:spPr>
          <a:xfrm>
            <a:off x="5730762" y="4017850"/>
            <a:ext cx="2863138" cy="910583"/>
          </a:xfrm>
          <a:prstGeom prst="flowChartAlternateProcess">
            <a:avLst/>
          </a:prstGeom>
          <a:solidFill>
            <a:schemeClr val="accent3">
              <a:lumMod val="50000"/>
              <a:alpha val="57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    Machine     </a:t>
            </a:r>
          </a:p>
          <a:p>
            <a:pPr algn="r"/>
            <a:r>
              <a:rPr lang="en-US" dirty="0"/>
              <a:t>Learning    </a:t>
            </a:r>
          </a:p>
        </p:txBody>
      </p:sp>
      <p:sp>
        <p:nvSpPr>
          <p:cNvPr id="6" name="Alternate Process 5"/>
          <p:cNvSpPr/>
          <p:nvPr/>
        </p:nvSpPr>
        <p:spPr>
          <a:xfrm>
            <a:off x="5730762" y="4017851"/>
            <a:ext cx="1421716" cy="2469254"/>
          </a:xfrm>
          <a:prstGeom prst="flowChartAlternateProcess">
            <a:avLst/>
          </a:prstGeom>
          <a:solidFill>
            <a:schemeClr val="tx2">
              <a:lumMod val="60000"/>
              <a:lumOff val="40000"/>
              <a:alpha val="4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Distributed Computing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98842" y="5237173"/>
            <a:ext cx="3605026" cy="133148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Working at the Intersection of these four trends is very exciting and challenging and require new ways to store and process </a:t>
            </a:r>
            <a:r>
              <a:rPr lang="en-US" b="1" dirty="0"/>
              <a:t>Big Data </a:t>
            </a:r>
          </a:p>
        </p:txBody>
      </p:sp>
      <p:cxnSp>
        <p:nvCxnSpPr>
          <p:cNvPr id="9" name="Straight Arrow Connector 8"/>
          <p:cNvCxnSpPr>
            <a:stCxn id="7" idx="3"/>
          </p:cNvCxnSpPr>
          <p:nvPr/>
        </p:nvCxnSpPr>
        <p:spPr>
          <a:xfrm flipV="1">
            <a:off x="4403868" y="4492908"/>
            <a:ext cx="2082449" cy="1410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Alternate Process 9"/>
          <p:cNvSpPr/>
          <p:nvPr/>
        </p:nvSpPr>
        <p:spPr>
          <a:xfrm>
            <a:off x="5730762" y="2205490"/>
            <a:ext cx="1421716" cy="2722944"/>
          </a:xfrm>
          <a:prstGeom prst="flowChartAlternateProcess">
            <a:avLst/>
          </a:prstGeom>
          <a:solidFill>
            <a:schemeClr val="accent2">
              <a:lumMod val="60000"/>
              <a:lumOff val="40000"/>
              <a:alpha val="4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Data Processing ETL (extract, transform, load) </a:t>
            </a:r>
          </a:p>
        </p:txBody>
      </p:sp>
    </p:spTree>
    <p:extLst>
      <p:ext uri="{BB962C8B-B14F-4D97-AF65-F5344CB8AC3E}">
        <p14:creationId xmlns:p14="http://schemas.microsoft.com/office/powerpoint/2010/main" val="4204970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Hadoop</a:t>
            </a:r>
            <a:r>
              <a:rPr lang="en-US" sz="3600" dirty="0"/>
              <a:t>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Enable Scalability </a:t>
            </a:r>
          </a:p>
          <a:p>
            <a:pPr lvl="1"/>
            <a:r>
              <a:rPr lang="en-US" sz="2400" dirty="0"/>
              <a:t>on commodity hardware</a:t>
            </a:r>
          </a:p>
          <a:p>
            <a:r>
              <a:rPr lang="en-US" sz="2400" dirty="0"/>
              <a:t>Handle Fault Tolerance</a:t>
            </a:r>
          </a:p>
          <a:p>
            <a:r>
              <a:rPr lang="en-US" sz="2400" dirty="0"/>
              <a:t>Can Handle a Variety of Data type</a:t>
            </a:r>
          </a:p>
          <a:p>
            <a:pPr lvl="1"/>
            <a:r>
              <a:rPr lang="en-US" sz="2400" dirty="0"/>
              <a:t>Text, Graph, Streaming Data, Images,…</a:t>
            </a:r>
          </a:p>
          <a:p>
            <a:r>
              <a:rPr lang="en-US" sz="2400" dirty="0"/>
              <a:t>Shared Environment</a:t>
            </a:r>
          </a:p>
          <a:p>
            <a:r>
              <a:rPr lang="en-US" sz="2400" dirty="0"/>
              <a:t>Provides Value</a:t>
            </a:r>
          </a:p>
          <a:p>
            <a:pPr lvl="1"/>
            <a:r>
              <a:rPr lang="en-US" sz="2400" dirty="0"/>
              <a:t>Cost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417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521DF-D800-5ED4-5F0C-A01A664D3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how does </a:t>
            </a:r>
            <a:r>
              <a:rPr lang="en-US" dirty="0">
                <a:solidFill>
                  <a:srgbClr val="1B3139"/>
                </a:solidFill>
                <a:latin typeface="DM Sans" pitchFamily="2" charset="0"/>
              </a:rPr>
              <a:t>H</a:t>
            </a: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adoop vary from HDFS?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228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9B2FCF5-F94C-7000-4403-5EC0FF52A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202180"/>
            <a:ext cx="8178799" cy="245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478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Hadoop</a:t>
            </a:r>
            <a:r>
              <a:rPr lang="en-US" sz="3600" dirty="0"/>
              <a:t> Ecosystem</a:t>
            </a:r>
          </a:p>
        </p:txBody>
      </p:sp>
      <p:pic>
        <p:nvPicPr>
          <p:cNvPr id="4" name="Content Placeholder 3" descr="Screen Shot 2016-07-20 at 10.19.13 AM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41" r="1517" b="5363"/>
          <a:stretch/>
        </p:blipFill>
        <p:spPr>
          <a:xfrm>
            <a:off x="959307" y="3262751"/>
            <a:ext cx="6971082" cy="2848423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  <p:sp>
        <p:nvSpPr>
          <p:cNvPr id="5" name="Rectangle 4"/>
          <p:cNvSpPr/>
          <p:nvPr/>
        </p:nvSpPr>
        <p:spPr>
          <a:xfrm>
            <a:off x="1382989" y="1349875"/>
            <a:ext cx="696426" cy="3482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1382989" y="2007554"/>
            <a:ext cx="696426" cy="3482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0785" y="2007554"/>
            <a:ext cx="696426" cy="3482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1382988" y="2598004"/>
            <a:ext cx="1784223" cy="39849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495388" y="1891966"/>
            <a:ext cx="32977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45373" y="2451380"/>
            <a:ext cx="32977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7" idx="0"/>
          </p:cNvCxnSpPr>
          <p:nvPr/>
        </p:nvCxnSpPr>
        <p:spPr>
          <a:xfrm>
            <a:off x="1731202" y="1698109"/>
            <a:ext cx="0" cy="309445"/>
          </a:xfrm>
          <a:prstGeom prst="straightConnector1">
            <a:avLst/>
          </a:prstGeom>
          <a:ln>
            <a:solidFill>
              <a:srgbClr val="99663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778031" y="2296657"/>
            <a:ext cx="0" cy="309445"/>
          </a:xfrm>
          <a:prstGeom prst="straightConnector1">
            <a:avLst/>
          </a:prstGeom>
          <a:ln>
            <a:solidFill>
              <a:srgbClr val="99663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731202" y="2296657"/>
            <a:ext cx="0" cy="309445"/>
          </a:xfrm>
          <a:prstGeom prst="straightConnector1">
            <a:avLst/>
          </a:prstGeom>
          <a:ln>
            <a:solidFill>
              <a:srgbClr val="99663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38005" y="1584125"/>
            <a:ext cx="3240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Layer Diagram 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921306" y="1795799"/>
            <a:ext cx="523542" cy="798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472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Apache </a:t>
            </a:r>
            <a:r>
              <a:rPr lang="en-US" sz="3600" dirty="0" err="1"/>
              <a:t>Hadoop</a:t>
            </a:r>
            <a:r>
              <a:rPr lang="en-US" sz="3600" dirty="0"/>
              <a:t> Basic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Hadoop</a:t>
            </a:r>
            <a:r>
              <a:rPr lang="en-US" sz="2400" dirty="0"/>
              <a:t> Common</a:t>
            </a:r>
          </a:p>
          <a:p>
            <a:r>
              <a:rPr lang="en-US" sz="2400" dirty="0" err="1"/>
              <a:t>Hadoop</a:t>
            </a:r>
            <a:r>
              <a:rPr lang="en-US" sz="2400" dirty="0"/>
              <a:t> Distributed File System (HDFS)</a:t>
            </a:r>
          </a:p>
          <a:p>
            <a:r>
              <a:rPr lang="en-US" sz="2400" dirty="0" err="1"/>
              <a:t>Hadoop</a:t>
            </a:r>
            <a:r>
              <a:rPr lang="en-US" sz="2400" dirty="0"/>
              <a:t> YARN</a:t>
            </a:r>
          </a:p>
          <a:p>
            <a:r>
              <a:rPr lang="en-US" sz="2400" dirty="0" err="1"/>
              <a:t>Hadoop</a:t>
            </a:r>
            <a:r>
              <a:rPr lang="en-US" sz="2400" dirty="0"/>
              <a:t> </a:t>
            </a:r>
            <a:r>
              <a:rPr lang="en-US" sz="2400" dirty="0" err="1"/>
              <a:t>MapReduce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010500" y="3379923"/>
            <a:ext cx="6931447" cy="29330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700" dirty="0"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05050" y="4586768"/>
            <a:ext cx="3423436" cy="4927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 err="1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MapReduce</a:t>
            </a:r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Distributed 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366248" y="5638425"/>
            <a:ext cx="6194417" cy="67455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HDFS Distributed File System (Storage)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66248" y="3826629"/>
            <a:ext cx="914039" cy="181179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700" dirty="0" err="1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HBase</a:t>
            </a:r>
            <a:endParaRPr lang="en-US" sz="1700" dirty="0"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Non-relational Database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0287" y="5109227"/>
            <a:ext cx="5280378" cy="51957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Yarn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Resource Manager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0287" y="3836480"/>
            <a:ext cx="1452843" cy="7312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Pig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Scripting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3130" y="3836480"/>
            <a:ext cx="1595356" cy="7312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Hive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SQL Like Query</a:t>
            </a:r>
          </a:p>
        </p:txBody>
      </p:sp>
      <p:sp>
        <p:nvSpPr>
          <p:cNvPr id="13" name="Line Callout 1 12"/>
          <p:cNvSpPr/>
          <p:nvPr/>
        </p:nvSpPr>
        <p:spPr>
          <a:xfrm>
            <a:off x="5470729" y="2754446"/>
            <a:ext cx="3473349" cy="529203"/>
          </a:xfrm>
          <a:prstGeom prst="borderCallout1">
            <a:avLst>
              <a:gd name="adj1" fmla="val 99981"/>
              <a:gd name="adj2" fmla="val 85689"/>
              <a:gd name="adj3" fmla="val 104485"/>
              <a:gd name="adj4" fmla="val 8550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Other Modules: Zookeeper, Impala, </a:t>
            </a:r>
            <a:r>
              <a:rPr lang="en-US" sz="1700" dirty="0" err="1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Oozie</a:t>
            </a:r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,  etc.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6449" y="4563267"/>
            <a:ext cx="2207388" cy="522459"/>
          </a:xfrm>
          <a:prstGeom prst="rect">
            <a:avLst/>
          </a:prstGeom>
          <a:solidFill>
            <a:srgbClr val="FFFF66"/>
          </a:solidFill>
          <a:ln>
            <a:solidFill>
              <a:srgbClr val="FFFF66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Others 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Distributed 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47989" y="3478162"/>
            <a:ext cx="1943011" cy="5686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Spark, Storm, </a:t>
            </a:r>
            <a:r>
              <a:rPr lang="en-US" dirty="0" err="1"/>
              <a:t>Tez</a:t>
            </a:r>
            <a:r>
              <a:rPr lang="en-US" dirty="0"/>
              <a:t>, etc.</a:t>
            </a:r>
          </a:p>
        </p:txBody>
      </p:sp>
      <p:cxnSp>
        <p:nvCxnSpPr>
          <p:cNvPr id="19" name="Straight Arrow Connector 18"/>
          <p:cNvCxnSpPr>
            <a:endCxn id="16" idx="0"/>
          </p:cNvCxnSpPr>
          <p:nvPr/>
        </p:nvCxnSpPr>
        <p:spPr>
          <a:xfrm flipH="1">
            <a:off x="6450143" y="4033143"/>
            <a:ext cx="158745" cy="53012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0" idx="3"/>
          </p:cNvCxnSpPr>
          <p:nvPr/>
        </p:nvCxnSpPr>
        <p:spPr>
          <a:xfrm flipH="1">
            <a:off x="7560665" y="3283649"/>
            <a:ext cx="894530" cy="208536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297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Hadoop</a:t>
            </a:r>
            <a:r>
              <a:rPr lang="en-US" sz="3600" dirty="0"/>
              <a:t>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3713"/>
            <a:ext cx="8229600" cy="4895961"/>
          </a:xfrm>
        </p:spPr>
        <p:txBody>
          <a:bodyPr>
            <a:noAutofit/>
          </a:bodyPr>
          <a:lstStyle/>
          <a:p>
            <a:r>
              <a:rPr lang="en-US" sz="2000" dirty="0" err="1"/>
              <a:t>Hadoop</a:t>
            </a:r>
            <a:r>
              <a:rPr lang="en-US" sz="2000" dirty="0"/>
              <a:t> distributed File System (based on Google File System (GFS) paper, 2004)</a:t>
            </a:r>
          </a:p>
          <a:p>
            <a:pPr lvl="1"/>
            <a:r>
              <a:rPr lang="en-US" sz="2000" dirty="0"/>
              <a:t>Serves as the distributed file system for most tools in the </a:t>
            </a:r>
            <a:r>
              <a:rPr lang="en-US" sz="2000" dirty="0" err="1"/>
              <a:t>Hadoop</a:t>
            </a:r>
            <a:r>
              <a:rPr lang="en-US" sz="2000" dirty="0"/>
              <a:t> ecosystem</a:t>
            </a:r>
          </a:p>
          <a:p>
            <a:pPr lvl="1"/>
            <a:r>
              <a:rPr lang="en-US" sz="2000" dirty="0"/>
              <a:t>Scalability for large data sets </a:t>
            </a:r>
          </a:p>
          <a:p>
            <a:pPr lvl="1"/>
            <a:r>
              <a:rPr lang="en-US" sz="2000" dirty="0"/>
              <a:t>Reliability to cope with hardware failures </a:t>
            </a:r>
          </a:p>
          <a:p>
            <a:r>
              <a:rPr lang="en-US" sz="2000" dirty="0"/>
              <a:t>HDFS good for:</a:t>
            </a:r>
          </a:p>
          <a:p>
            <a:pPr lvl="1"/>
            <a:r>
              <a:rPr lang="en-US" sz="2000" dirty="0"/>
              <a:t>Large files</a:t>
            </a:r>
          </a:p>
          <a:p>
            <a:pPr lvl="1"/>
            <a:r>
              <a:rPr lang="en-US" sz="2000" dirty="0"/>
              <a:t>Streaming data</a:t>
            </a:r>
          </a:p>
          <a:p>
            <a:r>
              <a:rPr lang="en-US" sz="2000" dirty="0"/>
              <a:t>Not good for:</a:t>
            </a:r>
          </a:p>
          <a:p>
            <a:pPr lvl="1"/>
            <a:r>
              <a:rPr lang="en-US" sz="2000" dirty="0"/>
              <a:t>Lots of small files</a:t>
            </a:r>
          </a:p>
          <a:p>
            <a:pPr lvl="1"/>
            <a:r>
              <a:rPr lang="en-US" sz="2000" dirty="0"/>
              <a:t>Random access to files</a:t>
            </a:r>
          </a:p>
          <a:p>
            <a:pPr lvl="1"/>
            <a:r>
              <a:rPr lang="en-US" sz="2000" dirty="0"/>
              <a:t>Low latency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8728" y="4825664"/>
            <a:ext cx="4158072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Single </a:t>
            </a:r>
            <a:r>
              <a:rPr lang="en-US" dirty="0" err="1">
                <a:solidFill>
                  <a:schemeClr val="tx1"/>
                </a:solidFill>
              </a:rPr>
              <a:t>Hadoop</a:t>
            </a:r>
            <a:r>
              <a:rPr lang="en-US" dirty="0">
                <a:solidFill>
                  <a:schemeClr val="tx1"/>
                </a:solidFill>
              </a:rPr>
              <a:t> cluster with 5000 servers and 250 petabytes of data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8029378" y="4588501"/>
            <a:ext cx="314074" cy="286782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20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Design of </a:t>
            </a:r>
            <a:r>
              <a:rPr lang="en-US" sz="3200" dirty="0" err="1"/>
              <a:t>Hadoop</a:t>
            </a:r>
            <a:r>
              <a:rPr lang="en-US" sz="3200" dirty="0"/>
              <a:t> Distributed File System (HDFS)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Master-Slave design</a:t>
            </a:r>
          </a:p>
          <a:p>
            <a:r>
              <a:rPr lang="en-US" sz="2800" dirty="0"/>
              <a:t>Master Node</a:t>
            </a:r>
          </a:p>
          <a:p>
            <a:pPr lvl="1"/>
            <a:r>
              <a:rPr lang="en-US" dirty="0"/>
              <a:t>Single NameNode for managing metadata</a:t>
            </a:r>
          </a:p>
          <a:p>
            <a:r>
              <a:rPr lang="en-US" sz="2800" dirty="0"/>
              <a:t>Slave Nodes</a:t>
            </a:r>
          </a:p>
          <a:p>
            <a:pPr lvl="1"/>
            <a:r>
              <a:rPr lang="en-US" dirty="0"/>
              <a:t>Multiple </a:t>
            </a:r>
            <a:r>
              <a:rPr lang="en-US" dirty="0" err="1"/>
              <a:t>DataNodes</a:t>
            </a:r>
            <a:r>
              <a:rPr lang="en-US" dirty="0"/>
              <a:t> for storing data</a:t>
            </a:r>
          </a:p>
          <a:p>
            <a:r>
              <a:rPr lang="en-US" sz="2800" dirty="0"/>
              <a:t>Other</a:t>
            </a:r>
          </a:p>
          <a:p>
            <a:pPr lvl="1"/>
            <a:r>
              <a:rPr lang="en-US" dirty="0"/>
              <a:t>Secondary NameNode as a backup</a:t>
            </a:r>
          </a:p>
        </p:txBody>
      </p:sp>
    </p:spTree>
    <p:extLst>
      <p:ext uri="{BB962C8B-B14F-4D97-AF65-F5344CB8AC3E}">
        <p14:creationId xmlns:p14="http://schemas.microsoft.com/office/powerpoint/2010/main" val="3552741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HDFS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39165" y="2144032"/>
            <a:ext cx="1242642" cy="86717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8503" y="3577939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08503" y="4467777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22031" y="4467777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0197" y="4522402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65190" y="3580121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190" y="4522402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2068794" y="3011204"/>
            <a:ext cx="2068793" cy="5667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3639165" y="3011204"/>
            <a:ext cx="498423" cy="5667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137587" y="3011204"/>
            <a:ext cx="2423835" cy="5667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137587" y="3011204"/>
            <a:ext cx="744220" cy="56891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2068794" y="3013386"/>
            <a:ext cx="2118779" cy="145439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4187573" y="3013386"/>
            <a:ext cx="2373849" cy="150901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9" idx="0"/>
          </p:cNvCxnSpPr>
          <p:nvPr/>
        </p:nvCxnSpPr>
        <p:spPr>
          <a:xfrm flipH="1">
            <a:off x="3504802" y="3013386"/>
            <a:ext cx="682770" cy="145439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22031" y="3577939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4187573" y="3013386"/>
            <a:ext cx="694234" cy="150901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440197" y="3577939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5738" y="2144032"/>
            <a:ext cx="1242642" cy="8671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Secondary NameNode</a:t>
            </a: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881807" y="2577618"/>
            <a:ext cx="923931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Snip Same Side Corner Rectangle 43"/>
          <p:cNvSpPr/>
          <p:nvPr/>
        </p:nvSpPr>
        <p:spPr>
          <a:xfrm>
            <a:off x="1085605" y="2194010"/>
            <a:ext cx="1283608" cy="819376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46" name="Straight Connector 45"/>
          <p:cNvCxnSpPr>
            <a:endCxn id="4" idx="1"/>
          </p:cNvCxnSpPr>
          <p:nvPr/>
        </p:nvCxnSpPr>
        <p:spPr>
          <a:xfrm>
            <a:off x="2369213" y="2577618"/>
            <a:ext cx="12699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698873" y="5403466"/>
            <a:ext cx="224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Heartbeat, </a:t>
            </a:r>
            <a:r>
              <a:rPr lang="en-US" dirty="0" err="1"/>
              <a:t>Cmd</a:t>
            </a:r>
            <a:r>
              <a:rPr lang="en-US" dirty="0"/>
              <a:t>, Data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770307" y="5585408"/>
            <a:ext cx="998068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28567" y="1417638"/>
            <a:ext cx="6855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NameNode</a:t>
            </a:r>
            <a:r>
              <a:rPr lang="en-US" dirty="0"/>
              <a:t> keeps the metadata, the name, location and directory</a:t>
            </a:r>
          </a:p>
          <a:p>
            <a:r>
              <a:rPr lang="en-US" b="1" dirty="0"/>
              <a:t>DataNode</a:t>
            </a:r>
            <a:r>
              <a:rPr lang="en-US" dirty="0"/>
              <a:t> provide storage for blocks of data</a:t>
            </a:r>
          </a:p>
        </p:txBody>
      </p:sp>
    </p:spTree>
    <p:extLst>
      <p:ext uri="{BB962C8B-B14F-4D97-AF65-F5344CB8AC3E}">
        <p14:creationId xmlns:p14="http://schemas.microsoft.com/office/powerpoint/2010/main" val="3691642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477" y="247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HDFS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21000" y="1891391"/>
            <a:ext cx="1024155" cy="4711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5155" y="1891391"/>
            <a:ext cx="675943" cy="471141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7" name="Rectangle 6"/>
          <p:cNvSpPr/>
          <p:nvPr/>
        </p:nvSpPr>
        <p:spPr>
          <a:xfrm>
            <a:off x="3721098" y="1891391"/>
            <a:ext cx="675943" cy="471141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7041" y="1893572"/>
            <a:ext cx="675943" cy="471141"/>
          </a:xfrm>
          <a:prstGeom prst="rect">
            <a:avLst/>
          </a:prstGeom>
          <a:solidFill>
            <a:srgbClr val="9966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2984" y="1895753"/>
            <a:ext cx="675943" cy="471141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B4</a:t>
            </a:r>
          </a:p>
        </p:txBody>
      </p:sp>
      <p:sp>
        <p:nvSpPr>
          <p:cNvPr id="10" name="Snip Same Side Corner Rectangle 9"/>
          <p:cNvSpPr/>
          <p:nvPr/>
        </p:nvSpPr>
        <p:spPr>
          <a:xfrm>
            <a:off x="832977" y="2867813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324577" y="3377457"/>
            <a:ext cx="675943" cy="471141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13" name="Snip Same Side Corner Rectangle 12"/>
          <p:cNvSpPr/>
          <p:nvPr/>
        </p:nvSpPr>
        <p:spPr>
          <a:xfrm>
            <a:off x="2792529" y="2867813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4" name="Snip Same Side Corner Rectangle 13"/>
          <p:cNvSpPr/>
          <p:nvPr/>
        </p:nvSpPr>
        <p:spPr>
          <a:xfrm>
            <a:off x="4685991" y="2867813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245347" y="3379638"/>
            <a:ext cx="675943" cy="471141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17" name="Snip Same Side Corner Rectangle 16"/>
          <p:cNvSpPr/>
          <p:nvPr/>
        </p:nvSpPr>
        <p:spPr>
          <a:xfrm>
            <a:off x="832977" y="4126370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352916" y="4301436"/>
            <a:ext cx="675943" cy="471141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19" name="Snip Same Side Corner Rectangle 18"/>
          <p:cNvSpPr/>
          <p:nvPr/>
        </p:nvSpPr>
        <p:spPr>
          <a:xfrm>
            <a:off x="2792529" y="4126370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0" name="Snip Same Side Corner Rectangle 19"/>
          <p:cNvSpPr/>
          <p:nvPr/>
        </p:nvSpPr>
        <p:spPr>
          <a:xfrm>
            <a:off x="4685991" y="4126370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072982" y="4644454"/>
            <a:ext cx="675943" cy="471141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92625" y="4644454"/>
            <a:ext cx="675943" cy="471141"/>
          </a:xfrm>
          <a:prstGeom prst="rect">
            <a:avLst/>
          </a:prstGeom>
          <a:solidFill>
            <a:srgbClr val="9966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B3</a:t>
            </a:r>
          </a:p>
        </p:txBody>
      </p:sp>
      <p:sp>
        <p:nvSpPr>
          <p:cNvPr id="23" name="Snip Same Side Corner Rectangle 22"/>
          <p:cNvSpPr/>
          <p:nvPr/>
        </p:nvSpPr>
        <p:spPr>
          <a:xfrm>
            <a:off x="832977" y="5382461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5" name="Snip Same Side Corner Rectangle 24"/>
          <p:cNvSpPr/>
          <p:nvPr/>
        </p:nvSpPr>
        <p:spPr>
          <a:xfrm>
            <a:off x="2792529" y="5382461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6" name="Snip Same Side Corner Rectangle 25"/>
          <p:cNvSpPr/>
          <p:nvPr/>
        </p:nvSpPr>
        <p:spPr>
          <a:xfrm>
            <a:off x="4685991" y="5382461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285797" y="5894286"/>
            <a:ext cx="675943" cy="471141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97553" y="5898648"/>
            <a:ext cx="675943" cy="471141"/>
          </a:xfrm>
          <a:prstGeom prst="rect">
            <a:avLst/>
          </a:prstGeom>
          <a:solidFill>
            <a:srgbClr val="9966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1209" y="4635729"/>
            <a:ext cx="675943" cy="471141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9793" y="3379638"/>
            <a:ext cx="675943" cy="471141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B4</a:t>
            </a:r>
          </a:p>
        </p:txBody>
      </p:sp>
      <p:sp>
        <p:nvSpPr>
          <p:cNvPr id="33" name="Snip Same Side Corner Rectangle 32"/>
          <p:cNvSpPr/>
          <p:nvPr/>
        </p:nvSpPr>
        <p:spPr>
          <a:xfrm>
            <a:off x="6570437" y="2867813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4" name="Snip Same Side Corner Rectangle 33"/>
          <p:cNvSpPr/>
          <p:nvPr/>
        </p:nvSpPr>
        <p:spPr>
          <a:xfrm>
            <a:off x="6563609" y="4126370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5" name="Snip Same Side Corner Rectangle 34"/>
          <p:cNvSpPr/>
          <p:nvPr/>
        </p:nvSpPr>
        <p:spPr>
          <a:xfrm>
            <a:off x="6563609" y="5384642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7014239" y="3379638"/>
            <a:ext cx="675943" cy="471141"/>
          </a:xfrm>
          <a:prstGeom prst="rect">
            <a:avLst/>
          </a:prstGeom>
          <a:solidFill>
            <a:srgbClr val="9966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14239" y="4635729"/>
            <a:ext cx="675943" cy="471141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14239" y="5900544"/>
            <a:ext cx="675943" cy="471141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9793" y="5894001"/>
            <a:ext cx="675943" cy="471141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8713" y="1119813"/>
            <a:ext cx="4874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happens; if node(s) fail?</a:t>
            </a:r>
          </a:p>
          <a:p>
            <a:r>
              <a:rPr lang="en-US" dirty="0"/>
              <a:t>Replication of Blocks for fault tolerance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2792529" y="2389845"/>
            <a:ext cx="481223" cy="355063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298298" y="2403501"/>
            <a:ext cx="75102" cy="355063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3921290" y="2417157"/>
            <a:ext cx="28405" cy="355063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4629182" y="2366894"/>
            <a:ext cx="500611" cy="279953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680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HDFS files are divided into blocks</a:t>
            </a:r>
          </a:p>
          <a:p>
            <a:pPr lvl="1"/>
            <a:r>
              <a:rPr lang="en-US" sz="2600" dirty="0"/>
              <a:t>It</a:t>
            </a:r>
            <a:r>
              <a:rPr lang="fr-FR" sz="2600" dirty="0"/>
              <a:t>’</a:t>
            </a:r>
            <a:r>
              <a:rPr lang="en-US" sz="2600" dirty="0"/>
              <a:t>s the basic unit of read/write </a:t>
            </a:r>
          </a:p>
          <a:p>
            <a:pPr lvl="1"/>
            <a:r>
              <a:rPr lang="en-US" sz="2600" dirty="0"/>
              <a:t>Default size is 64MB, could be larger (128MB)</a:t>
            </a:r>
          </a:p>
          <a:p>
            <a:pPr lvl="1"/>
            <a:r>
              <a:rPr lang="en-US" sz="2600" dirty="0"/>
              <a:t>Hence makes HDFS good for storing larger files</a:t>
            </a:r>
          </a:p>
          <a:p>
            <a:r>
              <a:rPr lang="en-US" sz="2600" dirty="0"/>
              <a:t>HDFS blocks are replicated multiple times</a:t>
            </a:r>
          </a:p>
          <a:p>
            <a:pPr lvl="1"/>
            <a:r>
              <a:rPr lang="en-US" sz="2600" dirty="0"/>
              <a:t>One block stored at multiple location, also at different racks (usually 3 times)</a:t>
            </a:r>
          </a:p>
          <a:p>
            <a:pPr lvl="1"/>
            <a:r>
              <a:rPr lang="en-US" sz="2600" dirty="0"/>
              <a:t>This makes HDFS storage fault tolerant and faster to read</a:t>
            </a:r>
          </a:p>
        </p:txBody>
      </p:sp>
    </p:spTree>
    <p:extLst>
      <p:ext uri="{BB962C8B-B14F-4D97-AF65-F5344CB8AC3E}">
        <p14:creationId xmlns:p14="http://schemas.microsoft.com/office/powerpoint/2010/main" val="1433829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DFF140-C650-700B-E161-8586F8B9B4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655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288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7FC237-AF4F-DDE7-600B-7318AE5AA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23" y="643466"/>
            <a:ext cx="760555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0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07AC35-ACDE-F5C1-CDD9-03D66B21E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88" y="643466"/>
            <a:ext cx="7902223" cy="5571067"/>
          </a:xfrm>
          <a:prstGeom prst="rect">
            <a:avLst/>
          </a:prstGeom>
        </p:spPr>
      </p:pic>
      <p:pic>
        <p:nvPicPr>
          <p:cNvPr id="2" name="tdMwPL">
            <a:hlinkClick r:id="" action="ppaction://media"/>
            <a:extLst>
              <a:ext uri="{FF2B5EF4-FFF2-40B4-BE49-F238E27FC236}">
                <a16:creationId xmlns:a16="http://schemas.microsoft.com/office/drawing/2014/main" id="{A132E60A-0066-0207-59C2-ABB4B81A49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911804" y="5335681"/>
            <a:ext cx="487363" cy="4873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DA83E7-361C-4CE7-62A4-BCC3AF446D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471" y="4840021"/>
            <a:ext cx="1516992" cy="137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75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1ABF43-A6FC-79DA-F045-966B5816C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801560"/>
            <a:ext cx="8178799" cy="525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95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C75815-6EBB-DDB3-10E9-B0DBFE3E5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4" y="158496"/>
            <a:ext cx="8583168" cy="632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28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7A5C56-2370-03DD-9170-E8D49FB89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58496"/>
            <a:ext cx="8607551" cy="651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829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208DA-8176-C448-0338-53AADF83DB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50" b="1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22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09261-FAA0-AF51-58A1-96FB671DB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18606"/>
            <a:ext cx="8229600" cy="554418"/>
          </a:xfrm>
        </p:spPr>
        <p:txBody>
          <a:bodyPr>
            <a:normAutofit fontScale="90000"/>
          </a:bodyPr>
          <a:lstStyle/>
          <a:p>
            <a:r>
              <a:rPr lang="en-US" dirty="0"/>
              <a:t>Hadoop Execution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AAB89-A989-F7ED-A7C2-A4DFAB555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4" y="573024"/>
            <a:ext cx="8656319" cy="615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99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2DAD-7AAB-5A1B-E4C1-D39552DF6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04" y="21813"/>
            <a:ext cx="8229600" cy="505650"/>
          </a:xfrm>
        </p:spPr>
        <p:txBody>
          <a:bodyPr>
            <a:normAutofit fontScale="90000"/>
          </a:bodyPr>
          <a:lstStyle/>
          <a:p>
            <a:r>
              <a:rPr lang="en-US" dirty="0"/>
              <a:t>YARN’ Application execution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0C09F9-E465-DE8E-4ACB-AD439A981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41248"/>
            <a:ext cx="8839200" cy="570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774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1D356-0166-1CD0-CC27-78329DF12E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16" b="1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1982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AFA5-91DF-834E-CB2B-6FE51680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Example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AA083A-1ECF-56CE-0CDC-7730537C0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1" y="1417638"/>
            <a:ext cx="8229600" cy="516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388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7FC716-3123-7E3C-8B3B-68F2844CB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15" y="643466"/>
            <a:ext cx="810336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9043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8881A7-CB50-7BF5-8A72-BDB3AA680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78878"/>
            <a:ext cx="8178799" cy="550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727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AC81F5-59AB-4960-3615-92AABE2CD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49" y="643466"/>
            <a:ext cx="779170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03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38C685-17E6-F343-ABDF-82FBF17C9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770889"/>
            <a:ext cx="8178799" cy="531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34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Few HDFS Shell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dirty="0"/>
              <a:t>Create a directory in HDFS</a:t>
            </a:r>
          </a:p>
          <a:p>
            <a:r>
              <a:rPr lang="en-US" sz="2200" dirty="0" err="1">
                <a:solidFill>
                  <a:srgbClr val="3366FF"/>
                </a:solidFill>
              </a:rPr>
              <a:t>hadoop</a:t>
            </a:r>
            <a:r>
              <a:rPr lang="en-US" sz="2200" dirty="0">
                <a:solidFill>
                  <a:srgbClr val="3366FF"/>
                </a:solidFill>
              </a:rPr>
              <a:t> </a:t>
            </a:r>
            <a:r>
              <a:rPr lang="en-US" sz="2200" dirty="0" err="1">
                <a:solidFill>
                  <a:srgbClr val="3366FF"/>
                </a:solidFill>
              </a:rPr>
              <a:t>fs</a:t>
            </a:r>
            <a:r>
              <a:rPr lang="en-US" sz="2200" dirty="0">
                <a:solidFill>
                  <a:srgbClr val="3366FF"/>
                </a:solidFill>
              </a:rPr>
              <a:t> -</a:t>
            </a:r>
            <a:r>
              <a:rPr lang="en-US" sz="2200" dirty="0" err="1">
                <a:solidFill>
                  <a:srgbClr val="3366FF"/>
                </a:solidFill>
              </a:rPr>
              <a:t>mkdir</a:t>
            </a:r>
            <a:r>
              <a:rPr lang="en-US" sz="2200" dirty="0">
                <a:solidFill>
                  <a:srgbClr val="3366FF"/>
                </a:solidFill>
              </a:rPr>
              <a:t> /user/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r>
              <a:rPr lang="en-US" sz="2200" dirty="0">
                <a:solidFill>
                  <a:srgbClr val="3366FF"/>
                </a:solidFill>
              </a:rPr>
              <a:t>/dir1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List the content of a directory</a:t>
            </a:r>
          </a:p>
          <a:p>
            <a:r>
              <a:rPr lang="en-US" sz="2200" dirty="0" err="1">
                <a:solidFill>
                  <a:srgbClr val="3366FF"/>
                </a:solidFill>
              </a:rPr>
              <a:t>hadoop</a:t>
            </a:r>
            <a:r>
              <a:rPr lang="en-US" sz="2200" dirty="0">
                <a:solidFill>
                  <a:srgbClr val="3366FF"/>
                </a:solidFill>
              </a:rPr>
              <a:t> </a:t>
            </a:r>
            <a:r>
              <a:rPr lang="en-US" sz="2200" dirty="0" err="1">
                <a:solidFill>
                  <a:srgbClr val="3366FF"/>
                </a:solidFill>
              </a:rPr>
              <a:t>fs</a:t>
            </a:r>
            <a:r>
              <a:rPr lang="en-US" sz="2200" dirty="0">
                <a:solidFill>
                  <a:srgbClr val="3366FF"/>
                </a:solidFill>
              </a:rPr>
              <a:t> -</a:t>
            </a:r>
            <a:r>
              <a:rPr lang="en-US" sz="2200" dirty="0" err="1">
                <a:solidFill>
                  <a:srgbClr val="3366FF"/>
                </a:solidFill>
              </a:rPr>
              <a:t>ls</a:t>
            </a:r>
            <a:r>
              <a:rPr lang="en-US" sz="2200" dirty="0">
                <a:solidFill>
                  <a:srgbClr val="3366FF"/>
                </a:solidFill>
              </a:rPr>
              <a:t> /user/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endParaRPr lang="en-US" sz="2200" dirty="0">
              <a:solidFill>
                <a:srgbClr val="3366FF"/>
              </a:solidFill>
            </a:endParaRP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Upload and download a file in HDFS</a:t>
            </a:r>
          </a:p>
          <a:p>
            <a:r>
              <a:rPr lang="en-US" sz="2200" dirty="0" err="1">
                <a:solidFill>
                  <a:srgbClr val="3366FF"/>
                </a:solidFill>
              </a:rPr>
              <a:t>hadoop</a:t>
            </a:r>
            <a:r>
              <a:rPr lang="en-US" sz="2200" dirty="0">
                <a:solidFill>
                  <a:srgbClr val="3366FF"/>
                </a:solidFill>
              </a:rPr>
              <a:t> fs -put /home/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r>
              <a:rPr lang="en-US" sz="2200" dirty="0">
                <a:solidFill>
                  <a:srgbClr val="3366FF"/>
                </a:solidFill>
              </a:rPr>
              <a:t>/file.txt    /user/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r>
              <a:rPr lang="en-US" sz="2200" dirty="0">
                <a:solidFill>
                  <a:srgbClr val="3366FF"/>
                </a:solidFill>
              </a:rPr>
              <a:t>/</a:t>
            </a:r>
            <a:r>
              <a:rPr lang="en-US" sz="2200" dirty="0" err="1">
                <a:solidFill>
                  <a:srgbClr val="3366FF"/>
                </a:solidFill>
              </a:rPr>
              <a:t>datadir</a:t>
            </a:r>
            <a:r>
              <a:rPr lang="en-US" sz="2200" dirty="0">
                <a:solidFill>
                  <a:srgbClr val="3366FF"/>
                </a:solidFill>
              </a:rPr>
              <a:t>/</a:t>
            </a:r>
          </a:p>
          <a:p>
            <a:r>
              <a:rPr lang="en-US" sz="2200" dirty="0" err="1">
                <a:solidFill>
                  <a:srgbClr val="3366FF"/>
                </a:solidFill>
              </a:rPr>
              <a:t>hadoop</a:t>
            </a:r>
            <a:r>
              <a:rPr lang="en-US" sz="2200" dirty="0">
                <a:solidFill>
                  <a:srgbClr val="3366FF"/>
                </a:solidFill>
              </a:rPr>
              <a:t> fs -get /user/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r>
              <a:rPr lang="en-US" sz="2200" dirty="0">
                <a:solidFill>
                  <a:srgbClr val="3366FF"/>
                </a:solidFill>
              </a:rPr>
              <a:t>/</a:t>
            </a:r>
            <a:r>
              <a:rPr lang="en-US" sz="2200" dirty="0" err="1">
                <a:solidFill>
                  <a:srgbClr val="3366FF"/>
                </a:solidFill>
              </a:rPr>
              <a:t>datadir</a:t>
            </a:r>
            <a:r>
              <a:rPr lang="en-US" sz="2200" dirty="0">
                <a:solidFill>
                  <a:srgbClr val="3366FF"/>
                </a:solidFill>
              </a:rPr>
              <a:t>/file.txt   /home/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Look at the content of a file</a:t>
            </a:r>
          </a:p>
          <a:p>
            <a:r>
              <a:rPr lang="en-US" sz="2200" dirty="0" err="1">
                <a:solidFill>
                  <a:srgbClr val="3366FF"/>
                </a:solidFill>
              </a:rPr>
              <a:t>Hadoop</a:t>
            </a:r>
            <a:r>
              <a:rPr lang="en-US" sz="2200" dirty="0">
                <a:solidFill>
                  <a:srgbClr val="3366FF"/>
                </a:solidFill>
              </a:rPr>
              <a:t> </a:t>
            </a:r>
            <a:r>
              <a:rPr lang="en-US" sz="2200" dirty="0" err="1">
                <a:solidFill>
                  <a:srgbClr val="3366FF"/>
                </a:solidFill>
              </a:rPr>
              <a:t>fs</a:t>
            </a:r>
            <a:r>
              <a:rPr lang="en-US" sz="2200" dirty="0">
                <a:solidFill>
                  <a:srgbClr val="3366FF"/>
                </a:solidFill>
              </a:rPr>
              <a:t> -cat /user/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r>
              <a:rPr lang="en-US" sz="2200" dirty="0">
                <a:solidFill>
                  <a:srgbClr val="3366FF"/>
                </a:solidFill>
              </a:rPr>
              <a:t>/</a:t>
            </a:r>
            <a:r>
              <a:rPr lang="en-US" sz="2200" dirty="0" err="1">
                <a:solidFill>
                  <a:srgbClr val="3366FF"/>
                </a:solidFill>
              </a:rPr>
              <a:t>datadir</a:t>
            </a:r>
            <a:r>
              <a:rPr lang="en-US" sz="2200" dirty="0">
                <a:solidFill>
                  <a:srgbClr val="3366FF"/>
                </a:solidFill>
              </a:rPr>
              <a:t>/</a:t>
            </a:r>
            <a:r>
              <a:rPr lang="en-US" sz="2200" dirty="0" err="1">
                <a:solidFill>
                  <a:srgbClr val="3366FF"/>
                </a:solidFill>
              </a:rPr>
              <a:t>book.txt</a:t>
            </a:r>
            <a:endParaRPr lang="en-US" sz="2200" dirty="0">
              <a:solidFill>
                <a:srgbClr val="3366FF"/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rgbClr val="3366FF"/>
              </a:solidFill>
            </a:endParaRPr>
          </a:p>
          <a:p>
            <a:pPr marL="0" indent="0">
              <a:buNone/>
            </a:pPr>
            <a:r>
              <a:rPr lang="en-US" sz="2200" dirty="0"/>
              <a:t>Many more commands, similar to Unix </a:t>
            </a:r>
          </a:p>
          <a:p>
            <a:endParaRPr lang="en-US" sz="2000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13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MapReduce: Simple Programming for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MapReduce is simple programming paradigm for the </a:t>
            </a:r>
            <a:r>
              <a:rPr lang="en-US" sz="2400" dirty="0" err="1"/>
              <a:t>Hadoop</a:t>
            </a:r>
            <a:r>
              <a:rPr lang="en-US" sz="2400" dirty="0"/>
              <a:t> ecosystem</a:t>
            </a:r>
          </a:p>
          <a:p>
            <a:r>
              <a:rPr lang="en-US" sz="2400" dirty="0"/>
              <a:t>Traditional parallel programming requires expertise of different computing/systems concepts</a:t>
            </a:r>
          </a:p>
          <a:p>
            <a:pPr lvl="1"/>
            <a:r>
              <a:rPr lang="en-US" sz="2400" dirty="0"/>
              <a:t>examples: multithreads, synchronization mechanisms (locks, semaphores, and monitors )</a:t>
            </a:r>
          </a:p>
          <a:p>
            <a:pPr lvl="1"/>
            <a:r>
              <a:rPr lang="en-US" sz="2400" dirty="0"/>
              <a:t>incorrect use: can crash your program, get incorrect results, or severely impact performance</a:t>
            </a:r>
          </a:p>
          <a:p>
            <a:pPr lvl="1"/>
            <a:r>
              <a:rPr lang="en-US" sz="2400" dirty="0"/>
              <a:t>Usually not fault tolerant to hardware failure</a:t>
            </a:r>
          </a:p>
          <a:p>
            <a:r>
              <a:rPr lang="en-US" sz="2400" dirty="0"/>
              <a:t>The MapReduce programming model greatly simplifies running code in parallel</a:t>
            </a:r>
          </a:p>
          <a:p>
            <a:pPr lvl="1"/>
            <a:r>
              <a:rPr lang="en-US" sz="2000" dirty="0"/>
              <a:t>you don't have to deal with any of above issues </a:t>
            </a:r>
          </a:p>
          <a:p>
            <a:pPr lvl="1"/>
            <a:r>
              <a:rPr lang="en-US" sz="2000" dirty="0"/>
              <a:t>only need to create, map and reduce functions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2520462" y="1086284"/>
            <a:ext cx="541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Google’s MR paper (2004)</a:t>
            </a:r>
          </a:p>
        </p:txBody>
      </p:sp>
    </p:spTree>
    <p:extLst>
      <p:ext uri="{BB962C8B-B14F-4D97-AF65-F5344CB8AC3E}">
        <p14:creationId xmlns:p14="http://schemas.microsoft.com/office/powerpoint/2010/main" val="3747132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145011"/>
              </p:ext>
            </p:extLst>
          </p:nvPr>
        </p:nvGraphicFramePr>
        <p:xfrm>
          <a:off x="600838" y="2621698"/>
          <a:ext cx="77835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1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6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/>
                        <a:t>Apply function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Map: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Apply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 a function to all the elements of List </a:t>
                      </a:r>
                    </a:p>
                    <a:p>
                      <a:pPr marL="0" indent="0" algn="ctr">
                        <a:buNone/>
                      </a:pPr>
                      <a:endParaRPr lang="en-US" sz="18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list1=[1,2,3,4,5];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square x = x * x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list2=Map square(list1)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print list2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-&gt; [1,4,9,16,25]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                   Reduce: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Combine all the elements of list for a summary</a:t>
                      </a:r>
                    </a:p>
                    <a:p>
                      <a:pPr marL="0" indent="0" algn="l"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list1 = [1,2,3,4,5];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A = reduce (+) list1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Print A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-&gt; 15</a:t>
                      </a:r>
                    </a:p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Map Reduce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37879"/>
          </a:xfrm>
        </p:spPr>
        <p:txBody>
          <a:bodyPr>
            <a:normAutofit/>
          </a:bodyPr>
          <a:lstStyle/>
          <a:p>
            <a:r>
              <a:rPr lang="en-US" sz="2400" dirty="0"/>
              <a:t>Map and Reduce are based on functional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0670" y="5609681"/>
            <a:ext cx="887601" cy="6759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6181" y="5616509"/>
            <a:ext cx="887601" cy="6759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7869" y="5636994"/>
            <a:ext cx="798841" cy="62818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87275" y="5636994"/>
            <a:ext cx="962706" cy="62818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Reduce</a:t>
            </a:r>
          </a:p>
        </p:txBody>
      </p:sp>
      <p:cxnSp>
        <p:nvCxnSpPr>
          <p:cNvPr id="10" name="Straight Arrow Connector 9"/>
          <p:cNvCxnSpPr>
            <a:stCxn id="5" idx="3"/>
            <a:endCxn id="7" idx="1"/>
          </p:cNvCxnSpPr>
          <p:nvPr/>
        </p:nvCxnSpPr>
        <p:spPr>
          <a:xfrm>
            <a:off x="2668271" y="5947674"/>
            <a:ext cx="689598" cy="341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3"/>
            <a:endCxn id="8" idx="1"/>
          </p:cNvCxnSpPr>
          <p:nvPr/>
        </p:nvCxnSpPr>
        <p:spPr>
          <a:xfrm>
            <a:off x="4156710" y="5951088"/>
            <a:ext cx="730565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3"/>
            <a:endCxn id="6" idx="1"/>
          </p:cNvCxnSpPr>
          <p:nvPr/>
        </p:nvCxnSpPr>
        <p:spPr>
          <a:xfrm>
            <a:off x="5849981" y="5951088"/>
            <a:ext cx="596200" cy="341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927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97358" y="1659235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3172461" y="2048438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MapReduce</a:t>
            </a:r>
            <a:r>
              <a:rPr lang="en-US" sz="3200" dirty="0"/>
              <a:t>  Word Count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1" y="2150860"/>
            <a:ext cx="580354" cy="3550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1" y="2860987"/>
            <a:ext cx="580354" cy="355063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7841" y="2505924"/>
            <a:ext cx="580354" cy="355063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7841" y="3216049"/>
            <a:ext cx="580354" cy="355063"/>
          </a:xfrm>
          <a:prstGeom prst="rect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7841" y="3571112"/>
            <a:ext cx="580354" cy="355063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97358" y="2860986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3172461" y="3250189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ffectLst/>
              </a:rPr>
              <a:t>Map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265862" y="3497092"/>
            <a:ext cx="580354" cy="355063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90528" y="4140026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3165631" y="4529229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3090528" y="5341776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3165631" y="5730979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3265862" y="2287422"/>
            <a:ext cx="580354" cy="355063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5862" y="4768213"/>
            <a:ext cx="580354" cy="355063"/>
          </a:xfrm>
          <a:prstGeom prst="rect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5862" y="5969963"/>
            <a:ext cx="580354" cy="355063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D</a:t>
            </a:r>
          </a:p>
        </p:txBody>
      </p:sp>
      <p:cxnSp>
        <p:nvCxnSpPr>
          <p:cNvPr id="28" name="Straight Arrow Connector 27"/>
          <p:cNvCxnSpPr>
            <a:stCxn id="5" idx="3"/>
            <a:endCxn id="17" idx="1"/>
          </p:cNvCxnSpPr>
          <p:nvPr/>
        </p:nvCxnSpPr>
        <p:spPr>
          <a:xfrm>
            <a:off x="1618195" y="3038519"/>
            <a:ext cx="1647667" cy="63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3"/>
            <a:endCxn id="24" idx="1"/>
          </p:cNvCxnSpPr>
          <p:nvPr/>
        </p:nvCxnSpPr>
        <p:spPr>
          <a:xfrm flipV="1">
            <a:off x="1618195" y="2464954"/>
            <a:ext cx="1647667" cy="2185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7" idx="3"/>
            <a:endCxn id="25" idx="1"/>
          </p:cNvCxnSpPr>
          <p:nvPr/>
        </p:nvCxnSpPr>
        <p:spPr>
          <a:xfrm>
            <a:off x="1618195" y="3393581"/>
            <a:ext cx="1647667" cy="15521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8" idx="3"/>
            <a:endCxn id="26" idx="1"/>
          </p:cNvCxnSpPr>
          <p:nvPr/>
        </p:nvCxnSpPr>
        <p:spPr>
          <a:xfrm>
            <a:off x="1618195" y="3748644"/>
            <a:ext cx="1647667" cy="239885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885251" y="1654588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9" name="Rounded Rectangle 38"/>
          <p:cNvSpPr/>
          <p:nvPr/>
        </p:nvSpPr>
        <p:spPr>
          <a:xfrm>
            <a:off x="5960354" y="2043791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Reduce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5885251" y="2856339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1" name="Rounded Rectangle 40"/>
          <p:cNvSpPr/>
          <p:nvPr/>
        </p:nvSpPr>
        <p:spPr>
          <a:xfrm>
            <a:off x="5960354" y="3245542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Reduce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6108377" y="3484526"/>
            <a:ext cx="580354" cy="355063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78421" y="4135379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4" name="Rounded Rectangle 43"/>
          <p:cNvSpPr/>
          <p:nvPr/>
        </p:nvSpPr>
        <p:spPr>
          <a:xfrm>
            <a:off x="5953524" y="4524582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Reduce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5878421" y="5337129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6" name="Rounded Rectangle 45"/>
          <p:cNvSpPr/>
          <p:nvPr/>
        </p:nvSpPr>
        <p:spPr>
          <a:xfrm>
            <a:off x="5953524" y="5726332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Reduce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6053755" y="2282775"/>
            <a:ext cx="580354" cy="355063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377" y="4768213"/>
            <a:ext cx="580354" cy="355063"/>
          </a:xfrm>
          <a:prstGeom prst="rect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53755" y="5965316"/>
            <a:ext cx="580354" cy="355063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5829" y="2860986"/>
            <a:ext cx="1051467" cy="166824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Shuffle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&amp;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Sort</a:t>
            </a:r>
          </a:p>
        </p:txBody>
      </p:sp>
      <p:cxnSp>
        <p:nvCxnSpPr>
          <p:cNvPr id="52" name="Straight Arrow Connector 51"/>
          <p:cNvCxnSpPr>
            <a:stCxn id="50" idx="3"/>
          </p:cNvCxnSpPr>
          <p:nvPr/>
        </p:nvCxnSpPr>
        <p:spPr>
          <a:xfrm flipV="1">
            <a:off x="5537296" y="2505923"/>
            <a:ext cx="516459" cy="11891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50" idx="3"/>
            <a:endCxn id="43" idx="1"/>
          </p:cNvCxnSpPr>
          <p:nvPr/>
        </p:nvCxnSpPr>
        <p:spPr>
          <a:xfrm>
            <a:off x="5537296" y="3695108"/>
            <a:ext cx="341125" cy="9318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0" idx="3"/>
            <a:endCxn id="40" idx="1"/>
          </p:cNvCxnSpPr>
          <p:nvPr/>
        </p:nvCxnSpPr>
        <p:spPr>
          <a:xfrm flipV="1">
            <a:off x="5537296" y="3347964"/>
            <a:ext cx="347955" cy="3471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0" idx="3"/>
            <a:endCxn id="45" idx="1"/>
          </p:cNvCxnSpPr>
          <p:nvPr/>
        </p:nvCxnSpPr>
        <p:spPr>
          <a:xfrm>
            <a:off x="5537296" y="3695108"/>
            <a:ext cx="341125" cy="21336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9" idx="3"/>
            <a:endCxn id="50" idx="1"/>
          </p:cNvCxnSpPr>
          <p:nvPr/>
        </p:nvCxnSpPr>
        <p:spPr>
          <a:xfrm>
            <a:off x="4101030" y="2150860"/>
            <a:ext cx="384799" cy="15442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50" idx="1"/>
          </p:cNvCxnSpPr>
          <p:nvPr/>
        </p:nvCxnSpPr>
        <p:spPr>
          <a:xfrm flipV="1">
            <a:off x="4094200" y="3695108"/>
            <a:ext cx="391629" cy="2133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15" idx="3"/>
            <a:endCxn id="50" idx="1"/>
          </p:cNvCxnSpPr>
          <p:nvPr/>
        </p:nvCxnSpPr>
        <p:spPr>
          <a:xfrm>
            <a:off x="4101030" y="3352611"/>
            <a:ext cx="384799" cy="3424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4091493" y="3695108"/>
            <a:ext cx="364574" cy="10242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2004923" y="1665756"/>
            <a:ext cx="1085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am Sam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11753" y="2846717"/>
            <a:ext cx="116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Sam I am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19520" y="1541624"/>
            <a:ext cx="1317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(I,1)</a:t>
            </a:r>
          </a:p>
          <a:p>
            <a:r>
              <a:rPr lang="en-US" dirty="0"/>
              <a:t>(am,1)</a:t>
            </a:r>
          </a:p>
          <a:p>
            <a:r>
              <a:rPr lang="en-US" dirty="0"/>
              <a:t>(Sam,1)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71920" y="4945745"/>
            <a:ext cx="1317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(I,1)</a:t>
            </a:r>
          </a:p>
          <a:p>
            <a:r>
              <a:rPr lang="en-US" dirty="0"/>
              <a:t>(am,1)</a:t>
            </a:r>
          </a:p>
          <a:p>
            <a:r>
              <a:rPr lang="en-US" dirty="0"/>
              <a:t>(Sam,1)</a:t>
            </a:r>
          </a:p>
        </p:txBody>
      </p:sp>
      <p:cxnSp>
        <p:nvCxnSpPr>
          <p:cNvPr id="83" name="Straight Arrow Connector 82"/>
          <p:cNvCxnSpPr/>
          <p:nvPr/>
        </p:nvCxnSpPr>
        <p:spPr>
          <a:xfrm>
            <a:off x="4091493" y="3695108"/>
            <a:ext cx="551344" cy="1364534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305641" y="3571112"/>
            <a:ext cx="11675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(I,2)</a:t>
            </a:r>
          </a:p>
          <a:p>
            <a:r>
              <a:rPr lang="en-US" dirty="0"/>
              <a:t>(am,2)</a:t>
            </a:r>
          </a:p>
          <a:p>
            <a:r>
              <a:rPr lang="en-US" dirty="0"/>
              <a:t>(Sam,2)</a:t>
            </a:r>
          </a:p>
          <a:p>
            <a:r>
              <a:rPr lang="en-US" dirty="0"/>
              <a:t>(…,..)</a:t>
            </a:r>
          </a:p>
          <a:p>
            <a:r>
              <a:rPr lang="en-US" dirty="0"/>
              <a:t>(..,..)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36650" y="4140026"/>
            <a:ext cx="116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………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04923" y="5337129"/>
            <a:ext cx="116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………</a:t>
            </a:r>
          </a:p>
        </p:txBody>
      </p:sp>
    </p:spTree>
    <p:extLst>
      <p:ext uri="{BB962C8B-B14F-4D97-AF65-F5344CB8AC3E}">
        <p14:creationId xmlns:p14="http://schemas.microsoft.com/office/powerpoint/2010/main" val="1908063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Shortcoming of </a:t>
            </a:r>
            <a:r>
              <a:rPr lang="en-US" sz="3200" dirty="0" err="1"/>
              <a:t>MapReduce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Autofit/>
          </a:bodyPr>
          <a:lstStyle/>
          <a:p>
            <a:r>
              <a:rPr lang="en-US" sz="2400" dirty="0"/>
              <a:t>Forces your data processing into Map and Reduce</a:t>
            </a:r>
          </a:p>
          <a:p>
            <a:pPr lvl="1"/>
            <a:r>
              <a:rPr lang="en-US" sz="2400" dirty="0"/>
              <a:t>Other workflows missing include join, filter, </a:t>
            </a:r>
            <a:r>
              <a:rPr lang="en-US" sz="2400" dirty="0" err="1"/>
              <a:t>flatMap</a:t>
            </a:r>
            <a:r>
              <a:rPr lang="en-US" sz="2400" dirty="0"/>
              <a:t>, </a:t>
            </a:r>
            <a:r>
              <a:rPr lang="en-US" sz="2400" dirty="0" err="1"/>
              <a:t>groupByKey</a:t>
            </a:r>
            <a:r>
              <a:rPr lang="en-US" sz="2400" dirty="0"/>
              <a:t>, union, intersection, …</a:t>
            </a:r>
          </a:p>
          <a:p>
            <a:r>
              <a:rPr lang="en-US" sz="2400" dirty="0"/>
              <a:t>Based on “Acyclic Data Flow” from Disk to Disk (HDFS)</a:t>
            </a:r>
          </a:p>
          <a:p>
            <a:r>
              <a:rPr lang="en-US" sz="2400" dirty="0"/>
              <a:t>Read and write to Disk before and after Map and Reduce (stateless machine)</a:t>
            </a:r>
          </a:p>
          <a:p>
            <a:pPr lvl="1"/>
            <a:r>
              <a:rPr lang="en-US" sz="2400" dirty="0"/>
              <a:t>Not efficient for iterative tasks, i.e. Machine Learning</a:t>
            </a:r>
          </a:p>
          <a:p>
            <a:r>
              <a:rPr lang="en-US" sz="2400" dirty="0"/>
              <a:t>Only Java natively supported </a:t>
            </a:r>
          </a:p>
          <a:p>
            <a:pPr lvl="1"/>
            <a:r>
              <a:rPr lang="en-US" sz="2400" dirty="0"/>
              <a:t>Support for others languages needed</a:t>
            </a:r>
          </a:p>
          <a:p>
            <a:r>
              <a:rPr lang="en-US" sz="2400" dirty="0"/>
              <a:t>Only for Batch processing</a:t>
            </a:r>
          </a:p>
          <a:p>
            <a:pPr lvl="1"/>
            <a:r>
              <a:rPr lang="en-US" sz="2400" dirty="0"/>
              <a:t>Interactivity, streaming data</a:t>
            </a:r>
          </a:p>
        </p:txBody>
      </p:sp>
    </p:spTree>
    <p:extLst>
      <p:ext uri="{BB962C8B-B14F-4D97-AF65-F5344CB8AC3E}">
        <p14:creationId xmlns:p14="http://schemas.microsoft.com/office/powerpoint/2010/main" val="22538188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 One Solution is Apache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Autofit/>
          </a:bodyPr>
          <a:lstStyle/>
          <a:p>
            <a:r>
              <a:rPr lang="en-US" sz="2000" dirty="0"/>
              <a:t>A new general framework, which solves many of the short comings of MapReduce</a:t>
            </a:r>
          </a:p>
          <a:p>
            <a:r>
              <a:rPr lang="en-US" sz="2000" dirty="0"/>
              <a:t>It capable of leveraging the </a:t>
            </a:r>
            <a:r>
              <a:rPr lang="en-US" sz="2000" dirty="0" err="1"/>
              <a:t>Hadoop</a:t>
            </a:r>
            <a:r>
              <a:rPr lang="en-US" sz="2000" dirty="0"/>
              <a:t> ecosystem, e.g. HDFS, YARN, </a:t>
            </a:r>
            <a:r>
              <a:rPr lang="en-US" sz="2000" dirty="0" err="1"/>
              <a:t>HBase</a:t>
            </a:r>
            <a:r>
              <a:rPr lang="en-US" sz="2000" dirty="0"/>
              <a:t>, S3, …</a:t>
            </a:r>
          </a:p>
          <a:p>
            <a:r>
              <a:rPr lang="en-US" sz="2000" dirty="0"/>
              <a:t>Has many other workflows, i.e. join, filter, </a:t>
            </a:r>
            <a:r>
              <a:rPr lang="en-US" sz="2000" dirty="0" err="1"/>
              <a:t>flatMapdistinct</a:t>
            </a:r>
            <a:r>
              <a:rPr lang="en-US" sz="2000" dirty="0"/>
              <a:t>, </a:t>
            </a:r>
            <a:r>
              <a:rPr lang="en-US" sz="2000" dirty="0" err="1"/>
              <a:t>groupByKey</a:t>
            </a:r>
            <a:r>
              <a:rPr lang="en-US" sz="2000" dirty="0"/>
              <a:t>, </a:t>
            </a:r>
            <a:r>
              <a:rPr lang="en-US" sz="2000" dirty="0" err="1"/>
              <a:t>reduceByKey</a:t>
            </a:r>
            <a:r>
              <a:rPr lang="en-US" sz="2000" dirty="0"/>
              <a:t>, </a:t>
            </a:r>
            <a:r>
              <a:rPr lang="en-US" sz="2000" dirty="0" err="1"/>
              <a:t>sortByKey</a:t>
            </a:r>
            <a:r>
              <a:rPr lang="en-US" sz="2000" dirty="0"/>
              <a:t>, collect, count, first…</a:t>
            </a:r>
          </a:p>
          <a:p>
            <a:pPr lvl="1"/>
            <a:r>
              <a:rPr lang="en-US" sz="2000" dirty="0"/>
              <a:t>(around 30 efficient distributed operations)</a:t>
            </a:r>
          </a:p>
          <a:p>
            <a:r>
              <a:rPr lang="en-US" sz="2000" dirty="0"/>
              <a:t>In-memory caching of data (for iterative, graph, and machine learning algorithms, etc.)</a:t>
            </a:r>
          </a:p>
          <a:p>
            <a:r>
              <a:rPr lang="en-US" sz="2000" dirty="0"/>
              <a:t>Native Scala, Java, Python, and R support</a:t>
            </a:r>
          </a:p>
          <a:p>
            <a:r>
              <a:rPr lang="en-US" sz="2000" dirty="0"/>
              <a:t>Supports interactive shells for exploratory data analysis</a:t>
            </a:r>
          </a:p>
          <a:p>
            <a:r>
              <a:rPr lang="en-US" sz="2000" dirty="0"/>
              <a:t>Spark API is extremely simple to use </a:t>
            </a:r>
          </a:p>
          <a:p>
            <a:r>
              <a:rPr lang="en-US" sz="2000" dirty="0"/>
              <a:t>Developed at </a:t>
            </a:r>
            <a:r>
              <a:rPr lang="en-US" sz="2000" dirty="0" err="1"/>
              <a:t>AMPLab</a:t>
            </a:r>
            <a:r>
              <a:rPr lang="en-US" sz="2000" dirty="0"/>
              <a:t> UC Berkeley, now by </a:t>
            </a:r>
            <a:r>
              <a:rPr lang="en-US" sz="2000" dirty="0" err="1"/>
              <a:t>Databricks.com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275219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Spark Uses Memory instead of Disk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09" r="2802" b="4116"/>
          <a:stretch/>
        </p:blipFill>
        <p:spPr>
          <a:xfrm>
            <a:off x="3131208" y="5151693"/>
            <a:ext cx="1212250" cy="408587"/>
          </a:xfrm>
        </p:spPr>
      </p:pic>
      <p:sp>
        <p:nvSpPr>
          <p:cNvPr id="4" name="Can 3"/>
          <p:cNvSpPr/>
          <p:nvPr/>
        </p:nvSpPr>
        <p:spPr>
          <a:xfrm>
            <a:off x="373264" y="4965388"/>
            <a:ext cx="398080" cy="691842"/>
          </a:xfrm>
          <a:prstGeom prst="can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09189" y="5184429"/>
            <a:ext cx="1137372" cy="3601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Iteration1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2823" y="5186646"/>
            <a:ext cx="1137372" cy="3601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Iteration2</a:t>
            </a:r>
          </a:p>
        </p:txBody>
      </p:sp>
      <p:pic>
        <p:nvPicPr>
          <p:cNvPr id="8" name="Content Placeholder 5"/>
          <p:cNvPicPr>
            <a:picLocks noChangeAspect="1"/>
          </p:cNvPicPr>
          <p:nvPr/>
        </p:nvPicPr>
        <p:blipFill rotWithShape="1">
          <a:blip r:embed="rId2"/>
          <a:srcRect l="1109" r="2802" b="4116"/>
          <a:stretch/>
        </p:blipFill>
        <p:spPr>
          <a:xfrm>
            <a:off x="6864073" y="5186646"/>
            <a:ext cx="1212250" cy="408587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endCxn id="5" idx="1"/>
          </p:cNvCxnSpPr>
          <p:nvPr/>
        </p:nvCxnSpPr>
        <p:spPr>
          <a:xfrm flipV="1">
            <a:off x="771344" y="5364498"/>
            <a:ext cx="537845" cy="264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3"/>
          </p:cNvCxnSpPr>
          <p:nvPr/>
        </p:nvCxnSpPr>
        <p:spPr>
          <a:xfrm>
            <a:off x="2446561" y="5364498"/>
            <a:ext cx="800977" cy="19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3"/>
          </p:cNvCxnSpPr>
          <p:nvPr/>
        </p:nvCxnSpPr>
        <p:spPr>
          <a:xfrm>
            <a:off x="4343458" y="5355987"/>
            <a:ext cx="989365" cy="10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3"/>
          </p:cNvCxnSpPr>
          <p:nvPr/>
        </p:nvCxnSpPr>
        <p:spPr>
          <a:xfrm>
            <a:off x="6470195" y="5366715"/>
            <a:ext cx="434846" cy="24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9901" y="4562218"/>
            <a:ext cx="124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HDFS read</a:t>
            </a:r>
          </a:p>
        </p:txBody>
      </p:sp>
      <p:sp>
        <p:nvSpPr>
          <p:cNvPr id="40" name="Can 39"/>
          <p:cNvSpPr/>
          <p:nvPr/>
        </p:nvSpPr>
        <p:spPr>
          <a:xfrm>
            <a:off x="457200" y="2698627"/>
            <a:ext cx="398080" cy="691842"/>
          </a:xfrm>
          <a:prstGeom prst="can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1393125" y="2917668"/>
            <a:ext cx="1137372" cy="3601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66732" y="2929053"/>
            <a:ext cx="1137372" cy="3601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Iteration2</a:t>
            </a:r>
          </a:p>
        </p:txBody>
      </p:sp>
      <p:cxnSp>
        <p:nvCxnSpPr>
          <p:cNvPr id="44" name="Straight Arrow Connector 43"/>
          <p:cNvCxnSpPr>
            <a:endCxn id="41" idx="1"/>
          </p:cNvCxnSpPr>
          <p:nvPr/>
        </p:nvCxnSpPr>
        <p:spPr>
          <a:xfrm flipV="1">
            <a:off x="855280" y="3097737"/>
            <a:ext cx="537845" cy="264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1" idx="3"/>
          </p:cNvCxnSpPr>
          <p:nvPr/>
        </p:nvCxnSpPr>
        <p:spPr>
          <a:xfrm>
            <a:off x="2530497" y="3097737"/>
            <a:ext cx="800977" cy="19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9" idx="4"/>
            <a:endCxn id="42" idx="1"/>
          </p:cNvCxnSpPr>
          <p:nvPr/>
        </p:nvCxnSpPr>
        <p:spPr>
          <a:xfrm>
            <a:off x="3729554" y="3089226"/>
            <a:ext cx="737178" cy="198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2" idx="3"/>
            <a:endCxn id="50" idx="2"/>
          </p:cNvCxnSpPr>
          <p:nvPr/>
        </p:nvCxnSpPr>
        <p:spPr>
          <a:xfrm>
            <a:off x="5604104" y="3109122"/>
            <a:ext cx="882484" cy="320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55280" y="2052296"/>
            <a:ext cx="124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HDFS </a:t>
            </a:r>
          </a:p>
          <a:p>
            <a:r>
              <a:rPr lang="en-US" dirty="0"/>
              <a:t>read</a:t>
            </a:r>
          </a:p>
        </p:txBody>
      </p:sp>
      <p:sp>
        <p:nvSpPr>
          <p:cNvPr id="49" name="Can 48"/>
          <p:cNvSpPr/>
          <p:nvPr/>
        </p:nvSpPr>
        <p:spPr>
          <a:xfrm>
            <a:off x="3331474" y="2743305"/>
            <a:ext cx="398080" cy="691842"/>
          </a:xfrm>
          <a:prstGeom prst="can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an 49"/>
          <p:cNvSpPr/>
          <p:nvPr/>
        </p:nvSpPr>
        <p:spPr>
          <a:xfrm>
            <a:off x="6486588" y="2795246"/>
            <a:ext cx="398080" cy="691842"/>
          </a:xfrm>
          <a:prstGeom prst="can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6884668" y="3152627"/>
            <a:ext cx="866091" cy="24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540191" y="2052296"/>
            <a:ext cx="124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HDFS </a:t>
            </a:r>
          </a:p>
          <a:p>
            <a:r>
              <a:rPr lang="en-US" dirty="0"/>
              <a:t>Write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20939" y="2036506"/>
            <a:ext cx="124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HDFS </a:t>
            </a:r>
          </a:p>
          <a:p>
            <a:r>
              <a:rPr lang="en-US" dirty="0"/>
              <a:t>read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04104" y="2208627"/>
            <a:ext cx="124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HDFS </a:t>
            </a:r>
          </a:p>
          <a:p>
            <a:r>
              <a:rPr lang="en-US" dirty="0"/>
              <a:t>Write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00318" y="3883107"/>
            <a:ext cx="451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Spark: In-Memory Data Sharing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31708" y="1538785"/>
            <a:ext cx="451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Hadoop</a:t>
            </a:r>
            <a:r>
              <a:rPr lang="en-US" dirty="0"/>
              <a:t>: Use Disk for Data Sharing</a:t>
            </a:r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7974756" y="5330794"/>
            <a:ext cx="927574" cy="24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1770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B5AA-BB54-4BEC-6034-EA45F92C2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Spark: RDD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E90B2-9F08-90B3-75F5-07F2FD292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" y="1600200"/>
            <a:ext cx="8564880" cy="498316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What is an RDD?</a:t>
            </a:r>
          </a:p>
          <a:p>
            <a:r>
              <a:rPr lang="en-US" dirty="0"/>
              <a:t>An RDD is the fundamental data structure of Apache Spark: an immutable, distributed collection of objects that can be processed in parallel across a cluster. The name breaks down as:</a:t>
            </a:r>
          </a:p>
          <a:p>
            <a:r>
              <a:rPr lang="en-US" b="1" dirty="0"/>
              <a:t>Resilient</a:t>
            </a:r>
            <a:r>
              <a:rPr lang="en-US" dirty="0"/>
              <a:t> :fault-tolerant; can rebuild lost data using lineage information</a:t>
            </a:r>
          </a:p>
          <a:p>
            <a:r>
              <a:rPr lang="en-US" b="1" dirty="0"/>
              <a:t>Distributed: </a:t>
            </a:r>
            <a:r>
              <a:rPr lang="en-US" dirty="0"/>
              <a:t>data is spread across multiple nodes in the cluster</a:t>
            </a:r>
          </a:p>
          <a:p>
            <a:r>
              <a:rPr lang="en-US" b="1" dirty="0"/>
              <a:t>Dataset: </a:t>
            </a:r>
            <a:r>
              <a:rPr lang="en-US" dirty="0"/>
              <a:t>a collection of partitioned data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80298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4E823-C675-A7FF-DD7E-64C3CEDFC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RDD Characteristics: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044A6-6490-B037-948A-50021995D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1. Immutability</a:t>
            </a:r>
            <a:r>
              <a:rPr lang="en-US" dirty="0"/>
              <a:t> RDDs cannot be changed once created. Any transformation produces a </a:t>
            </a:r>
            <a:r>
              <a:rPr lang="en-US" i="1" dirty="0"/>
              <a:t>new</a:t>
            </a:r>
            <a:r>
              <a:rPr lang="en-US" dirty="0"/>
              <a:t> RDD. This simplifies fault recovery and concurrency.</a:t>
            </a:r>
          </a:p>
          <a:p>
            <a:r>
              <a:rPr lang="en-US" b="1" dirty="0"/>
              <a:t>2. Lazy Evaluation</a:t>
            </a:r>
            <a:r>
              <a:rPr lang="en-US" dirty="0"/>
              <a:t> Transformations on RDDs are not executed immediately. Spark builds a </a:t>
            </a:r>
            <a:r>
              <a:rPr lang="en-US" b="1" dirty="0"/>
              <a:t>DAG (Directed Acyclic Graph)</a:t>
            </a:r>
            <a:r>
              <a:rPr lang="en-US" dirty="0"/>
              <a:t> of transformations and only executes when an </a:t>
            </a:r>
            <a:r>
              <a:rPr lang="en-US" i="1" dirty="0"/>
              <a:t>action</a:t>
            </a:r>
            <a:r>
              <a:rPr lang="en-US" dirty="0"/>
              <a:t> is called.</a:t>
            </a:r>
          </a:p>
          <a:p>
            <a:r>
              <a:rPr lang="en-US" b="1" dirty="0"/>
              <a:t>3. Partitioning</a:t>
            </a:r>
            <a:r>
              <a:rPr lang="en-US" dirty="0"/>
              <a:t> Data is divided into partitions distributed across cluster nodes. Each partition is processed independently, enabling parallelism.</a:t>
            </a:r>
          </a:p>
          <a:p>
            <a:r>
              <a:rPr lang="en-US" b="1" dirty="0"/>
              <a:t>4. Lineage (Fault Tolerance)</a:t>
            </a:r>
            <a:r>
              <a:rPr lang="en-US" dirty="0"/>
              <a:t> Spark tracks the sequence of transformations that produced each RDD. If a partition is lost, Spark can </a:t>
            </a:r>
            <a:r>
              <a:rPr lang="en-US" b="1" dirty="0"/>
              <a:t>recompute</a:t>
            </a:r>
            <a:r>
              <a:rPr lang="en-US" dirty="0"/>
              <a:t> it from the original data using the lineage graph no need for replication.</a:t>
            </a:r>
          </a:p>
          <a:p>
            <a:r>
              <a:rPr lang="en-US" b="1" dirty="0"/>
              <a:t>5. In-Memory Computing</a:t>
            </a:r>
            <a:r>
              <a:rPr lang="en-US" dirty="0"/>
              <a:t> RDDs can be persisted in memory across operations, dramatically speeding up iterative algorithms.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90131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FD16-9367-E7B2-1E89-B217F739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B1E79-D0E9-701B-7531-F8E1E770D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err="1"/>
              <a:t>sc</a:t>
            </a:r>
            <a:r>
              <a:rPr lang="en-GB" dirty="0"/>
              <a:t> = </a:t>
            </a:r>
            <a:r>
              <a:rPr lang="en-GB" dirty="0" err="1"/>
              <a:t>SparkContext</a:t>
            </a:r>
            <a:r>
              <a:rPr lang="en-GB" dirty="0"/>
              <a:t>()</a:t>
            </a:r>
          </a:p>
          <a:p>
            <a:endParaRPr lang="en-GB" dirty="0"/>
          </a:p>
          <a:p>
            <a:r>
              <a:rPr lang="en-GB" dirty="0"/>
              <a:t># 1. From a collection</a:t>
            </a:r>
          </a:p>
          <a:p>
            <a:r>
              <a:rPr lang="en-GB" dirty="0" err="1"/>
              <a:t>rdd</a:t>
            </a:r>
            <a:r>
              <a:rPr lang="en-GB" dirty="0"/>
              <a:t> = </a:t>
            </a:r>
            <a:r>
              <a:rPr lang="en-GB" dirty="0" err="1"/>
              <a:t>sc.parallelize</a:t>
            </a:r>
            <a:r>
              <a:rPr lang="en-GB" dirty="0"/>
              <a:t>([1, 2, 3, 4, 5])</a:t>
            </a:r>
          </a:p>
          <a:p>
            <a:endParaRPr lang="en-GB" dirty="0"/>
          </a:p>
          <a:p>
            <a:r>
              <a:rPr lang="en-GB" dirty="0"/>
              <a:t># 2. From an external file</a:t>
            </a:r>
          </a:p>
          <a:p>
            <a:r>
              <a:rPr lang="en-GB" dirty="0" err="1"/>
              <a:t>rdd</a:t>
            </a:r>
            <a:r>
              <a:rPr lang="en-GB" dirty="0"/>
              <a:t> = </a:t>
            </a:r>
            <a:r>
              <a:rPr lang="en-GB" dirty="0" err="1"/>
              <a:t>sc.textFile</a:t>
            </a:r>
            <a:r>
              <a:rPr lang="en-GB" dirty="0"/>
              <a:t>("</a:t>
            </a:r>
            <a:r>
              <a:rPr lang="en-GB" dirty="0" err="1"/>
              <a:t>hdfs</a:t>
            </a:r>
            <a:r>
              <a:rPr lang="en-GB" dirty="0"/>
              <a:t>://path/to/file.txt")</a:t>
            </a:r>
          </a:p>
          <a:p>
            <a:endParaRPr lang="en-GB" dirty="0"/>
          </a:p>
          <a:p>
            <a:r>
              <a:rPr lang="en-GB" dirty="0"/>
              <a:t># 3. From another RDD (via transformation)</a:t>
            </a:r>
          </a:p>
          <a:p>
            <a:r>
              <a:rPr lang="en-GB" dirty="0"/>
              <a:t>rdd2 = </a:t>
            </a:r>
            <a:r>
              <a:rPr lang="en-GB" dirty="0" err="1"/>
              <a:t>rdd.map</a:t>
            </a:r>
            <a:r>
              <a:rPr lang="en-GB" dirty="0"/>
              <a:t>(lambda x: x * 2)</a:t>
            </a:r>
          </a:p>
        </p:txBody>
      </p:sp>
    </p:spTree>
    <p:extLst>
      <p:ext uri="{BB962C8B-B14F-4D97-AF65-F5344CB8AC3E}">
        <p14:creationId xmlns:p14="http://schemas.microsoft.com/office/powerpoint/2010/main" val="37165875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0641-72B6-6A0B-1C2E-6D528AE5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Transformative functions 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6CD697-2E7F-9F5D-3C2C-8FA4DEC599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20192"/>
              </p:ext>
            </p:extLst>
          </p:nvPr>
        </p:nvGraphicFramePr>
        <p:xfrm>
          <a:off x="457200" y="1600200"/>
          <a:ext cx="8229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40141150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844969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Transformation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771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map(func)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Apply a function to each element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973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filter(func)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Keep elements matching a condition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861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flatMap(func)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Map then flatten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873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reduceByKey(func)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Aggregate values by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6425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groupByKey()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Group values by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799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distinct()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Remove duplicates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7437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union(rdd)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Combine two RDDs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13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join(rdd)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SQL-style join on key-value RDDs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067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sortBy(func)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Sort elements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468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46757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8D26-76EC-4AA3-C7EB-0D96CAEAC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Actions: Trigger execution 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6E1C06-4947-5814-19AA-A3F89EA7A1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9700364"/>
              </p:ext>
            </p:extLst>
          </p:nvPr>
        </p:nvGraphicFramePr>
        <p:xfrm>
          <a:off x="457200" y="1600200"/>
          <a:ext cx="8229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54634178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03249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85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collect()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 all elements to driver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4420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count()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Count number of elements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420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first()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Return the first element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60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take(n)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Return first n elements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32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reduce(func)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Aggregate all elements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009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saveAsTextFile(path)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Write RDD to disk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3268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foreach(func)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Apply function to each element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882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8541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3D2F6-A3C9-2C1E-EA91-BA2C42F81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0B246-4082-E2F6-723D-BE8873AC3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say , in RDD, a data is updated, so new </a:t>
            </a:r>
            <a:r>
              <a:rPr lang="en-US" dirty="0" err="1"/>
              <a:t>rdd</a:t>
            </a:r>
            <a:r>
              <a:rPr lang="en-US" dirty="0"/>
              <a:t> with updates will be created, then what happens to </a:t>
            </a:r>
            <a:r>
              <a:rPr lang="en-US"/>
              <a:t>the previous one?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0106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10687</TotalTime>
  <Words>1722</Words>
  <Application>Microsoft Office PowerPoint</Application>
  <PresentationFormat>On-screen Show (4:3)</PresentationFormat>
  <Paragraphs>358</Paragraphs>
  <Slides>45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Courier New</vt:lpstr>
      <vt:lpstr>DM Sans</vt:lpstr>
      <vt:lpstr>Office Theme</vt:lpstr>
      <vt:lpstr>Apache Hadoop and Spark: Introduction and Use Cases for Data Analysis</vt:lpstr>
      <vt:lpstr>Outline</vt:lpstr>
      <vt:lpstr>What is the difference between web server and Apache http server ?</vt:lpstr>
      <vt:lpstr>Hadoop</vt:lpstr>
      <vt:lpstr>Data</vt:lpstr>
      <vt:lpstr>Cloud and Distributed Computing</vt:lpstr>
      <vt:lpstr>Data Processing and Machine learning Methods</vt:lpstr>
      <vt:lpstr>Hadoop Ecosystem</vt:lpstr>
      <vt:lpstr>how does Hadoop vary from HDFS? </vt:lpstr>
      <vt:lpstr>PowerPoint Presentation</vt:lpstr>
      <vt:lpstr>Hadoop Ecosystem</vt:lpstr>
      <vt:lpstr>Apache Hadoop Basic Modules</vt:lpstr>
      <vt:lpstr>Hadoop HDFS</vt:lpstr>
      <vt:lpstr>Design of Hadoop Distributed File System (HDFS)</vt:lpstr>
      <vt:lpstr>HDFS Architecture</vt:lpstr>
      <vt:lpstr>HDFS</vt:lpstr>
      <vt:lpstr>HDFS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Hadoop Execution</vt:lpstr>
      <vt:lpstr>YARN’ Application execution</vt:lpstr>
      <vt:lpstr>PowerPoint Presentation</vt:lpstr>
      <vt:lpstr>MapReduce Example</vt:lpstr>
      <vt:lpstr>PowerPoint Presentation</vt:lpstr>
      <vt:lpstr>PowerPoint Presentation</vt:lpstr>
      <vt:lpstr>PowerPoint Presentation</vt:lpstr>
      <vt:lpstr>PowerPoint Presentation</vt:lpstr>
      <vt:lpstr>Few HDFS Shell commands</vt:lpstr>
      <vt:lpstr>MapReduce: Simple Programming for Big Data</vt:lpstr>
      <vt:lpstr>Map Reduce Paradigm</vt:lpstr>
      <vt:lpstr>MapReduce  Word Count Example</vt:lpstr>
      <vt:lpstr>Shortcoming of MapReduce</vt:lpstr>
      <vt:lpstr> One Solution is Apache Spark</vt:lpstr>
      <vt:lpstr>Spark Uses Memory instead of Disk</vt:lpstr>
      <vt:lpstr>Spark: RDD</vt:lpstr>
      <vt:lpstr>RDD Characteristics:</vt:lpstr>
      <vt:lpstr>Example </vt:lpstr>
      <vt:lpstr>Transformative functions </vt:lpstr>
      <vt:lpstr>Actions: Trigger execution </vt:lpstr>
      <vt:lpstr>Question </vt:lpstr>
    </vt:vector>
  </TitlesOfParts>
  <Company>NIST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Hadoop and Spark: Introduction and Use Cases for Data Analysis</dc:title>
  <dc:creator>Afzal A Godil</dc:creator>
  <cp:lastModifiedBy>Safia Baloch Lecturer FCS</cp:lastModifiedBy>
  <cp:revision>185</cp:revision>
  <dcterms:created xsi:type="dcterms:W3CDTF">2016-07-14T15:14:36Z</dcterms:created>
  <dcterms:modified xsi:type="dcterms:W3CDTF">2026-05-07T12:45:27Z</dcterms:modified>
</cp:coreProperties>
</file>