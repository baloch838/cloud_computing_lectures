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304" r:id="rId4"/>
    <p:sldId id="273" r:id="rId5"/>
    <p:sldId id="274" r:id="rId6"/>
    <p:sldId id="258" r:id="rId7"/>
    <p:sldId id="305" r:id="rId8"/>
    <p:sldId id="306" r:id="rId9"/>
    <p:sldId id="293" r:id="rId10"/>
    <p:sldId id="260" r:id="rId11"/>
    <p:sldId id="282" r:id="rId12"/>
    <p:sldId id="283" r:id="rId13"/>
    <p:sldId id="284" r:id="rId14"/>
    <p:sldId id="292" r:id="rId15"/>
    <p:sldId id="285" r:id="rId16"/>
    <p:sldId id="307" r:id="rId17"/>
    <p:sldId id="308" r:id="rId18"/>
    <p:sldId id="309" r:id="rId19"/>
    <p:sldId id="310" r:id="rId20"/>
    <p:sldId id="311" r:id="rId21"/>
    <p:sldId id="312" r:id="rId22"/>
    <p:sldId id="313" r:id="rId23"/>
    <p:sldId id="314" r:id="rId24"/>
    <p:sldId id="315" r:id="rId25"/>
    <p:sldId id="316" r:id="rId26"/>
    <p:sldId id="317" r:id="rId27"/>
    <p:sldId id="286" r:id="rId28"/>
    <p:sldId id="294" r:id="rId29"/>
    <p:sldId id="296" r:id="rId30"/>
    <p:sldId id="297" r:id="rId31"/>
    <p:sldId id="266" r:id="rId32"/>
    <p:sldId id="267" r:id="rId33"/>
    <p:sldId id="272" r:id="rId3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6633"/>
    <a:srgbClr val="0000FF"/>
    <a:srgbClr val="800080"/>
    <a:srgbClr val="AAE5EB"/>
    <a:srgbClr val="FFEEED"/>
    <a:srgbClr val="CCCCCC"/>
    <a:srgbClr val="FFFFFF"/>
    <a:srgbClr val="66FFCC"/>
    <a:srgbClr val="FF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54" d="100"/>
        <a:sy n="154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76B22A-D469-9946-8FF8-6B1DCBB4D566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39448A-6774-2848-AD1B-31CB28844B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6683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YARN is resource manager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F39448A-6774-2848-AD1B-31CB28844BC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6456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F39448A-6774-2848-AD1B-31CB28844BC0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4184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A6413-97CB-5C45-8F68-2BED69C633D9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6CBF4-533A-D540-A553-43BD5D397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97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A6413-97CB-5C45-8F68-2BED69C633D9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6CBF4-533A-D540-A553-43BD5D397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66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A6413-97CB-5C45-8F68-2BED69C633D9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6CBF4-533A-D540-A553-43BD5D397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291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A6413-97CB-5C45-8F68-2BED69C633D9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6CBF4-533A-D540-A553-43BD5D397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613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A6413-97CB-5C45-8F68-2BED69C633D9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6CBF4-533A-D540-A553-43BD5D397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5208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A6413-97CB-5C45-8F68-2BED69C633D9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6CBF4-533A-D540-A553-43BD5D397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395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A6413-97CB-5C45-8F68-2BED69C633D9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6CBF4-533A-D540-A553-43BD5D397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0062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A6413-97CB-5C45-8F68-2BED69C633D9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6CBF4-533A-D540-A553-43BD5D397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54242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A6413-97CB-5C45-8F68-2BED69C633D9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6CBF4-533A-D540-A553-43BD5D397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885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A6413-97CB-5C45-8F68-2BED69C633D9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6CBF4-533A-D540-A553-43BD5D397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53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A6413-97CB-5C45-8F68-2BED69C633D9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6CBF4-533A-D540-A553-43BD5D397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8044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7A6413-97CB-5C45-8F68-2BED69C633D9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E6CBF4-533A-D540-A553-43BD5D397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8870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Apache </a:t>
            </a:r>
            <a:r>
              <a:rPr lang="en-US" dirty="0" err="1"/>
              <a:t>Hadoop</a:t>
            </a:r>
            <a:r>
              <a:rPr lang="en-US" dirty="0"/>
              <a:t> and Spark: Introduction</a:t>
            </a:r>
            <a:br>
              <a:rPr lang="en-US" dirty="0"/>
            </a:br>
            <a:r>
              <a:rPr lang="en-US" dirty="0"/>
              <a:t>and Use Cases for Data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Afzal Godil</a:t>
            </a:r>
          </a:p>
          <a:p>
            <a:r>
              <a:rPr lang="en-US" dirty="0"/>
              <a:t>Information Access Division, ITL, NIST</a:t>
            </a:r>
          </a:p>
        </p:txBody>
      </p:sp>
    </p:spTree>
    <p:extLst>
      <p:ext uri="{BB962C8B-B14F-4D97-AF65-F5344CB8AC3E}">
        <p14:creationId xmlns:p14="http://schemas.microsoft.com/office/powerpoint/2010/main" val="23716234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Growth of big datasets</a:t>
            </a:r>
          </a:p>
          <a:p>
            <a:r>
              <a:rPr lang="en-US" sz="2400" dirty="0"/>
              <a:t>Introduction to Apache </a:t>
            </a:r>
            <a:r>
              <a:rPr lang="en-US" sz="2400" dirty="0" err="1"/>
              <a:t>Hadoop</a:t>
            </a:r>
            <a:r>
              <a:rPr lang="en-US" sz="2400" dirty="0"/>
              <a:t> and Spark for developing applications </a:t>
            </a:r>
          </a:p>
          <a:p>
            <a:r>
              <a:rPr lang="en-US" sz="2400" dirty="0"/>
              <a:t>Components of Hadoop, HDFS, MapReduce and </a:t>
            </a:r>
            <a:r>
              <a:rPr lang="en-US" sz="2400" dirty="0" err="1"/>
              <a:t>HBase</a:t>
            </a:r>
            <a:r>
              <a:rPr lang="en-US" sz="2400" dirty="0"/>
              <a:t> </a:t>
            </a:r>
          </a:p>
          <a:p>
            <a:r>
              <a:rPr lang="en-US" sz="2400" dirty="0"/>
              <a:t>Capabilities of Spark and the differences from a typical MapReduce solution </a:t>
            </a:r>
          </a:p>
          <a:p>
            <a:r>
              <a:rPr lang="en-US" sz="2400" dirty="0"/>
              <a:t>Some Spark use cases for data analysis</a:t>
            </a:r>
          </a:p>
        </p:txBody>
      </p:sp>
    </p:spTree>
    <p:extLst>
      <p:ext uri="{BB962C8B-B14F-4D97-AF65-F5344CB8AC3E}">
        <p14:creationId xmlns:p14="http://schemas.microsoft.com/office/powerpoint/2010/main" val="1716241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The Large Hadron Collider produces about 30 petabytes of data per year</a:t>
            </a:r>
          </a:p>
          <a:p>
            <a:r>
              <a:rPr lang="en-US" sz="2400" dirty="0"/>
              <a:t>Facebook’s data is growing at 8 petabytes per month</a:t>
            </a:r>
          </a:p>
          <a:p>
            <a:r>
              <a:rPr lang="en-US" sz="2400" dirty="0"/>
              <a:t>The New York stock exchange generates about 4 terabyte of data per day</a:t>
            </a:r>
          </a:p>
          <a:p>
            <a:r>
              <a:rPr lang="en-US" sz="2400" dirty="0"/>
              <a:t>YouTube had around 80 petabytes of storage in 2012</a:t>
            </a:r>
          </a:p>
          <a:p>
            <a:r>
              <a:rPr lang="en-US" sz="2400" dirty="0"/>
              <a:t>Internet Archive stores around 19 petabytes of data</a:t>
            </a:r>
          </a:p>
        </p:txBody>
      </p:sp>
    </p:spTree>
    <p:extLst>
      <p:ext uri="{BB962C8B-B14F-4D97-AF65-F5344CB8AC3E}">
        <p14:creationId xmlns:p14="http://schemas.microsoft.com/office/powerpoint/2010/main" val="34427282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Cloud and Distributed Computing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The second trend is pervasiveness of cloud-based storage and computational resources</a:t>
            </a:r>
          </a:p>
          <a:p>
            <a:pPr lvl="1"/>
            <a:r>
              <a:rPr lang="en-US" sz="2400" dirty="0"/>
              <a:t>For processing of these big datasets </a:t>
            </a:r>
          </a:p>
          <a:p>
            <a:r>
              <a:rPr lang="en-US" sz="2400" dirty="0"/>
              <a:t>Cloud characteristics</a:t>
            </a:r>
          </a:p>
          <a:p>
            <a:pPr lvl="1"/>
            <a:r>
              <a:rPr lang="en-US" sz="2400" dirty="0"/>
              <a:t>Provide a scalable standard environment</a:t>
            </a:r>
          </a:p>
          <a:p>
            <a:pPr lvl="1"/>
            <a:r>
              <a:rPr lang="en-US" sz="2400" dirty="0"/>
              <a:t>On-demand computing</a:t>
            </a:r>
          </a:p>
          <a:p>
            <a:pPr lvl="1"/>
            <a:r>
              <a:rPr lang="en-US" sz="2400" dirty="0"/>
              <a:t>Pay as you need</a:t>
            </a:r>
          </a:p>
          <a:p>
            <a:pPr lvl="1"/>
            <a:r>
              <a:rPr lang="en-US" sz="2400" dirty="0"/>
              <a:t>Dynamically scalable</a:t>
            </a:r>
          </a:p>
          <a:p>
            <a:pPr lvl="1"/>
            <a:r>
              <a:rPr lang="en-US" sz="2400" dirty="0"/>
              <a:t>Cheaper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6499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Data Processing and Machine learning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Data processing (third trend)</a:t>
            </a:r>
          </a:p>
          <a:p>
            <a:pPr lvl="1"/>
            <a:r>
              <a:rPr lang="en-US" sz="1800" dirty="0"/>
              <a:t>Traditional ETL (extract, transform, load) </a:t>
            </a:r>
          </a:p>
          <a:p>
            <a:pPr lvl="1"/>
            <a:r>
              <a:rPr lang="en-US" sz="1800" dirty="0"/>
              <a:t>Data Stores (</a:t>
            </a:r>
            <a:r>
              <a:rPr lang="en-US" sz="1800" dirty="0" err="1"/>
              <a:t>HBase</a:t>
            </a:r>
            <a:r>
              <a:rPr lang="en-US" sz="1800" dirty="0"/>
              <a:t>, ……..)</a:t>
            </a:r>
          </a:p>
          <a:p>
            <a:pPr lvl="1"/>
            <a:r>
              <a:rPr lang="en-US" sz="1800" dirty="0"/>
              <a:t>Tools for processing of streaming, </a:t>
            </a:r>
          </a:p>
          <a:p>
            <a:pPr marL="457200" lvl="1" indent="0">
              <a:buNone/>
            </a:pPr>
            <a:r>
              <a:rPr lang="en-US" sz="1800" dirty="0"/>
              <a:t>     multimedia &amp; batch data</a:t>
            </a:r>
          </a:p>
          <a:p>
            <a:r>
              <a:rPr lang="en-US" sz="1800" dirty="0"/>
              <a:t>Machine Learning (fourth trend)</a:t>
            </a:r>
          </a:p>
          <a:p>
            <a:pPr lvl="1"/>
            <a:r>
              <a:rPr lang="en-US" sz="1800" dirty="0"/>
              <a:t>Classification</a:t>
            </a:r>
          </a:p>
          <a:p>
            <a:pPr lvl="1"/>
            <a:r>
              <a:rPr lang="en-US" sz="1800" dirty="0"/>
              <a:t>Regression</a:t>
            </a:r>
          </a:p>
          <a:p>
            <a:pPr lvl="1"/>
            <a:r>
              <a:rPr lang="en-US" sz="1800" dirty="0"/>
              <a:t>Clustering</a:t>
            </a:r>
          </a:p>
          <a:p>
            <a:pPr lvl="1"/>
            <a:r>
              <a:rPr lang="en-US" sz="1800" dirty="0"/>
              <a:t>Collaborative filtering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Alternate Process 3"/>
          <p:cNvSpPr/>
          <p:nvPr/>
        </p:nvSpPr>
        <p:spPr>
          <a:xfrm>
            <a:off x="4147919" y="4017850"/>
            <a:ext cx="3004559" cy="910583"/>
          </a:xfrm>
          <a:prstGeom prst="flowChartAlternateProcess">
            <a:avLst/>
          </a:prstGeom>
          <a:solidFill>
            <a:srgbClr val="FF6600">
              <a:alpha val="45000"/>
            </a:srgbClr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   Big Datasets</a:t>
            </a:r>
          </a:p>
        </p:txBody>
      </p:sp>
      <p:sp>
        <p:nvSpPr>
          <p:cNvPr id="5" name="Alternate Process 4"/>
          <p:cNvSpPr/>
          <p:nvPr/>
        </p:nvSpPr>
        <p:spPr>
          <a:xfrm>
            <a:off x="5730762" y="4017850"/>
            <a:ext cx="2863138" cy="910583"/>
          </a:xfrm>
          <a:prstGeom prst="flowChartAlternateProcess">
            <a:avLst/>
          </a:prstGeom>
          <a:solidFill>
            <a:schemeClr val="accent3">
              <a:lumMod val="50000"/>
              <a:alpha val="57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/>
              <a:t>    Machine     </a:t>
            </a:r>
          </a:p>
          <a:p>
            <a:pPr algn="r"/>
            <a:r>
              <a:rPr lang="en-US" dirty="0"/>
              <a:t>Learning    </a:t>
            </a:r>
          </a:p>
        </p:txBody>
      </p:sp>
      <p:sp>
        <p:nvSpPr>
          <p:cNvPr id="6" name="Alternate Process 5"/>
          <p:cNvSpPr/>
          <p:nvPr/>
        </p:nvSpPr>
        <p:spPr>
          <a:xfrm>
            <a:off x="5730762" y="4017851"/>
            <a:ext cx="1421716" cy="2469254"/>
          </a:xfrm>
          <a:prstGeom prst="flowChartAlternateProcess">
            <a:avLst/>
          </a:prstGeom>
          <a:solidFill>
            <a:schemeClr val="tx2">
              <a:lumMod val="60000"/>
              <a:lumOff val="40000"/>
              <a:alpha val="45000"/>
            </a:schemeClr>
          </a:solidFill>
          <a:ln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Distributed Computing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98842" y="5237173"/>
            <a:ext cx="3605026" cy="133148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Working at the Intersection of these four trends is very exciting and challenging and require new ways to store and process </a:t>
            </a:r>
            <a:r>
              <a:rPr lang="en-US" b="1" dirty="0"/>
              <a:t>Big Data </a:t>
            </a:r>
          </a:p>
        </p:txBody>
      </p:sp>
      <p:cxnSp>
        <p:nvCxnSpPr>
          <p:cNvPr id="9" name="Straight Arrow Connector 8"/>
          <p:cNvCxnSpPr>
            <a:stCxn id="7" idx="3"/>
          </p:cNvCxnSpPr>
          <p:nvPr/>
        </p:nvCxnSpPr>
        <p:spPr>
          <a:xfrm flipV="1">
            <a:off x="4403868" y="4492908"/>
            <a:ext cx="2082449" cy="141000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" name="Alternate Process 9"/>
          <p:cNvSpPr/>
          <p:nvPr/>
        </p:nvSpPr>
        <p:spPr>
          <a:xfrm>
            <a:off x="5730762" y="2205490"/>
            <a:ext cx="1421716" cy="2722944"/>
          </a:xfrm>
          <a:prstGeom prst="flowChartAlternateProcess">
            <a:avLst/>
          </a:prstGeom>
          <a:solidFill>
            <a:schemeClr val="accent2">
              <a:lumMod val="60000"/>
              <a:lumOff val="40000"/>
              <a:alpha val="4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Data Processing ETL (extract, transform, load) </a:t>
            </a:r>
          </a:p>
        </p:txBody>
      </p:sp>
    </p:spTree>
    <p:extLst>
      <p:ext uri="{BB962C8B-B14F-4D97-AF65-F5344CB8AC3E}">
        <p14:creationId xmlns:p14="http://schemas.microsoft.com/office/powerpoint/2010/main" val="42049706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 err="1"/>
              <a:t>Hadoop</a:t>
            </a:r>
            <a:r>
              <a:rPr lang="en-US" sz="3600" dirty="0"/>
              <a:t>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Enable Scalability </a:t>
            </a:r>
          </a:p>
          <a:p>
            <a:pPr lvl="1"/>
            <a:r>
              <a:rPr lang="en-US" sz="2400" dirty="0"/>
              <a:t>on commodity hardware</a:t>
            </a:r>
          </a:p>
          <a:p>
            <a:r>
              <a:rPr lang="en-US" sz="2400" dirty="0"/>
              <a:t>Handle Fault Tolerance</a:t>
            </a:r>
          </a:p>
          <a:p>
            <a:r>
              <a:rPr lang="en-US" sz="2400" dirty="0"/>
              <a:t>Can Handle a Variety of Data type</a:t>
            </a:r>
          </a:p>
          <a:p>
            <a:pPr lvl="1"/>
            <a:r>
              <a:rPr lang="en-US" sz="2400" dirty="0"/>
              <a:t>Text, Graph, Streaming Data, Images,…</a:t>
            </a:r>
          </a:p>
          <a:p>
            <a:r>
              <a:rPr lang="en-US" sz="2400" dirty="0"/>
              <a:t>Shared Environment</a:t>
            </a:r>
          </a:p>
          <a:p>
            <a:r>
              <a:rPr lang="en-US" sz="2400" dirty="0"/>
              <a:t>Provides Value</a:t>
            </a:r>
          </a:p>
          <a:p>
            <a:pPr lvl="1"/>
            <a:r>
              <a:rPr lang="en-US" sz="2400" dirty="0"/>
              <a:t>Cost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4417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8521DF-D800-5ED4-5F0C-A01A664D3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B3139"/>
                </a:solidFill>
                <a:effectLst/>
                <a:latin typeface="DM Sans" pitchFamily="2" charset="0"/>
              </a:rPr>
              <a:t>how does </a:t>
            </a:r>
            <a:r>
              <a:rPr lang="en-US" dirty="0">
                <a:solidFill>
                  <a:srgbClr val="1B3139"/>
                </a:solidFill>
                <a:latin typeface="DM Sans" pitchFamily="2" charset="0"/>
              </a:rPr>
              <a:t>H</a:t>
            </a:r>
            <a:r>
              <a:rPr lang="en-US" b="0" i="0" dirty="0">
                <a:solidFill>
                  <a:srgbClr val="1B3139"/>
                </a:solidFill>
                <a:effectLst/>
                <a:latin typeface="DM Sans" pitchFamily="2" charset="0"/>
              </a:rPr>
              <a:t>adoop vary from HDFS? 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02289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89B2FCF5-F94C-7000-4403-5EC0FF52A2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2202180"/>
            <a:ext cx="8178799" cy="2453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4785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 err="1"/>
              <a:t>Hadoop</a:t>
            </a:r>
            <a:r>
              <a:rPr lang="en-US" sz="3600" dirty="0"/>
              <a:t> Ecosystem</a:t>
            </a:r>
          </a:p>
        </p:txBody>
      </p:sp>
      <p:pic>
        <p:nvPicPr>
          <p:cNvPr id="4" name="Content Placeholder 3" descr="Screen Shot 2016-07-20 at 10.19.13 AM.png"/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441" r="1517" b="5363"/>
          <a:stretch/>
        </p:blipFill>
        <p:spPr>
          <a:xfrm>
            <a:off x="959307" y="3262751"/>
            <a:ext cx="6971082" cy="2848423"/>
          </a:xfr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pic>
      <p:sp>
        <p:nvSpPr>
          <p:cNvPr id="5" name="Rectangle 4"/>
          <p:cNvSpPr/>
          <p:nvPr/>
        </p:nvSpPr>
        <p:spPr>
          <a:xfrm>
            <a:off x="1382989" y="1349875"/>
            <a:ext cx="696426" cy="348234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7" name="Rectangle 6"/>
          <p:cNvSpPr/>
          <p:nvPr/>
        </p:nvSpPr>
        <p:spPr>
          <a:xfrm>
            <a:off x="1382989" y="2007554"/>
            <a:ext cx="696426" cy="34823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8" name="Rectangle 7"/>
          <p:cNvSpPr/>
          <p:nvPr/>
        </p:nvSpPr>
        <p:spPr>
          <a:xfrm>
            <a:off x="2470785" y="2007554"/>
            <a:ext cx="696426" cy="34823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9" name="Rectangle 8"/>
          <p:cNvSpPr/>
          <p:nvPr/>
        </p:nvSpPr>
        <p:spPr>
          <a:xfrm>
            <a:off x="1382988" y="2598004"/>
            <a:ext cx="1784223" cy="398495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</a:t>
            </a:r>
          </a:p>
        </p:txBody>
      </p:sp>
      <p:cxnSp>
        <p:nvCxnSpPr>
          <p:cNvPr id="11" name="Straight Connector 10"/>
          <p:cNvCxnSpPr/>
          <p:nvPr/>
        </p:nvCxnSpPr>
        <p:spPr>
          <a:xfrm>
            <a:off x="495388" y="1891966"/>
            <a:ext cx="329778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>
            <a:off x="545373" y="2451380"/>
            <a:ext cx="329778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5" idx="2"/>
            <a:endCxn id="7" idx="0"/>
          </p:cNvCxnSpPr>
          <p:nvPr/>
        </p:nvCxnSpPr>
        <p:spPr>
          <a:xfrm>
            <a:off x="1731202" y="1698109"/>
            <a:ext cx="0" cy="309445"/>
          </a:xfrm>
          <a:prstGeom prst="straightConnector1">
            <a:avLst/>
          </a:prstGeom>
          <a:ln>
            <a:solidFill>
              <a:srgbClr val="996633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2778031" y="2296657"/>
            <a:ext cx="0" cy="309445"/>
          </a:xfrm>
          <a:prstGeom prst="straightConnector1">
            <a:avLst/>
          </a:prstGeom>
          <a:ln>
            <a:solidFill>
              <a:srgbClr val="996633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1731202" y="2296657"/>
            <a:ext cx="0" cy="309445"/>
          </a:xfrm>
          <a:prstGeom prst="straightConnector1">
            <a:avLst/>
          </a:prstGeom>
          <a:ln>
            <a:solidFill>
              <a:srgbClr val="996633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38005" y="1584125"/>
            <a:ext cx="3240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Layer Diagram </a:t>
            </a:r>
          </a:p>
        </p:txBody>
      </p:sp>
      <p:cxnSp>
        <p:nvCxnSpPr>
          <p:cNvPr id="20" name="Straight Arrow Connector 19"/>
          <p:cNvCxnSpPr/>
          <p:nvPr/>
        </p:nvCxnSpPr>
        <p:spPr>
          <a:xfrm flipH="1">
            <a:off x="3921306" y="1795799"/>
            <a:ext cx="523542" cy="7983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54729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Apache </a:t>
            </a:r>
            <a:r>
              <a:rPr lang="en-US" sz="3600" dirty="0" err="1"/>
              <a:t>Hadoop</a:t>
            </a:r>
            <a:r>
              <a:rPr lang="en-US" sz="3600" dirty="0"/>
              <a:t> Basic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err="1"/>
              <a:t>Hadoop</a:t>
            </a:r>
            <a:r>
              <a:rPr lang="en-US" sz="2400" dirty="0"/>
              <a:t> Common</a:t>
            </a:r>
          </a:p>
          <a:p>
            <a:r>
              <a:rPr lang="en-US" sz="2400" dirty="0" err="1"/>
              <a:t>Hadoop</a:t>
            </a:r>
            <a:r>
              <a:rPr lang="en-US" sz="2400" dirty="0"/>
              <a:t> Distributed File System (HDFS)</a:t>
            </a:r>
          </a:p>
          <a:p>
            <a:r>
              <a:rPr lang="en-US" sz="2400" dirty="0" err="1"/>
              <a:t>Hadoop</a:t>
            </a:r>
            <a:r>
              <a:rPr lang="en-US" sz="2400" dirty="0"/>
              <a:t> YARN</a:t>
            </a:r>
          </a:p>
          <a:p>
            <a:r>
              <a:rPr lang="en-US" sz="2400" dirty="0" err="1"/>
              <a:t>Hadoop</a:t>
            </a:r>
            <a:r>
              <a:rPr lang="en-US" sz="2400" dirty="0"/>
              <a:t> </a:t>
            </a:r>
            <a:r>
              <a:rPr lang="en-US" sz="2400" dirty="0" err="1"/>
              <a:t>MapReduce</a:t>
            </a:r>
            <a:endParaRPr lang="en-US" sz="2400" dirty="0"/>
          </a:p>
        </p:txBody>
      </p:sp>
      <p:sp>
        <p:nvSpPr>
          <p:cNvPr id="4" name="Rectangle 3"/>
          <p:cNvSpPr/>
          <p:nvPr/>
        </p:nvSpPr>
        <p:spPr>
          <a:xfrm>
            <a:off x="1010500" y="3379923"/>
            <a:ext cx="6931447" cy="293305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75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700" dirty="0">
              <a:solidFill>
                <a:schemeClr val="tx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905050" y="4586768"/>
            <a:ext cx="3423436" cy="492700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 err="1">
                <a:solidFill>
                  <a:schemeClr val="tx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MapReduce</a:t>
            </a:r>
            <a:r>
              <a:rPr lang="en-US" sz="1700" dirty="0">
                <a:solidFill>
                  <a:schemeClr val="tx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</a:t>
            </a:r>
          </a:p>
          <a:p>
            <a:pPr algn="ctr"/>
            <a:r>
              <a:rPr lang="en-US" sz="1700" dirty="0">
                <a:solidFill>
                  <a:schemeClr val="tx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Distributed Processing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1366248" y="5638425"/>
            <a:ext cx="6194417" cy="67455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>
                <a:solidFill>
                  <a:schemeClr val="tx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HDFS Distributed File System (Storage)</a:t>
            </a:r>
          </a:p>
        </p:txBody>
      </p:sp>
      <p:sp>
        <p:nvSpPr>
          <p:cNvPr id="9" name="Rectangle 8"/>
          <p:cNvSpPr/>
          <p:nvPr/>
        </p:nvSpPr>
        <p:spPr>
          <a:xfrm>
            <a:off x="1366248" y="3826629"/>
            <a:ext cx="914039" cy="1811795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700" dirty="0" err="1">
                <a:solidFill>
                  <a:schemeClr val="tx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HBase</a:t>
            </a:r>
            <a:endParaRPr lang="en-US" sz="1700" dirty="0">
              <a:solidFill>
                <a:schemeClr val="tx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  <a:p>
            <a:pPr algn="ctr"/>
            <a:r>
              <a:rPr lang="en-US" sz="1700" dirty="0">
                <a:solidFill>
                  <a:schemeClr val="tx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Non-relational Database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0287" y="5109227"/>
            <a:ext cx="5280378" cy="519576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>
                <a:solidFill>
                  <a:schemeClr val="tx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Yarn</a:t>
            </a:r>
          </a:p>
          <a:p>
            <a:pPr algn="ctr"/>
            <a:r>
              <a:rPr lang="en-US" sz="1700" dirty="0">
                <a:solidFill>
                  <a:schemeClr val="tx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Resource Manager 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0287" y="3836480"/>
            <a:ext cx="1452843" cy="73126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>
                <a:solidFill>
                  <a:schemeClr val="tx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Pig</a:t>
            </a:r>
          </a:p>
          <a:p>
            <a:pPr algn="ctr"/>
            <a:r>
              <a:rPr lang="en-US" sz="1700" dirty="0">
                <a:solidFill>
                  <a:schemeClr val="tx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Scripting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33130" y="3836480"/>
            <a:ext cx="1595356" cy="73126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>
                <a:solidFill>
                  <a:schemeClr val="tx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Hive</a:t>
            </a:r>
          </a:p>
          <a:p>
            <a:pPr algn="ctr"/>
            <a:r>
              <a:rPr lang="en-US" sz="1700" dirty="0">
                <a:solidFill>
                  <a:schemeClr val="tx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SQL Like Query</a:t>
            </a:r>
          </a:p>
        </p:txBody>
      </p:sp>
      <p:sp>
        <p:nvSpPr>
          <p:cNvPr id="13" name="Line Callout 1 12"/>
          <p:cNvSpPr/>
          <p:nvPr/>
        </p:nvSpPr>
        <p:spPr>
          <a:xfrm>
            <a:off x="5470729" y="2754446"/>
            <a:ext cx="3473349" cy="529203"/>
          </a:xfrm>
          <a:prstGeom prst="borderCallout1">
            <a:avLst>
              <a:gd name="adj1" fmla="val 99981"/>
              <a:gd name="adj2" fmla="val 85689"/>
              <a:gd name="adj3" fmla="val 104485"/>
              <a:gd name="adj4" fmla="val 8550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700" dirty="0">
                <a:solidFill>
                  <a:schemeClr val="tx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Other Modules: Zookeeper, Impala, </a:t>
            </a:r>
            <a:r>
              <a:rPr lang="en-US" sz="1700" dirty="0" err="1">
                <a:solidFill>
                  <a:schemeClr val="tx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Oozie</a:t>
            </a:r>
            <a:r>
              <a:rPr lang="en-US" sz="1700" dirty="0">
                <a:solidFill>
                  <a:schemeClr val="tx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,  etc.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46449" y="4563267"/>
            <a:ext cx="2207388" cy="522459"/>
          </a:xfrm>
          <a:prstGeom prst="rect">
            <a:avLst/>
          </a:prstGeom>
          <a:solidFill>
            <a:srgbClr val="FFFF66"/>
          </a:solidFill>
          <a:ln>
            <a:solidFill>
              <a:srgbClr val="FFFF66"/>
            </a:solidFill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>
                <a:solidFill>
                  <a:schemeClr val="tx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Others </a:t>
            </a:r>
          </a:p>
          <a:p>
            <a:pPr algn="ctr"/>
            <a:r>
              <a:rPr lang="en-US" sz="1700" dirty="0">
                <a:solidFill>
                  <a:schemeClr val="tx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Distributed Processing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47989" y="3478162"/>
            <a:ext cx="1943011" cy="568637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Spark, Storm, </a:t>
            </a:r>
            <a:r>
              <a:rPr lang="en-US" dirty="0" err="1"/>
              <a:t>Tez</a:t>
            </a:r>
            <a:r>
              <a:rPr lang="en-US" dirty="0"/>
              <a:t>, etc.</a:t>
            </a:r>
          </a:p>
        </p:txBody>
      </p:sp>
      <p:cxnSp>
        <p:nvCxnSpPr>
          <p:cNvPr id="19" name="Straight Arrow Connector 18"/>
          <p:cNvCxnSpPr>
            <a:endCxn id="16" idx="0"/>
          </p:cNvCxnSpPr>
          <p:nvPr/>
        </p:nvCxnSpPr>
        <p:spPr>
          <a:xfrm flipH="1">
            <a:off x="6450143" y="4033143"/>
            <a:ext cx="158745" cy="530124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endCxn id="10" idx="3"/>
          </p:cNvCxnSpPr>
          <p:nvPr/>
        </p:nvCxnSpPr>
        <p:spPr>
          <a:xfrm flipH="1">
            <a:off x="7560665" y="3283649"/>
            <a:ext cx="894530" cy="2085366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42971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 err="1"/>
              <a:t>Hadoop</a:t>
            </a:r>
            <a:r>
              <a:rPr lang="en-US" sz="3600" dirty="0"/>
              <a:t> HDFS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33713"/>
            <a:ext cx="8229600" cy="4895961"/>
          </a:xfrm>
        </p:spPr>
        <p:txBody>
          <a:bodyPr>
            <a:noAutofit/>
          </a:bodyPr>
          <a:lstStyle/>
          <a:p>
            <a:r>
              <a:rPr lang="en-US" sz="2000" dirty="0" err="1"/>
              <a:t>Hadoop</a:t>
            </a:r>
            <a:r>
              <a:rPr lang="en-US" sz="2000" dirty="0"/>
              <a:t> distributed File System (based on Google File System (GFS) paper, 2004)</a:t>
            </a:r>
          </a:p>
          <a:p>
            <a:pPr lvl="1"/>
            <a:r>
              <a:rPr lang="en-US" sz="2000" dirty="0"/>
              <a:t>Serves as the distributed file system for most tools in the </a:t>
            </a:r>
            <a:r>
              <a:rPr lang="en-US" sz="2000" dirty="0" err="1"/>
              <a:t>Hadoop</a:t>
            </a:r>
            <a:r>
              <a:rPr lang="en-US" sz="2000" dirty="0"/>
              <a:t> ecosystem</a:t>
            </a:r>
          </a:p>
          <a:p>
            <a:pPr lvl="1"/>
            <a:r>
              <a:rPr lang="en-US" sz="2000" dirty="0"/>
              <a:t>Scalability for large data sets </a:t>
            </a:r>
          </a:p>
          <a:p>
            <a:pPr lvl="1"/>
            <a:r>
              <a:rPr lang="en-US" sz="2000" dirty="0"/>
              <a:t>Reliability to cope with hardware failures </a:t>
            </a:r>
          </a:p>
          <a:p>
            <a:r>
              <a:rPr lang="en-US" sz="2000" dirty="0"/>
              <a:t>HDFS good for:</a:t>
            </a:r>
          </a:p>
          <a:p>
            <a:pPr lvl="1"/>
            <a:r>
              <a:rPr lang="en-US" sz="2000" dirty="0"/>
              <a:t>Large files</a:t>
            </a:r>
          </a:p>
          <a:p>
            <a:pPr lvl="1"/>
            <a:r>
              <a:rPr lang="en-US" sz="2000" dirty="0"/>
              <a:t>Streaming data</a:t>
            </a:r>
          </a:p>
          <a:p>
            <a:r>
              <a:rPr lang="en-US" sz="2000" dirty="0"/>
              <a:t>Not good for:</a:t>
            </a:r>
          </a:p>
          <a:p>
            <a:pPr lvl="1"/>
            <a:r>
              <a:rPr lang="en-US" sz="2000" dirty="0"/>
              <a:t>Lots of small files</a:t>
            </a:r>
          </a:p>
          <a:p>
            <a:pPr lvl="1"/>
            <a:r>
              <a:rPr lang="en-US" sz="2000" dirty="0"/>
              <a:t>Random access to files</a:t>
            </a:r>
          </a:p>
          <a:p>
            <a:pPr lvl="1"/>
            <a:r>
              <a:rPr lang="en-US" sz="2000" dirty="0"/>
              <a:t>Low latency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28728" y="4825664"/>
            <a:ext cx="4158072" cy="646331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Single </a:t>
            </a:r>
            <a:r>
              <a:rPr lang="en-US" dirty="0" err="1">
                <a:solidFill>
                  <a:schemeClr val="tx1"/>
                </a:solidFill>
              </a:rPr>
              <a:t>Hadoop</a:t>
            </a:r>
            <a:r>
              <a:rPr lang="en-US" dirty="0">
                <a:solidFill>
                  <a:schemeClr val="tx1"/>
                </a:solidFill>
              </a:rPr>
              <a:t> cluster with 5000 servers and 250 petabytes of data</a:t>
            </a:r>
          </a:p>
        </p:txBody>
      </p:sp>
      <p:sp>
        <p:nvSpPr>
          <p:cNvPr id="5" name="5-Point Star 4"/>
          <p:cNvSpPr/>
          <p:nvPr/>
        </p:nvSpPr>
        <p:spPr>
          <a:xfrm>
            <a:off x="8029378" y="4588501"/>
            <a:ext cx="314074" cy="286782"/>
          </a:xfrm>
          <a:prstGeom prst="star5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120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dirty="0"/>
              <a:t>Design of </a:t>
            </a:r>
            <a:r>
              <a:rPr lang="en-US" sz="3200" dirty="0" err="1"/>
              <a:t>Hadoop</a:t>
            </a:r>
            <a:r>
              <a:rPr lang="en-US" sz="3200" dirty="0"/>
              <a:t> Distributed File System (HDFS)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Master-Slave design</a:t>
            </a:r>
          </a:p>
          <a:p>
            <a:r>
              <a:rPr lang="en-US" sz="2800" dirty="0"/>
              <a:t>Master Node</a:t>
            </a:r>
          </a:p>
          <a:p>
            <a:pPr lvl="1"/>
            <a:r>
              <a:rPr lang="en-US" dirty="0"/>
              <a:t>Single NameNode for managing metadata</a:t>
            </a:r>
          </a:p>
          <a:p>
            <a:r>
              <a:rPr lang="en-US" sz="2800" dirty="0"/>
              <a:t>Slave Nodes</a:t>
            </a:r>
          </a:p>
          <a:p>
            <a:pPr lvl="1"/>
            <a:r>
              <a:rPr lang="en-US" dirty="0"/>
              <a:t>Multiple </a:t>
            </a:r>
            <a:r>
              <a:rPr lang="en-US" dirty="0" err="1"/>
              <a:t>DataNodes</a:t>
            </a:r>
            <a:r>
              <a:rPr lang="en-US" dirty="0"/>
              <a:t> for storing data</a:t>
            </a:r>
          </a:p>
          <a:p>
            <a:r>
              <a:rPr lang="en-US" sz="2800" dirty="0"/>
              <a:t>Other</a:t>
            </a:r>
          </a:p>
          <a:p>
            <a:pPr lvl="1"/>
            <a:r>
              <a:rPr lang="en-US" dirty="0"/>
              <a:t>Secondary NameNode as a backup</a:t>
            </a:r>
          </a:p>
        </p:txBody>
      </p:sp>
    </p:spTree>
    <p:extLst>
      <p:ext uri="{BB962C8B-B14F-4D97-AF65-F5344CB8AC3E}">
        <p14:creationId xmlns:p14="http://schemas.microsoft.com/office/powerpoint/2010/main" val="35527415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HDFS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39165" y="2144032"/>
            <a:ext cx="1242642" cy="86717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NameNode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1208503" y="3577939"/>
            <a:ext cx="1365541" cy="4847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DataNode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1208503" y="4467777"/>
            <a:ext cx="1365541" cy="4847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DataNode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2822031" y="4467777"/>
            <a:ext cx="1365541" cy="4847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DataNode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40197" y="4522402"/>
            <a:ext cx="1365541" cy="4847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DataNode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65190" y="3580121"/>
            <a:ext cx="1365541" cy="4847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DataNode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65190" y="4522402"/>
            <a:ext cx="1365541" cy="4847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DataNode</a:t>
            </a:r>
          </a:p>
        </p:txBody>
      </p:sp>
      <p:cxnSp>
        <p:nvCxnSpPr>
          <p:cNvPr id="17" name="Straight Arrow Connector 16"/>
          <p:cNvCxnSpPr/>
          <p:nvPr/>
        </p:nvCxnSpPr>
        <p:spPr>
          <a:xfrm flipH="1">
            <a:off x="2068794" y="3011204"/>
            <a:ext cx="2068793" cy="566735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 flipH="1">
            <a:off x="3639165" y="3011204"/>
            <a:ext cx="498423" cy="566735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>
            <a:off x="4137587" y="3011204"/>
            <a:ext cx="2423835" cy="566735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>
            <a:off x="4137587" y="3011204"/>
            <a:ext cx="744220" cy="568917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H="1">
            <a:off x="2068794" y="3013386"/>
            <a:ext cx="2118779" cy="1454391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/>
          <p:nvPr/>
        </p:nvCxnSpPr>
        <p:spPr>
          <a:xfrm>
            <a:off x="4187573" y="3013386"/>
            <a:ext cx="2373849" cy="1509016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>
            <a:endCxn id="9" idx="0"/>
          </p:cNvCxnSpPr>
          <p:nvPr/>
        </p:nvCxnSpPr>
        <p:spPr>
          <a:xfrm flipH="1">
            <a:off x="3504802" y="3013386"/>
            <a:ext cx="682770" cy="1454391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822031" y="3577939"/>
            <a:ext cx="1365541" cy="4847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DataNode</a:t>
            </a:r>
          </a:p>
        </p:txBody>
      </p:sp>
      <p:cxnSp>
        <p:nvCxnSpPr>
          <p:cNvPr id="36" name="Straight Arrow Connector 35"/>
          <p:cNvCxnSpPr/>
          <p:nvPr/>
        </p:nvCxnSpPr>
        <p:spPr>
          <a:xfrm>
            <a:off x="4187573" y="3013386"/>
            <a:ext cx="694234" cy="1509016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4440197" y="3577939"/>
            <a:ext cx="1365541" cy="4847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DataNode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05738" y="2144032"/>
            <a:ext cx="1242642" cy="86717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Secondary NameNode</a:t>
            </a:r>
          </a:p>
        </p:txBody>
      </p:sp>
      <p:cxnSp>
        <p:nvCxnSpPr>
          <p:cNvPr id="41" name="Straight Arrow Connector 40"/>
          <p:cNvCxnSpPr>
            <a:endCxn id="39" idx="1"/>
          </p:cNvCxnSpPr>
          <p:nvPr/>
        </p:nvCxnSpPr>
        <p:spPr>
          <a:xfrm>
            <a:off x="4881807" y="2577618"/>
            <a:ext cx="923931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Snip Same Side Corner Rectangle 43"/>
          <p:cNvSpPr/>
          <p:nvPr/>
        </p:nvSpPr>
        <p:spPr>
          <a:xfrm>
            <a:off x="1085605" y="2194010"/>
            <a:ext cx="1283608" cy="819376"/>
          </a:xfrm>
          <a:prstGeom prst="snip2Same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Client</a:t>
            </a:r>
          </a:p>
        </p:txBody>
      </p:sp>
      <p:cxnSp>
        <p:nvCxnSpPr>
          <p:cNvPr id="46" name="Straight Connector 45"/>
          <p:cNvCxnSpPr>
            <a:endCxn id="4" idx="1"/>
          </p:cNvCxnSpPr>
          <p:nvPr/>
        </p:nvCxnSpPr>
        <p:spPr>
          <a:xfrm>
            <a:off x="2369213" y="2577618"/>
            <a:ext cx="126995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1698873" y="5403466"/>
            <a:ext cx="2246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Heartbeat, </a:t>
            </a:r>
            <a:r>
              <a:rPr lang="en-US" dirty="0" err="1"/>
              <a:t>Cmd</a:t>
            </a:r>
            <a:r>
              <a:rPr lang="en-US" dirty="0"/>
              <a:t>, Data</a:t>
            </a:r>
          </a:p>
        </p:txBody>
      </p:sp>
      <p:cxnSp>
        <p:nvCxnSpPr>
          <p:cNvPr id="50" name="Straight Arrow Connector 49"/>
          <p:cNvCxnSpPr/>
          <p:nvPr/>
        </p:nvCxnSpPr>
        <p:spPr>
          <a:xfrm>
            <a:off x="770307" y="5585408"/>
            <a:ext cx="998068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28567" y="1417638"/>
            <a:ext cx="68550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NameNode</a:t>
            </a:r>
            <a:r>
              <a:rPr lang="en-US" dirty="0"/>
              <a:t> keeps the metadata, the name, location and directory</a:t>
            </a:r>
          </a:p>
          <a:p>
            <a:r>
              <a:rPr lang="en-US" b="1" dirty="0"/>
              <a:t>DataNode</a:t>
            </a:r>
            <a:r>
              <a:rPr lang="en-US" dirty="0"/>
              <a:t> provide storage for blocks of data</a:t>
            </a:r>
          </a:p>
        </p:txBody>
      </p:sp>
    </p:spTree>
    <p:extLst>
      <p:ext uri="{BB962C8B-B14F-4D97-AF65-F5344CB8AC3E}">
        <p14:creationId xmlns:p14="http://schemas.microsoft.com/office/powerpoint/2010/main" val="36916420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477" y="24700"/>
            <a:ext cx="8229600" cy="1143000"/>
          </a:xfrm>
        </p:spPr>
        <p:txBody>
          <a:bodyPr>
            <a:normAutofit/>
          </a:bodyPr>
          <a:lstStyle/>
          <a:p>
            <a:r>
              <a:rPr lang="en-US" sz="3600" dirty="0"/>
              <a:t>HDFS</a:t>
            </a:r>
          </a:p>
        </p:txBody>
      </p:sp>
      <p:sp>
        <p:nvSpPr>
          <p:cNvPr id="4" name="Rectangle 3"/>
          <p:cNvSpPr/>
          <p:nvPr/>
        </p:nvSpPr>
        <p:spPr>
          <a:xfrm>
            <a:off x="2021000" y="1891391"/>
            <a:ext cx="1024155" cy="47114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3045155" y="1891391"/>
            <a:ext cx="675943" cy="471141"/>
          </a:xfrm>
          <a:prstGeom prst="rect">
            <a:avLst/>
          </a:prstGeom>
          <a:solidFill>
            <a:srgbClr val="80008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B1</a:t>
            </a:r>
          </a:p>
        </p:txBody>
      </p:sp>
      <p:sp>
        <p:nvSpPr>
          <p:cNvPr id="7" name="Rectangle 6"/>
          <p:cNvSpPr/>
          <p:nvPr/>
        </p:nvSpPr>
        <p:spPr>
          <a:xfrm>
            <a:off x="3721098" y="1891391"/>
            <a:ext cx="675943" cy="471141"/>
          </a:xfrm>
          <a:prstGeom prst="rect">
            <a:avLst/>
          </a:prstGeom>
          <a:solidFill>
            <a:srgbClr val="0000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7041" y="1893572"/>
            <a:ext cx="675943" cy="471141"/>
          </a:xfrm>
          <a:prstGeom prst="rect">
            <a:avLst/>
          </a:prstGeom>
          <a:solidFill>
            <a:srgbClr val="9966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2984" y="1895753"/>
            <a:ext cx="675943" cy="471141"/>
          </a:xfrm>
          <a:prstGeom prst="rect">
            <a:avLst/>
          </a:prstGeom>
          <a:solidFill>
            <a:srgbClr val="008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B4</a:t>
            </a:r>
          </a:p>
        </p:txBody>
      </p:sp>
      <p:sp>
        <p:nvSpPr>
          <p:cNvPr id="10" name="Snip Same Side Corner Rectangle 9"/>
          <p:cNvSpPr/>
          <p:nvPr/>
        </p:nvSpPr>
        <p:spPr>
          <a:xfrm>
            <a:off x="832977" y="2867813"/>
            <a:ext cx="1604510" cy="1106157"/>
          </a:xfrm>
          <a:prstGeom prst="snip2Same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1324577" y="3377457"/>
            <a:ext cx="675943" cy="471141"/>
          </a:xfrm>
          <a:prstGeom prst="rect">
            <a:avLst/>
          </a:prstGeom>
          <a:solidFill>
            <a:srgbClr val="80008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B1</a:t>
            </a:r>
          </a:p>
        </p:txBody>
      </p:sp>
      <p:sp>
        <p:nvSpPr>
          <p:cNvPr id="13" name="Snip Same Side Corner Rectangle 12"/>
          <p:cNvSpPr/>
          <p:nvPr/>
        </p:nvSpPr>
        <p:spPr>
          <a:xfrm>
            <a:off x="2792529" y="2867813"/>
            <a:ext cx="1604510" cy="1106157"/>
          </a:xfrm>
          <a:prstGeom prst="snip2Same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14" name="Snip Same Side Corner Rectangle 13"/>
          <p:cNvSpPr/>
          <p:nvPr/>
        </p:nvSpPr>
        <p:spPr>
          <a:xfrm>
            <a:off x="4685991" y="2867813"/>
            <a:ext cx="1604510" cy="1106157"/>
          </a:xfrm>
          <a:prstGeom prst="snip2Same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15" name="Rectangle 14"/>
          <p:cNvSpPr/>
          <p:nvPr/>
        </p:nvSpPr>
        <p:spPr>
          <a:xfrm>
            <a:off x="3245347" y="3379638"/>
            <a:ext cx="675943" cy="471141"/>
          </a:xfrm>
          <a:prstGeom prst="rect">
            <a:avLst/>
          </a:prstGeom>
          <a:solidFill>
            <a:srgbClr val="0000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B2</a:t>
            </a:r>
          </a:p>
        </p:txBody>
      </p:sp>
      <p:sp>
        <p:nvSpPr>
          <p:cNvPr id="17" name="Snip Same Side Corner Rectangle 16"/>
          <p:cNvSpPr/>
          <p:nvPr/>
        </p:nvSpPr>
        <p:spPr>
          <a:xfrm>
            <a:off x="832977" y="4126370"/>
            <a:ext cx="1604510" cy="1106157"/>
          </a:xfrm>
          <a:prstGeom prst="snip2Same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18" name="Rectangle 17"/>
          <p:cNvSpPr/>
          <p:nvPr/>
        </p:nvSpPr>
        <p:spPr>
          <a:xfrm>
            <a:off x="5352916" y="4301436"/>
            <a:ext cx="675943" cy="471141"/>
          </a:xfrm>
          <a:prstGeom prst="rect">
            <a:avLst/>
          </a:prstGeom>
          <a:solidFill>
            <a:srgbClr val="80008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B1</a:t>
            </a:r>
          </a:p>
        </p:txBody>
      </p:sp>
      <p:sp>
        <p:nvSpPr>
          <p:cNvPr id="19" name="Snip Same Side Corner Rectangle 18"/>
          <p:cNvSpPr/>
          <p:nvPr/>
        </p:nvSpPr>
        <p:spPr>
          <a:xfrm>
            <a:off x="2792529" y="4126370"/>
            <a:ext cx="1604510" cy="1106157"/>
          </a:xfrm>
          <a:prstGeom prst="snip2Same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20" name="Snip Same Side Corner Rectangle 19"/>
          <p:cNvSpPr/>
          <p:nvPr/>
        </p:nvSpPr>
        <p:spPr>
          <a:xfrm>
            <a:off x="4685991" y="4126370"/>
            <a:ext cx="1604510" cy="1106157"/>
          </a:xfrm>
          <a:prstGeom prst="snip2Same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5072982" y="4644454"/>
            <a:ext cx="675943" cy="471141"/>
          </a:xfrm>
          <a:prstGeom prst="rect">
            <a:avLst/>
          </a:prstGeom>
          <a:solidFill>
            <a:srgbClr val="0000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92625" y="4644454"/>
            <a:ext cx="675943" cy="471141"/>
          </a:xfrm>
          <a:prstGeom prst="rect">
            <a:avLst/>
          </a:prstGeom>
          <a:solidFill>
            <a:srgbClr val="9966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B3</a:t>
            </a:r>
          </a:p>
        </p:txBody>
      </p:sp>
      <p:sp>
        <p:nvSpPr>
          <p:cNvPr id="23" name="Snip Same Side Corner Rectangle 22"/>
          <p:cNvSpPr/>
          <p:nvPr/>
        </p:nvSpPr>
        <p:spPr>
          <a:xfrm>
            <a:off x="832977" y="5382461"/>
            <a:ext cx="1604510" cy="1106157"/>
          </a:xfrm>
          <a:prstGeom prst="snip2Same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25" name="Snip Same Side Corner Rectangle 24"/>
          <p:cNvSpPr/>
          <p:nvPr/>
        </p:nvSpPr>
        <p:spPr>
          <a:xfrm>
            <a:off x="2792529" y="5382461"/>
            <a:ext cx="1604510" cy="1106157"/>
          </a:xfrm>
          <a:prstGeom prst="snip2Same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26" name="Snip Same Side Corner Rectangle 25"/>
          <p:cNvSpPr/>
          <p:nvPr/>
        </p:nvSpPr>
        <p:spPr>
          <a:xfrm>
            <a:off x="4685991" y="5382461"/>
            <a:ext cx="1604510" cy="1106157"/>
          </a:xfrm>
          <a:prstGeom prst="snip2Same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29" name="Rectangle 28"/>
          <p:cNvSpPr/>
          <p:nvPr/>
        </p:nvSpPr>
        <p:spPr>
          <a:xfrm>
            <a:off x="1285797" y="5894286"/>
            <a:ext cx="675943" cy="471141"/>
          </a:xfrm>
          <a:prstGeom prst="rect">
            <a:avLst/>
          </a:prstGeom>
          <a:solidFill>
            <a:srgbClr val="008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97553" y="5898648"/>
            <a:ext cx="675943" cy="471141"/>
          </a:xfrm>
          <a:prstGeom prst="rect">
            <a:avLst/>
          </a:prstGeom>
          <a:solidFill>
            <a:srgbClr val="9966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11209" y="4635729"/>
            <a:ext cx="675943" cy="471141"/>
          </a:xfrm>
          <a:prstGeom prst="rect">
            <a:avLst/>
          </a:prstGeom>
          <a:solidFill>
            <a:srgbClr val="80008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29793" y="3379638"/>
            <a:ext cx="675943" cy="471141"/>
          </a:xfrm>
          <a:prstGeom prst="rect">
            <a:avLst/>
          </a:prstGeom>
          <a:solidFill>
            <a:srgbClr val="008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B4</a:t>
            </a:r>
          </a:p>
        </p:txBody>
      </p:sp>
      <p:sp>
        <p:nvSpPr>
          <p:cNvPr id="33" name="Snip Same Side Corner Rectangle 32"/>
          <p:cNvSpPr/>
          <p:nvPr/>
        </p:nvSpPr>
        <p:spPr>
          <a:xfrm>
            <a:off x="6570437" y="2867813"/>
            <a:ext cx="1604510" cy="1106157"/>
          </a:xfrm>
          <a:prstGeom prst="snip2Same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34" name="Snip Same Side Corner Rectangle 33"/>
          <p:cNvSpPr/>
          <p:nvPr/>
        </p:nvSpPr>
        <p:spPr>
          <a:xfrm>
            <a:off x="6563609" y="4126370"/>
            <a:ext cx="1604510" cy="1106157"/>
          </a:xfrm>
          <a:prstGeom prst="snip2Same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35" name="Snip Same Side Corner Rectangle 34"/>
          <p:cNvSpPr/>
          <p:nvPr/>
        </p:nvSpPr>
        <p:spPr>
          <a:xfrm>
            <a:off x="6563609" y="5384642"/>
            <a:ext cx="1604510" cy="1106157"/>
          </a:xfrm>
          <a:prstGeom prst="snip2Same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36" name="Rectangle 35"/>
          <p:cNvSpPr/>
          <p:nvPr/>
        </p:nvSpPr>
        <p:spPr>
          <a:xfrm>
            <a:off x="7014239" y="3379638"/>
            <a:ext cx="675943" cy="471141"/>
          </a:xfrm>
          <a:prstGeom prst="rect">
            <a:avLst/>
          </a:prstGeom>
          <a:solidFill>
            <a:srgbClr val="9966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14239" y="4635729"/>
            <a:ext cx="675943" cy="471141"/>
          </a:xfrm>
          <a:prstGeom prst="rect">
            <a:avLst/>
          </a:prstGeom>
          <a:solidFill>
            <a:srgbClr val="008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14239" y="5900544"/>
            <a:ext cx="675943" cy="471141"/>
          </a:xfrm>
          <a:prstGeom prst="rect">
            <a:avLst/>
          </a:prstGeom>
          <a:solidFill>
            <a:srgbClr val="0000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29793" y="5894001"/>
            <a:ext cx="675943" cy="471141"/>
          </a:xfrm>
          <a:prstGeom prst="rect">
            <a:avLst/>
          </a:prstGeom>
          <a:solidFill>
            <a:srgbClr val="80008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58713" y="1119813"/>
            <a:ext cx="4874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What happens; if node(s) fail?</a:t>
            </a:r>
          </a:p>
          <a:p>
            <a:r>
              <a:rPr lang="en-US" dirty="0"/>
              <a:t>Replication of Blocks for fault tolerance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2792529" y="2389845"/>
            <a:ext cx="481223" cy="355063"/>
          </a:xfrm>
          <a:prstGeom prst="straightConnector1">
            <a:avLst/>
          </a:prstGeom>
          <a:ln>
            <a:solidFill>
              <a:srgbClr val="FFFF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/>
          <p:nvPr/>
        </p:nvCxnSpPr>
        <p:spPr>
          <a:xfrm>
            <a:off x="5298298" y="2403501"/>
            <a:ext cx="75102" cy="355063"/>
          </a:xfrm>
          <a:prstGeom prst="straightConnector1">
            <a:avLst/>
          </a:prstGeom>
          <a:ln>
            <a:solidFill>
              <a:srgbClr val="FFFF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/>
          <p:nvPr/>
        </p:nvCxnSpPr>
        <p:spPr>
          <a:xfrm flipH="1">
            <a:off x="3921290" y="2417157"/>
            <a:ext cx="28405" cy="355063"/>
          </a:xfrm>
          <a:prstGeom prst="straightConnector1">
            <a:avLst/>
          </a:prstGeom>
          <a:ln>
            <a:solidFill>
              <a:srgbClr val="FFFF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>
            <a:off x="4629182" y="2366894"/>
            <a:ext cx="500611" cy="279953"/>
          </a:xfrm>
          <a:prstGeom prst="straightConnector1">
            <a:avLst/>
          </a:prstGeom>
          <a:ln>
            <a:solidFill>
              <a:srgbClr val="FFFF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56806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HDFS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600" dirty="0"/>
              <a:t>HDFS files are divided into blocks</a:t>
            </a:r>
          </a:p>
          <a:p>
            <a:pPr lvl="1"/>
            <a:r>
              <a:rPr lang="en-US" sz="2600" dirty="0"/>
              <a:t>It</a:t>
            </a:r>
            <a:r>
              <a:rPr lang="fr-FR" sz="2600" dirty="0"/>
              <a:t>’</a:t>
            </a:r>
            <a:r>
              <a:rPr lang="en-US" sz="2600" dirty="0"/>
              <a:t>s the basic unit of read/write </a:t>
            </a:r>
          </a:p>
          <a:p>
            <a:pPr lvl="1"/>
            <a:r>
              <a:rPr lang="en-US" sz="2600" dirty="0"/>
              <a:t>Default size is 64MB, could be larger (128MB)</a:t>
            </a:r>
          </a:p>
          <a:p>
            <a:pPr lvl="1"/>
            <a:r>
              <a:rPr lang="en-US" sz="2600" dirty="0"/>
              <a:t>Hence makes HDFS good for storing larger files</a:t>
            </a:r>
          </a:p>
          <a:p>
            <a:r>
              <a:rPr lang="en-US" sz="2600" dirty="0"/>
              <a:t>HDFS blocks are replicated multiple times</a:t>
            </a:r>
          </a:p>
          <a:p>
            <a:pPr lvl="1"/>
            <a:r>
              <a:rPr lang="en-US" sz="2600" dirty="0"/>
              <a:t>One block stored at multiple location, also at different racks (usually 3 times)</a:t>
            </a:r>
          </a:p>
          <a:p>
            <a:pPr lvl="1"/>
            <a:r>
              <a:rPr lang="en-US" sz="2600" dirty="0"/>
              <a:t>This makes HDFS storage fault tolerant and faster to read</a:t>
            </a:r>
          </a:p>
        </p:txBody>
      </p:sp>
    </p:spTree>
    <p:extLst>
      <p:ext uri="{BB962C8B-B14F-4D97-AF65-F5344CB8AC3E}">
        <p14:creationId xmlns:p14="http://schemas.microsoft.com/office/powerpoint/2010/main" val="14338293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DFF140-C650-700B-E161-8586F8B9B4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655"/>
          <a:stretch/>
        </p:blipFill>
        <p:spPr>
          <a:xfrm>
            <a:off x="20" y="1282"/>
            <a:ext cx="9143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72887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7FC237-AF4F-DDE7-600B-7318AE5AA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23" y="643466"/>
            <a:ext cx="7605553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303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07AC35-ACDE-F5C1-CDD9-03D66B21E9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888" y="643466"/>
            <a:ext cx="7902223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37542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71ABF43-A6FC-79DA-F045-966B5816CD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801560"/>
            <a:ext cx="8178799" cy="5254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30956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F208DA-8176-C448-0338-53AADF83DB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650" b="1"/>
          <a:stretch/>
        </p:blipFill>
        <p:spPr>
          <a:xfrm>
            <a:off x="20" y="1282"/>
            <a:ext cx="9143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8227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D1D356-0166-1CD0-CC27-78329DF12E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16" b="1"/>
          <a:stretch/>
        </p:blipFill>
        <p:spPr>
          <a:xfrm>
            <a:off x="20" y="1282"/>
            <a:ext cx="9143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1982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99B9C0E-FE90-D13D-5069-E6505472F9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2048827"/>
            <a:ext cx="8178799" cy="2760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0855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7FC716-3123-7E3C-8B3B-68F2844CB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315" y="643466"/>
            <a:ext cx="8103368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9043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08881A7-CB50-7BF5-8A72-BDB3AA680E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678878"/>
            <a:ext cx="8178799" cy="5500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7279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AC81F5-59AB-4960-3615-92AABE2CD9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149" y="643466"/>
            <a:ext cx="7791701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2031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538C685-17E6-F343-ABDF-82FBF17C9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770889"/>
            <a:ext cx="8178799" cy="531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734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Few HDFS Shell 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70852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200" dirty="0"/>
              <a:t>Create a directory in HDFS</a:t>
            </a:r>
          </a:p>
          <a:p>
            <a:r>
              <a:rPr lang="en-US" sz="2200" dirty="0" err="1">
                <a:solidFill>
                  <a:srgbClr val="3366FF"/>
                </a:solidFill>
              </a:rPr>
              <a:t>hadoop</a:t>
            </a:r>
            <a:r>
              <a:rPr lang="en-US" sz="2200" dirty="0">
                <a:solidFill>
                  <a:srgbClr val="3366FF"/>
                </a:solidFill>
              </a:rPr>
              <a:t> </a:t>
            </a:r>
            <a:r>
              <a:rPr lang="en-US" sz="2200" dirty="0" err="1">
                <a:solidFill>
                  <a:srgbClr val="3366FF"/>
                </a:solidFill>
              </a:rPr>
              <a:t>fs</a:t>
            </a:r>
            <a:r>
              <a:rPr lang="en-US" sz="2200" dirty="0">
                <a:solidFill>
                  <a:srgbClr val="3366FF"/>
                </a:solidFill>
              </a:rPr>
              <a:t> -</a:t>
            </a:r>
            <a:r>
              <a:rPr lang="en-US" sz="2200" dirty="0" err="1">
                <a:solidFill>
                  <a:srgbClr val="3366FF"/>
                </a:solidFill>
              </a:rPr>
              <a:t>mkdir</a:t>
            </a:r>
            <a:r>
              <a:rPr lang="en-US" sz="2200" dirty="0">
                <a:solidFill>
                  <a:srgbClr val="3366FF"/>
                </a:solidFill>
              </a:rPr>
              <a:t> /user/</a:t>
            </a:r>
            <a:r>
              <a:rPr lang="en-US" sz="2200" dirty="0" err="1">
                <a:solidFill>
                  <a:srgbClr val="3366FF"/>
                </a:solidFill>
              </a:rPr>
              <a:t>godil</a:t>
            </a:r>
            <a:r>
              <a:rPr lang="en-US" sz="2200" dirty="0">
                <a:solidFill>
                  <a:srgbClr val="3366FF"/>
                </a:solidFill>
              </a:rPr>
              <a:t>/dir1</a:t>
            </a:r>
          </a:p>
          <a:p>
            <a:pPr marL="0" indent="0">
              <a:buNone/>
            </a:pPr>
            <a:endParaRPr lang="en-US" sz="2200" dirty="0"/>
          </a:p>
          <a:p>
            <a:pPr marL="0" indent="0">
              <a:buNone/>
            </a:pPr>
            <a:r>
              <a:rPr lang="en-US" sz="2200" dirty="0"/>
              <a:t>List the content of a directory</a:t>
            </a:r>
          </a:p>
          <a:p>
            <a:r>
              <a:rPr lang="en-US" sz="2200" dirty="0" err="1">
                <a:solidFill>
                  <a:srgbClr val="3366FF"/>
                </a:solidFill>
              </a:rPr>
              <a:t>hadoop</a:t>
            </a:r>
            <a:r>
              <a:rPr lang="en-US" sz="2200" dirty="0">
                <a:solidFill>
                  <a:srgbClr val="3366FF"/>
                </a:solidFill>
              </a:rPr>
              <a:t> </a:t>
            </a:r>
            <a:r>
              <a:rPr lang="en-US" sz="2200" dirty="0" err="1">
                <a:solidFill>
                  <a:srgbClr val="3366FF"/>
                </a:solidFill>
              </a:rPr>
              <a:t>fs</a:t>
            </a:r>
            <a:r>
              <a:rPr lang="en-US" sz="2200" dirty="0">
                <a:solidFill>
                  <a:srgbClr val="3366FF"/>
                </a:solidFill>
              </a:rPr>
              <a:t> -</a:t>
            </a:r>
            <a:r>
              <a:rPr lang="en-US" sz="2200" dirty="0" err="1">
                <a:solidFill>
                  <a:srgbClr val="3366FF"/>
                </a:solidFill>
              </a:rPr>
              <a:t>ls</a:t>
            </a:r>
            <a:r>
              <a:rPr lang="en-US" sz="2200" dirty="0">
                <a:solidFill>
                  <a:srgbClr val="3366FF"/>
                </a:solidFill>
              </a:rPr>
              <a:t> /user/</a:t>
            </a:r>
            <a:r>
              <a:rPr lang="en-US" sz="2200" dirty="0" err="1">
                <a:solidFill>
                  <a:srgbClr val="3366FF"/>
                </a:solidFill>
              </a:rPr>
              <a:t>godil</a:t>
            </a:r>
            <a:endParaRPr lang="en-US" sz="2200" dirty="0">
              <a:solidFill>
                <a:srgbClr val="3366FF"/>
              </a:solidFill>
            </a:endParaRPr>
          </a:p>
          <a:p>
            <a:pPr marL="0" indent="0">
              <a:buNone/>
            </a:pPr>
            <a:endParaRPr lang="en-US" sz="2200" dirty="0"/>
          </a:p>
          <a:p>
            <a:pPr marL="0" indent="0">
              <a:buNone/>
            </a:pPr>
            <a:r>
              <a:rPr lang="en-US" sz="2200" dirty="0"/>
              <a:t>Upload and download a file in HDFS</a:t>
            </a:r>
          </a:p>
          <a:p>
            <a:r>
              <a:rPr lang="en-US" sz="2200" dirty="0" err="1">
                <a:solidFill>
                  <a:srgbClr val="3366FF"/>
                </a:solidFill>
              </a:rPr>
              <a:t>hadoop</a:t>
            </a:r>
            <a:r>
              <a:rPr lang="en-US" sz="2200" dirty="0">
                <a:solidFill>
                  <a:srgbClr val="3366FF"/>
                </a:solidFill>
              </a:rPr>
              <a:t> fs -put /home/</a:t>
            </a:r>
            <a:r>
              <a:rPr lang="en-US" sz="2200" dirty="0" err="1">
                <a:solidFill>
                  <a:srgbClr val="3366FF"/>
                </a:solidFill>
              </a:rPr>
              <a:t>godil</a:t>
            </a:r>
            <a:r>
              <a:rPr lang="en-US" sz="2200" dirty="0">
                <a:solidFill>
                  <a:srgbClr val="3366FF"/>
                </a:solidFill>
              </a:rPr>
              <a:t>/file.txt    /user/</a:t>
            </a:r>
            <a:r>
              <a:rPr lang="en-US" sz="2200" dirty="0" err="1">
                <a:solidFill>
                  <a:srgbClr val="3366FF"/>
                </a:solidFill>
              </a:rPr>
              <a:t>godil</a:t>
            </a:r>
            <a:r>
              <a:rPr lang="en-US" sz="2200" dirty="0">
                <a:solidFill>
                  <a:srgbClr val="3366FF"/>
                </a:solidFill>
              </a:rPr>
              <a:t>/</a:t>
            </a:r>
            <a:r>
              <a:rPr lang="en-US" sz="2200" dirty="0" err="1">
                <a:solidFill>
                  <a:srgbClr val="3366FF"/>
                </a:solidFill>
              </a:rPr>
              <a:t>datadir</a:t>
            </a:r>
            <a:r>
              <a:rPr lang="en-US" sz="2200" dirty="0">
                <a:solidFill>
                  <a:srgbClr val="3366FF"/>
                </a:solidFill>
              </a:rPr>
              <a:t>/</a:t>
            </a:r>
          </a:p>
          <a:p>
            <a:r>
              <a:rPr lang="en-US" sz="2200" dirty="0" err="1">
                <a:solidFill>
                  <a:srgbClr val="3366FF"/>
                </a:solidFill>
              </a:rPr>
              <a:t>hadoop</a:t>
            </a:r>
            <a:r>
              <a:rPr lang="en-US" sz="2200" dirty="0">
                <a:solidFill>
                  <a:srgbClr val="3366FF"/>
                </a:solidFill>
              </a:rPr>
              <a:t> fs -get /user/</a:t>
            </a:r>
            <a:r>
              <a:rPr lang="en-US" sz="2200" dirty="0" err="1">
                <a:solidFill>
                  <a:srgbClr val="3366FF"/>
                </a:solidFill>
              </a:rPr>
              <a:t>godil</a:t>
            </a:r>
            <a:r>
              <a:rPr lang="en-US" sz="2200" dirty="0">
                <a:solidFill>
                  <a:srgbClr val="3366FF"/>
                </a:solidFill>
              </a:rPr>
              <a:t>/</a:t>
            </a:r>
            <a:r>
              <a:rPr lang="en-US" sz="2200" dirty="0" err="1">
                <a:solidFill>
                  <a:srgbClr val="3366FF"/>
                </a:solidFill>
              </a:rPr>
              <a:t>datadir</a:t>
            </a:r>
            <a:r>
              <a:rPr lang="en-US" sz="2200" dirty="0">
                <a:solidFill>
                  <a:srgbClr val="3366FF"/>
                </a:solidFill>
              </a:rPr>
              <a:t>/file.txt   /home/</a:t>
            </a:r>
          </a:p>
          <a:p>
            <a:pPr marL="0" indent="0">
              <a:buNone/>
            </a:pPr>
            <a:endParaRPr lang="en-US" sz="2200" dirty="0"/>
          </a:p>
          <a:p>
            <a:pPr marL="0" indent="0">
              <a:buNone/>
            </a:pPr>
            <a:r>
              <a:rPr lang="en-US" sz="2200" dirty="0"/>
              <a:t>Look at the content of a file</a:t>
            </a:r>
          </a:p>
          <a:p>
            <a:r>
              <a:rPr lang="en-US" sz="2200" dirty="0" err="1">
                <a:solidFill>
                  <a:srgbClr val="3366FF"/>
                </a:solidFill>
              </a:rPr>
              <a:t>Hadoop</a:t>
            </a:r>
            <a:r>
              <a:rPr lang="en-US" sz="2200" dirty="0">
                <a:solidFill>
                  <a:srgbClr val="3366FF"/>
                </a:solidFill>
              </a:rPr>
              <a:t> </a:t>
            </a:r>
            <a:r>
              <a:rPr lang="en-US" sz="2200" dirty="0" err="1">
                <a:solidFill>
                  <a:srgbClr val="3366FF"/>
                </a:solidFill>
              </a:rPr>
              <a:t>fs</a:t>
            </a:r>
            <a:r>
              <a:rPr lang="en-US" sz="2200" dirty="0">
                <a:solidFill>
                  <a:srgbClr val="3366FF"/>
                </a:solidFill>
              </a:rPr>
              <a:t> -cat /user/</a:t>
            </a:r>
            <a:r>
              <a:rPr lang="en-US" sz="2200" dirty="0" err="1">
                <a:solidFill>
                  <a:srgbClr val="3366FF"/>
                </a:solidFill>
              </a:rPr>
              <a:t>godil</a:t>
            </a:r>
            <a:r>
              <a:rPr lang="en-US" sz="2200" dirty="0">
                <a:solidFill>
                  <a:srgbClr val="3366FF"/>
                </a:solidFill>
              </a:rPr>
              <a:t>/</a:t>
            </a:r>
            <a:r>
              <a:rPr lang="en-US" sz="2200" dirty="0" err="1">
                <a:solidFill>
                  <a:srgbClr val="3366FF"/>
                </a:solidFill>
              </a:rPr>
              <a:t>datadir</a:t>
            </a:r>
            <a:r>
              <a:rPr lang="en-US" sz="2200" dirty="0">
                <a:solidFill>
                  <a:srgbClr val="3366FF"/>
                </a:solidFill>
              </a:rPr>
              <a:t>/</a:t>
            </a:r>
            <a:r>
              <a:rPr lang="en-US" sz="2200" dirty="0" err="1">
                <a:solidFill>
                  <a:srgbClr val="3366FF"/>
                </a:solidFill>
              </a:rPr>
              <a:t>book.txt</a:t>
            </a:r>
            <a:endParaRPr lang="en-US" sz="2200" dirty="0">
              <a:solidFill>
                <a:srgbClr val="3366FF"/>
              </a:solidFill>
            </a:endParaRPr>
          </a:p>
          <a:p>
            <a:pPr marL="0" indent="0">
              <a:buNone/>
            </a:pPr>
            <a:endParaRPr lang="en-US" sz="2200" dirty="0">
              <a:solidFill>
                <a:srgbClr val="3366FF"/>
              </a:solidFill>
            </a:endParaRPr>
          </a:p>
          <a:p>
            <a:pPr marL="0" indent="0">
              <a:buNone/>
            </a:pPr>
            <a:r>
              <a:rPr lang="en-US" sz="2200" dirty="0"/>
              <a:t>Many more commands, similar to Unix </a:t>
            </a:r>
          </a:p>
          <a:p>
            <a:endParaRPr lang="en-US" sz="2000" dirty="0">
              <a:solidFill>
                <a:srgbClr val="3366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50136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MapReduce: Simple Programming for Big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2400" dirty="0"/>
              <a:t>MapReduce is simple programming paradigm for the </a:t>
            </a:r>
            <a:r>
              <a:rPr lang="en-US" sz="2400" dirty="0" err="1"/>
              <a:t>Hadoop</a:t>
            </a:r>
            <a:r>
              <a:rPr lang="en-US" sz="2400" dirty="0"/>
              <a:t> ecosystem</a:t>
            </a:r>
          </a:p>
          <a:p>
            <a:r>
              <a:rPr lang="en-US" sz="2400" dirty="0"/>
              <a:t>Traditional parallel programming requires expertise of different computing/systems concepts</a:t>
            </a:r>
          </a:p>
          <a:p>
            <a:pPr lvl="1"/>
            <a:r>
              <a:rPr lang="en-US" sz="2400" dirty="0"/>
              <a:t>examples: multithreads, synchronization mechanisms (locks, semaphores, and monitors )</a:t>
            </a:r>
          </a:p>
          <a:p>
            <a:pPr lvl="1"/>
            <a:r>
              <a:rPr lang="en-US" sz="2400" dirty="0"/>
              <a:t>incorrect use: can crash your program, get incorrect results, or severely impact performance</a:t>
            </a:r>
          </a:p>
          <a:p>
            <a:pPr lvl="1"/>
            <a:r>
              <a:rPr lang="en-US" sz="2400" dirty="0"/>
              <a:t>Usually not fault tolerant to hardware failure</a:t>
            </a:r>
          </a:p>
          <a:p>
            <a:r>
              <a:rPr lang="en-US" sz="2400" dirty="0"/>
              <a:t>The MapReduce programming model greatly simplifies running code in parallel</a:t>
            </a:r>
          </a:p>
          <a:p>
            <a:pPr lvl="1"/>
            <a:r>
              <a:rPr lang="en-US" sz="2000" dirty="0"/>
              <a:t>you don't have to deal with any of above issues </a:t>
            </a:r>
          </a:p>
          <a:p>
            <a:pPr lvl="1"/>
            <a:r>
              <a:rPr lang="en-US" sz="2000" dirty="0"/>
              <a:t>only need to create, map and reduce functions</a:t>
            </a:r>
          </a:p>
          <a:p>
            <a:pPr lvl="1"/>
            <a:endParaRPr lang="en-US" sz="2400" dirty="0"/>
          </a:p>
          <a:p>
            <a:pPr lvl="1"/>
            <a:endParaRPr lang="en-US" sz="2400" dirty="0"/>
          </a:p>
        </p:txBody>
      </p:sp>
      <p:sp>
        <p:nvSpPr>
          <p:cNvPr id="4" name="TextBox 3"/>
          <p:cNvSpPr txBox="1"/>
          <p:nvPr/>
        </p:nvSpPr>
        <p:spPr>
          <a:xfrm>
            <a:off x="2520462" y="1086284"/>
            <a:ext cx="54121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Based on Google’s MR paper (2004)</a:t>
            </a:r>
          </a:p>
        </p:txBody>
      </p:sp>
    </p:spTree>
    <p:extLst>
      <p:ext uri="{BB962C8B-B14F-4D97-AF65-F5344CB8AC3E}">
        <p14:creationId xmlns:p14="http://schemas.microsoft.com/office/powerpoint/2010/main" val="37471323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1145011"/>
              </p:ext>
            </p:extLst>
          </p:nvPr>
        </p:nvGraphicFramePr>
        <p:xfrm>
          <a:off x="600838" y="2621698"/>
          <a:ext cx="77835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17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917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468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/>
                        <a:t>Apply function 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Map: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</a:rPr>
                        <a:t>Apply</a:t>
                      </a:r>
                      <a:r>
                        <a:rPr lang="en-US" sz="1800" b="0" baseline="0" dirty="0">
                          <a:solidFill>
                            <a:schemeClr val="tx1"/>
                          </a:solidFill>
                        </a:rPr>
                        <a:t> a function to all the elements of List </a:t>
                      </a:r>
                    </a:p>
                    <a:p>
                      <a:pPr marL="0" indent="0" algn="ctr">
                        <a:buNone/>
                      </a:pPr>
                      <a:endParaRPr lang="en-US" sz="1800" b="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800" b="0" baseline="0" dirty="0">
                          <a:solidFill>
                            <a:schemeClr val="tx1"/>
                          </a:solidFill>
                        </a:rPr>
                        <a:t>list1=[1,2,3,4,5];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sz="1800" b="0" baseline="0" dirty="0">
                          <a:solidFill>
                            <a:schemeClr val="tx1"/>
                          </a:solidFill>
                        </a:rPr>
                        <a:t>square x = x * x 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sz="1800" b="0" baseline="0" dirty="0">
                          <a:solidFill>
                            <a:schemeClr val="tx1"/>
                          </a:solidFill>
                        </a:rPr>
                        <a:t>list2=Map square(list1) 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sz="1800" b="0" baseline="0" dirty="0">
                          <a:solidFill>
                            <a:schemeClr val="tx1"/>
                          </a:solidFill>
                        </a:rPr>
                        <a:t>print list2 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sz="1800" b="0" baseline="0" dirty="0">
                          <a:solidFill>
                            <a:schemeClr val="tx1"/>
                          </a:solidFill>
                        </a:rPr>
                        <a:t>-&gt; [1,4,9,16,25]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                          Reduce: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Combine all the elements of list for a summary</a:t>
                      </a:r>
                    </a:p>
                    <a:p>
                      <a:pPr marL="0" indent="0" algn="l">
                        <a:buNone/>
                      </a:pP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800" b="0" baseline="0" dirty="0">
                          <a:solidFill>
                            <a:schemeClr val="tx1"/>
                          </a:solidFill>
                        </a:rPr>
                        <a:t>list1 = [1,2,3,4,5];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sz="1800" b="0" baseline="0" dirty="0">
                          <a:solidFill>
                            <a:schemeClr val="tx1"/>
                          </a:solidFill>
                        </a:rPr>
                        <a:t>A = reduce (+) list1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sz="1800" b="0" baseline="0" dirty="0">
                          <a:solidFill>
                            <a:schemeClr val="tx1"/>
                          </a:solidFill>
                        </a:rPr>
                        <a:t>Print A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sz="1800" b="0" baseline="0" dirty="0">
                          <a:solidFill>
                            <a:schemeClr val="tx1"/>
                          </a:solidFill>
                        </a:rPr>
                        <a:t>-&gt; 15</a:t>
                      </a:r>
                    </a:p>
                    <a:p>
                      <a:endParaRPr 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Map Reduce Paradigm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1137879"/>
          </a:xfrm>
        </p:spPr>
        <p:txBody>
          <a:bodyPr>
            <a:normAutofit/>
          </a:bodyPr>
          <a:lstStyle/>
          <a:p>
            <a:r>
              <a:rPr lang="en-US" sz="2400" dirty="0"/>
              <a:t>Map and Reduce are based on functional programming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0670" y="5609681"/>
            <a:ext cx="887601" cy="67598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46181" y="5616509"/>
            <a:ext cx="887601" cy="67598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7869" y="5636994"/>
            <a:ext cx="798841" cy="62818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87275" y="5636994"/>
            <a:ext cx="962706" cy="62818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Reduce</a:t>
            </a:r>
          </a:p>
        </p:txBody>
      </p:sp>
      <p:cxnSp>
        <p:nvCxnSpPr>
          <p:cNvPr id="10" name="Straight Arrow Connector 9"/>
          <p:cNvCxnSpPr>
            <a:stCxn id="5" idx="3"/>
            <a:endCxn id="7" idx="1"/>
          </p:cNvCxnSpPr>
          <p:nvPr/>
        </p:nvCxnSpPr>
        <p:spPr>
          <a:xfrm>
            <a:off x="2668271" y="5947674"/>
            <a:ext cx="689598" cy="3414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7" idx="3"/>
            <a:endCxn id="8" idx="1"/>
          </p:cNvCxnSpPr>
          <p:nvPr/>
        </p:nvCxnSpPr>
        <p:spPr>
          <a:xfrm>
            <a:off x="4156710" y="5951088"/>
            <a:ext cx="730565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8" idx="3"/>
            <a:endCxn id="6" idx="1"/>
          </p:cNvCxnSpPr>
          <p:nvPr/>
        </p:nvCxnSpPr>
        <p:spPr>
          <a:xfrm>
            <a:off x="5849981" y="5951088"/>
            <a:ext cx="596200" cy="3414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59273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097358" y="1659235"/>
            <a:ext cx="1003672" cy="98325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11" name="Rounded Rectangle 10"/>
          <p:cNvSpPr/>
          <p:nvPr/>
        </p:nvSpPr>
        <p:spPr>
          <a:xfrm>
            <a:off x="3172461" y="2048438"/>
            <a:ext cx="826152" cy="594047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Map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err="1"/>
              <a:t>MapReduce</a:t>
            </a:r>
            <a:r>
              <a:rPr lang="en-US" sz="3200" dirty="0"/>
              <a:t>  Word Count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7841" y="2150860"/>
            <a:ext cx="580354" cy="35506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7841" y="2860987"/>
            <a:ext cx="580354" cy="355063"/>
          </a:xfrm>
          <a:prstGeom prst="rect">
            <a:avLst/>
          </a:prstGeom>
          <a:solidFill>
            <a:srgbClr val="FF66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6" name="Rectangle 5"/>
          <p:cNvSpPr/>
          <p:nvPr/>
        </p:nvSpPr>
        <p:spPr>
          <a:xfrm>
            <a:off x="1037841" y="2505924"/>
            <a:ext cx="580354" cy="355063"/>
          </a:xfrm>
          <a:prstGeom prst="rect">
            <a:avLst/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7" name="Rectangle 6"/>
          <p:cNvSpPr/>
          <p:nvPr/>
        </p:nvSpPr>
        <p:spPr>
          <a:xfrm>
            <a:off x="1037841" y="3216049"/>
            <a:ext cx="580354" cy="355063"/>
          </a:xfrm>
          <a:prstGeom prst="rect">
            <a:avLst/>
          </a:prstGeom>
          <a:solidFill>
            <a:srgbClr val="008000"/>
          </a:solidFill>
          <a:ln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8" name="Rectangle 7"/>
          <p:cNvSpPr/>
          <p:nvPr/>
        </p:nvSpPr>
        <p:spPr>
          <a:xfrm>
            <a:off x="1037841" y="3571112"/>
            <a:ext cx="580354" cy="355063"/>
          </a:xfrm>
          <a:prstGeom prst="rect">
            <a:avLst/>
          </a:prstGeom>
          <a:solidFill>
            <a:srgbClr val="8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97358" y="2860986"/>
            <a:ext cx="1003672" cy="98325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16" name="Rounded Rectangle 15"/>
          <p:cNvSpPr/>
          <p:nvPr/>
        </p:nvSpPr>
        <p:spPr>
          <a:xfrm>
            <a:off x="3172461" y="3250189"/>
            <a:ext cx="826152" cy="594047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effectLst/>
              </a:rPr>
              <a:t>Map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/>
          </a:p>
        </p:txBody>
      </p:sp>
      <p:sp>
        <p:nvSpPr>
          <p:cNvPr id="17" name="Rectangle 16"/>
          <p:cNvSpPr/>
          <p:nvPr/>
        </p:nvSpPr>
        <p:spPr>
          <a:xfrm>
            <a:off x="3265862" y="3497092"/>
            <a:ext cx="580354" cy="355063"/>
          </a:xfrm>
          <a:prstGeom prst="rect">
            <a:avLst/>
          </a:prstGeom>
          <a:solidFill>
            <a:srgbClr val="FF66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90528" y="4140026"/>
            <a:ext cx="1003672" cy="98325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19" name="Rounded Rectangle 18"/>
          <p:cNvSpPr/>
          <p:nvPr/>
        </p:nvSpPr>
        <p:spPr>
          <a:xfrm>
            <a:off x="3165631" y="4529229"/>
            <a:ext cx="826152" cy="594047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Map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3090528" y="5341776"/>
            <a:ext cx="1003672" cy="98325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22" name="Rounded Rectangle 21"/>
          <p:cNvSpPr/>
          <p:nvPr/>
        </p:nvSpPr>
        <p:spPr>
          <a:xfrm>
            <a:off x="3165631" y="5730979"/>
            <a:ext cx="826152" cy="594047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Map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24" name="Rectangle 23"/>
          <p:cNvSpPr/>
          <p:nvPr/>
        </p:nvSpPr>
        <p:spPr>
          <a:xfrm>
            <a:off x="3265862" y="2287422"/>
            <a:ext cx="580354" cy="355063"/>
          </a:xfrm>
          <a:prstGeom prst="rect">
            <a:avLst/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65862" y="4768213"/>
            <a:ext cx="580354" cy="355063"/>
          </a:xfrm>
          <a:prstGeom prst="rect">
            <a:avLst/>
          </a:prstGeom>
          <a:solidFill>
            <a:srgbClr val="008000"/>
          </a:solidFill>
          <a:ln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65862" y="5969963"/>
            <a:ext cx="580354" cy="355063"/>
          </a:xfrm>
          <a:prstGeom prst="rect">
            <a:avLst/>
          </a:prstGeom>
          <a:solidFill>
            <a:srgbClr val="8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D</a:t>
            </a:r>
          </a:p>
        </p:txBody>
      </p:sp>
      <p:cxnSp>
        <p:nvCxnSpPr>
          <p:cNvPr id="28" name="Straight Arrow Connector 27"/>
          <p:cNvCxnSpPr>
            <a:stCxn id="5" idx="3"/>
            <a:endCxn id="17" idx="1"/>
          </p:cNvCxnSpPr>
          <p:nvPr/>
        </p:nvCxnSpPr>
        <p:spPr>
          <a:xfrm>
            <a:off x="1618195" y="3038519"/>
            <a:ext cx="1647667" cy="63610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>
            <a:stCxn id="6" idx="3"/>
            <a:endCxn id="24" idx="1"/>
          </p:cNvCxnSpPr>
          <p:nvPr/>
        </p:nvCxnSpPr>
        <p:spPr>
          <a:xfrm flipV="1">
            <a:off x="1618195" y="2464954"/>
            <a:ext cx="1647667" cy="21850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stCxn id="7" idx="3"/>
            <a:endCxn id="25" idx="1"/>
          </p:cNvCxnSpPr>
          <p:nvPr/>
        </p:nvCxnSpPr>
        <p:spPr>
          <a:xfrm>
            <a:off x="1618195" y="3393581"/>
            <a:ext cx="1647667" cy="1552164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8" idx="3"/>
            <a:endCxn id="26" idx="1"/>
          </p:cNvCxnSpPr>
          <p:nvPr/>
        </p:nvCxnSpPr>
        <p:spPr>
          <a:xfrm>
            <a:off x="1618195" y="3748644"/>
            <a:ext cx="1647667" cy="239885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5885251" y="1654588"/>
            <a:ext cx="1003672" cy="98325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39" name="Rounded Rectangle 38"/>
          <p:cNvSpPr/>
          <p:nvPr/>
        </p:nvSpPr>
        <p:spPr>
          <a:xfrm>
            <a:off x="5960354" y="2043791"/>
            <a:ext cx="826152" cy="594047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Reduce</a:t>
            </a: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endParaRPr lang="en-US" dirty="0"/>
          </a:p>
        </p:txBody>
      </p:sp>
      <p:sp>
        <p:nvSpPr>
          <p:cNvPr id="40" name="Rectangle 39"/>
          <p:cNvSpPr/>
          <p:nvPr/>
        </p:nvSpPr>
        <p:spPr>
          <a:xfrm>
            <a:off x="5885251" y="2856339"/>
            <a:ext cx="1003672" cy="98325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41" name="Rounded Rectangle 40"/>
          <p:cNvSpPr/>
          <p:nvPr/>
        </p:nvSpPr>
        <p:spPr>
          <a:xfrm>
            <a:off x="5960354" y="3245542"/>
            <a:ext cx="826152" cy="594047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Reduce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/>
          </a:p>
        </p:txBody>
      </p:sp>
      <p:sp>
        <p:nvSpPr>
          <p:cNvPr id="42" name="Rectangle 41"/>
          <p:cNvSpPr/>
          <p:nvPr/>
        </p:nvSpPr>
        <p:spPr>
          <a:xfrm>
            <a:off x="6108377" y="3484526"/>
            <a:ext cx="580354" cy="355063"/>
          </a:xfrm>
          <a:prstGeom prst="rect">
            <a:avLst/>
          </a:prstGeom>
          <a:solidFill>
            <a:srgbClr val="FF66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78421" y="4135379"/>
            <a:ext cx="1003672" cy="98325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44" name="Rounded Rectangle 43"/>
          <p:cNvSpPr/>
          <p:nvPr/>
        </p:nvSpPr>
        <p:spPr>
          <a:xfrm>
            <a:off x="5953524" y="4524582"/>
            <a:ext cx="826152" cy="594047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Reduce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45" name="Rectangle 44"/>
          <p:cNvSpPr/>
          <p:nvPr/>
        </p:nvSpPr>
        <p:spPr>
          <a:xfrm>
            <a:off x="5878421" y="5337129"/>
            <a:ext cx="1003672" cy="98325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46" name="Rounded Rectangle 45"/>
          <p:cNvSpPr/>
          <p:nvPr/>
        </p:nvSpPr>
        <p:spPr>
          <a:xfrm>
            <a:off x="5953524" y="5726332"/>
            <a:ext cx="826152" cy="594047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Reduce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47" name="Rectangle 46"/>
          <p:cNvSpPr/>
          <p:nvPr/>
        </p:nvSpPr>
        <p:spPr>
          <a:xfrm>
            <a:off x="6053755" y="2282775"/>
            <a:ext cx="580354" cy="355063"/>
          </a:xfrm>
          <a:prstGeom prst="rect">
            <a:avLst/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377" y="4768213"/>
            <a:ext cx="580354" cy="355063"/>
          </a:xfrm>
          <a:prstGeom prst="rect">
            <a:avLst/>
          </a:prstGeom>
          <a:solidFill>
            <a:srgbClr val="008000"/>
          </a:solidFill>
          <a:ln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53755" y="5965316"/>
            <a:ext cx="580354" cy="355063"/>
          </a:xfrm>
          <a:prstGeom prst="rect">
            <a:avLst/>
          </a:prstGeom>
          <a:solidFill>
            <a:srgbClr val="8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85829" y="2860986"/>
            <a:ext cx="1051467" cy="166824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Shuffle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&amp;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Sort</a:t>
            </a:r>
          </a:p>
        </p:txBody>
      </p:sp>
      <p:cxnSp>
        <p:nvCxnSpPr>
          <p:cNvPr id="52" name="Straight Arrow Connector 51"/>
          <p:cNvCxnSpPr>
            <a:stCxn id="50" idx="3"/>
          </p:cNvCxnSpPr>
          <p:nvPr/>
        </p:nvCxnSpPr>
        <p:spPr>
          <a:xfrm flipV="1">
            <a:off x="5537296" y="2505923"/>
            <a:ext cx="516459" cy="118918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50" idx="3"/>
            <a:endCxn id="43" idx="1"/>
          </p:cNvCxnSpPr>
          <p:nvPr/>
        </p:nvCxnSpPr>
        <p:spPr>
          <a:xfrm>
            <a:off x="5537296" y="3695108"/>
            <a:ext cx="341125" cy="93189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stCxn id="50" idx="3"/>
            <a:endCxn id="40" idx="1"/>
          </p:cNvCxnSpPr>
          <p:nvPr/>
        </p:nvCxnSpPr>
        <p:spPr>
          <a:xfrm flipV="1">
            <a:off x="5537296" y="3347964"/>
            <a:ext cx="347955" cy="347144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stCxn id="50" idx="3"/>
            <a:endCxn id="45" idx="1"/>
          </p:cNvCxnSpPr>
          <p:nvPr/>
        </p:nvCxnSpPr>
        <p:spPr>
          <a:xfrm>
            <a:off x="5537296" y="3695108"/>
            <a:ext cx="341125" cy="213364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>
            <a:stCxn id="9" idx="3"/>
            <a:endCxn id="50" idx="1"/>
          </p:cNvCxnSpPr>
          <p:nvPr/>
        </p:nvCxnSpPr>
        <p:spPr>
          <a:xfrm>
            <a:off x="4101030" y="2150860"/>
            <a:ext cx="384799" cy="154424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/>
          <p:cNvCxnSpPr>
            <a:endCxn id="50" idx="1"/>
          </p:cNvCxnSpPr>
          <p:nvPr/>
        </p:nvCxnSpPr>
        <p:spPr>
          <a:xfrm flipV="1">
            <a:off x="4094200" y="3695108"/>
            <a:ext cx="391629" cy="213364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/>
          <p:cNvCxnSpPr>
            <a:stCxn id="15" idx="3"/>
            <a:endCxn id="50" idx="1"/>
          </p:cNvCxnSpPr>
          <p:nvPr/>
        </p:nvCxnSpPr>
        <p:spPr>
          <a:xfrm>
            <a:off x="4101030" y="3352611"/>
            <a:ext cx="384799" cy="34249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/>
          <p:nvPr/>
        </p:nvCxnSpPr>
        <p:spPr>
          <a:xfrm flipV="1">
            <a:off x="4091493" y="3695108"/>
            <a:ext cx="364574" cy="1024223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2004923" y="1665756"/>
            <a:ext cx="10856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am Sam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11753" y="2846717"/>
            <a:ext cx="1160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Sam I am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19520" y="1541624"/>
            <a:ext cx="13177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(I,1)</a:t>
            </a:r>
          </a:p>
          <a:p>
            <a:r>
              <a:rPr lang="en-US" dirty="0"/>
              <a:t>(am,1)</a:t>
            </a:r>
          </a:p>
          <a:p>
            <a:r>
              <a:rPr lang="en-US" dirty="0"/>
              <a:t>(Sam,1)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371920" y="4945745"/>
            <a:ext cx="13177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(I,1)</a:t>
            </a:r>
          </a:p>
          <a:p>
            <a:r>
              <a:rPr lang="en-US" dirty="0"/>
              <a:t>(am,1)</a:t>
            </a:r>
          </a:p>
          <a:p>
            <a:r>
              <a:rPr lang="en-US" dirty="0"/>
              <a:t>(Sam,1)</a:t>
            </a:r>
          </a:p>
        </p:txBody>
      </p:sp>
      <p:cxnSp>
        <p:nvCxnSpPr>
          <p:cNvPr id="83" name="Straight Arrow Connector 82"/>
          <p:cNvCxnSpPr/>
          <p:nvPr/>
        </p:nvCxnSpPr>
        <p:spPr>
          <a:xfrm>
            <a:off x="4091493" y="3695108"/>
            <a:ext cx="551344" cy="1364534"/>
          </a:xfrm>
          <a:prstGeom prst="straightConnector1">
            <a:avLst/>
          </a:prstGeom>
          <a:ln>
            <a:solidFill>
              <a:srgbClr val="FFFF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7305641" y="3571112"/>
            <a:ext cx="116753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(I,2)</a:t>
            </a:r>
          </a:p>
          <a:p>
            <a:r>
              <a:rPr lang="en-US" dirty="0"/>
              <a:t>(am,2)</a:t>
            </a:r>
          </a:p>
          <a:p>
            <a:r>
              <a:rPr lang="en-US" dirty="0"/>
              <a:t>(Sam,2)</a:t>
            </a:r>
          </a:p>
          <a:p>
            <a:r>
              <a:rPr lang="en-US" dirty="0"/>
              <a:t>(…,..)</a:t>
            </a:r>
          </a:p>
          <a:p>
            <a:r>
              <a:rPr lang="en-US" dirty="0"/>
              <a:t>(..,..)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936650" y="4140026"/>
            <a:ext cx="1160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………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04923" y="5337129"/>
            <a:ext cx="1160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………</a:t>
            </a:r>
          </a:p>
        </p:txBody>
      </p:sp>
    </p:spTree>
    <p:extLst>
      <p:ext uri="{BB962C8B-B14F-4D97-AF65-F5344CB8AC3E}">
        <p14:creationId xmlns:p14="http://schemas.microsoft.com/office/powerpoint/2010/main" val="1908063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Shortcoming of </a:t>
            </a:r>
            <a:r>
              <a:rPr lang="en-US" sz="3200" dirty="0" err="1"/>
              <a:t>MapReduce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708525"/>
          </a:xfrm>
        </p:spPr>
        <p:txBody>
          <a:bodyPr>
            <a:noAutofit/>
          </a:bodyPr>
          <a:lstStyle/>
          <a:p>
            <a:r>
              <a:rPr lang="en-US" sz="2400" dirty="0"/>
              <a:t>Forces your data processing into Map and Reduce</a:t>
            </a:r>
          </a:p>
          <a:p>
            <a:pPr lvl="1"/>
            <a:r>
              <a:rPr lang="en-US" sz="2400" dirty="0"/>
              <a:t>Other workflows missing include join, filter, </a:t>
            </a:r>
            <a:r>
              <a:rPr lang="en-US" sz="2400" dirty="0" err="1"/>
              <a:t>flatMap</a:t>
            </a:r>
            <a:r>
              <a:rPr lang="en-US" sz="2400" dirty="0"/>
              <a:t>, </a:t>
            </a:r>
            <a:r>
              <a:rPr lang="en-US" sz="2400" dirty="0" err="1"/>
              <a:t>groupByKey</a:t>
            </a:r>
            <a:r>
              <a:rPr lang="en-US" sz="2400" dirty="0"/>
              <a:t>, union, intersection, …</a:t>
            </a:r>
          </a:p>
          <a:p>
            <a:r>
              <a:rPr lang="en-US" sz="2400" dirty="0"/>
              <a:t>Based on “Acyclic Data Flow” from Disk to Disk (HDFS)</a:t>
            </a:r>
          </a:p>
          <a:p>
            <a:r>
              <a:rPr lang="en-US" sz="2400" dirty="0"/>
              <a:t>Read and write to Disk before and after Map and Reduce (stateless machine)</a:t>
            </a:r>
          </a:p>
          <a:p>
            <a:pPr lvl="1"/>
            <a:r>
              <a:rPr lang="en-US" sz="2400" dirty="0"/>
              <a:t>Not efficient for iterative tasks, i.e. Machine Learning</a:t>
            </a:r>
          </a:p>
          <a:p>
            <a:r>
              <a:rPr lang="en-US" sz="2400" dirty="0"/>
              <a:t>Only Java natively supported </a:t>
            </a:r>
          </a:p>
          <a:p>
            <a:pPr lvl="1"/>
            <a:r>
              <a:rPr lang="en-US" sz="2400" dirty="0"/>
              <a:t>Support for others languages needed</a:t>
            </a:r>
          </a:p>
          <a:p>
            <a:r>
              <a:rPr lang="en-US" sz="2400" dirty="0"/>
              <a:t>Only for Batch processing</a:t>
            </a:r>
          </a:p>
          <a:p>
            <a:pPr lvl="1"/>
            <a:r>
              <a:rPr lang="en-US" sz="2400" dirty="0"/>
              <a:t>Interactivity, streaming data</a:t>
            </a:r>
          </a:p>
        </p:txBody>
      </p:sp>
    </p:spTree>
    <p:extLst>
      <p:ext uri="{BB962C8B-B14F-4D97-AF65-F5344CB8AC3E}">
        <p14:creationId xmlns:p14="http://schemas.microsoft.com/office/powerpoint/2010/main" val="22538188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 One Solution is Apache Spark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708525"/>
          </a:xfrm>
        </p:spPr>
        <p:txBody>
          <a:bodyPr>
            <a:noAutofit/>
          </a:bodyPr>
          <a:lstStyle/>
          <a:p>
            <a:r>
              <a:rPr lang="en-US" sz="2000" dirty="0"/>
              <a:t>A new general framework, which solves many of the short comings of MapReduce</a:t>
            </a:r>
          </a:p>
          <a:p>
            <a:r>
              <a:rPr lang="en-US" sz="2000" dirty="0"/>
              <a:t>It capable of leveraging the </a:t>
            </a:r>
            <a:r>
              <a:rPr lang="en-US" sz="2000" dirty="0" err="1"/>
              <a:t>Hadoop</a:t>
            </a:r>
            <a:r>
              <a:rPr lang="en-US" sz="2000" dirty="0"/>
              <a:t> ecosystem, e.g. HDFS, YARN, </a:t>
            </a:r>
            <a:r>
              <a:rPr lang="en-US" sz="2000" dirty="0" err="1"/>
              <a:t>HBase</a:t>
            </a:r>
            <a:r>
              <a:rPr lang="en-US" sz="2000" dirty="0"/>
              <a:t>, S3, …</a:t>
            </a:r>
          </a:p>
          <a:p>
            <a:r>
              <a:rPr lang="en-US" sz="2000" dirty="0"/>
              <a:t>Has many other workflows, i.e. join, filter, </a:t>
            </a:r>
            <a:r>
              <a:rPr lang="en-US" sz="2000" dirty="0" err="1"/>
              <a:t>flatMapdistinct</a:t>
            </a:r>
            <a:r>
              <a:rPr lang="en-US" sz="2000" dirty="0"/>
              <a:t>, </a:t>
            </a:r>
            <a:r>
              <a:rPr lang="en-US" sz="2000" dirty="0" err="1"/>
              <a:t>groupByKey</a:t>
            </a:r>
            <a:r>
              <a:rPr lang="en-US" sz="2000" dirty="0"/>
              <a:t>, </a:t>
            </a:r>
            <a:r>
              <a:rPr lang="en-US" sz="2000" dirty="0" err="1"/>
              <a:t>reduceByKey</a:t>
            </a:r>
            <a:r>
              <a:rPr lang="en-US" sz="2000" dirty="0"/>
              <a:t>, </a:t>
            </a:r>
            <a:r>
              <a:rPr lang="en-US" sz="2000" dirty="0" err="1"/>
              <a:t>sortByKey</a:t>
            </a:r>
            <a:r>
              <a:rPr lang="en-US" sz="2000" dirty="0"/>
              <a:t>, collect, count, first…</a:t>
            </a:r>
          </a:p>
          <a:p>
            <a:pPr lvl="1"/>
            <a:r>
              <a:rPr lang="en-US" sz="2000" dirty="0"/>
              <a:t>(around 30 efficient distributed operations)</a:t>
            </a:r>
          </a:p>
          <a:p>
            <a:r>
              <a:rPr lang="en-US" sz="2000" dirty="0"/>
              <a:t>In-memory caching of data (for iterative, graph, and machine learning algorithms, etc.)</a:t>
            </a:r>
          </a:p>
          <a:p>
            <a:r>
              <a:rPr lang="en-US" sz="2000" dirty="0"/>
              <a:t>Native Scala, Java, Python, and R support</a:t>
            </a:r>
          </a:p>
          <a:p>
            <a:r>
              <a:rPr lang="en-US" sz="2000" dirty="0"/>
              <a:t>Supports interactive shells for exploratory data analysis</a:t>
            </a:r>
          </a:p>
          <a:p>
            <a:r>
              <a:rPr lang="en-US" sz="2000" dirty="0"/>
              <a:t>Spark API is extremely simple to use </a:t>
            </a:r>
          </a:p>
          <a:p>
            <a:r>
              <a:rPr lang="en-US" sz="2000" dirty="0"/>
              <a:t>Developed at </a:t>
            </a:r>
            <a:r>
              <a:rPr lang="en-US" sz="2000" dirty="0" err="1"/>
              <a:t>AMPLab</a:t>
            </a:r>
            <a:r>
              <a:rPr lang="en-US" sz="2000" dirty="0"/>
              <a:t> UC Berkeley, now by </a:t>
            </a:r>
            <a:r>
              <a:rPr lang="en-US" sz="2000" dirty="0" err="1"/>
              <a:t>Databricks.com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8275219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Spark Uses Memory instead of Disk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1109" r="2802" b="4116"/>
          <a:stretch/>
        </p:blipFill>
        <p:spPr>
          <a:xfrm>
            <a:off x="3131208" y="5151693"/>
            <a:ext cx="1212250" cy="408587"/>
          </a:xfrm>
        </p:spPr>
      </p:pic>
      <p:sp>
        <p:nvSpPr>
          <p:cNvPr id="4" name="Can 3"/>
          <p:cNvSpPr/>
          <p:nvPr/>
        </p:nvSpPr>
        <p:spPr>
          <a:xfrm>
            <a:off x="373264" y="4965388"/>
            <a:ext cx="398080" cy="691842"/>
          </a:xfrm>
          <a:prstGeom prst="can">
            <a:avLst/>
          </a:prstGeom>
          <a:solidFill>
            <a:srgbClr val="FF66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1309189" y="5184429"/>
            <a:ext cx="1137372" cy="36013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Iteration1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2823" y="5186646"/>
            <a:ext cx="1137372" cy="36013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Iteration2</a:t>
            </a:r>
          </a:p>
        </p:txBody>
      </p:sp>
      <p:pic>
        <p:nvPicPr>
          <p:cNvPr id="8" name="Content Placeholder 5"/>
          <p:cNvPicPr>
            <a:picLocks noChangeAspect="1"/>
          </p:cNvPicPr>
          <p:nvPr/>
        </p:nvPicPr>
        <p:blipFill rotWithShape="1">
          <a:blip r:embed="rId2"/>
          <a:srcRect l="1109" r="2802" b="4116"/>
          <a:stretch/>
        </p:blipFill>
        <p:spPr>
          <a:xfrm>
            <a:off x="6864073" y="5186646"/>
            <a:ext cx="1212250" cy="408587"/>
          </a:xfrm>
          <a:prstGeom prst="rect">
            <a:avLst/>
          </a:prstGeom>
        </p:spPr>
      </p:pic>
      <p:cxnSp>
        <p:nvCxnSpPr>
          <p:cNvPr id="10" name="Straight Arrow Connector 9"/>
          <p:cNvCxnSpPr>
            <a:endCxn id="5" idx="1"/>
          </p:cNvCxnSpPr>
          <p:nvPr/>
        </p:nvCxnSpPr>
        <p:spPr>
          <a:xfrm flipV="1">
            <a:off x="771344" y="5364498"/>
            <a:ext cx="537845" cy="2644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stCxn id="5" idx="3"/>
          </p:cNvCxnSpPr>
          <p:nvPr/>
        </p:nvCxnSpPr>
        <p:spPr>
          <a:xfrm>
            <a:off x="2446561" y="5364498"/>
            <a:ext cx="800977" cy="1944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6" idx="3"/>
          </p:cNvCxnSpPr>
          <p:nvPr/>
        </p:nvCxnSpPr>
        <p:spPr>
          <a:xfrm>
            <a:off x="4343458" y="5355987"/>
            <a:ext cx="989365" cy="1045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7" idx="3"/>
          </p:cNvCxnSpPr>
          <p:nvPr/>
        </p:nvCxnSpPr>
        <p:spPr>
          <a:xfrm>
            <a:off x="6470195" y="5366715"/>
            <a:ext cx="434846" cy="2422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9901" y="4562218"/>
            <a:ext cx="12450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HDFS read</a:t>
            </a:r>
          </a:p>
        </p:txBody>
      </p:sp>
      <p:sp>
        <p:nvSpPr>
          <p:cNvPr id="40" name="Can 39"/>
          <p:cNvSpPr/>
          <p:nvPr/>
        </p:nvSpPr>
        <p:spPr>
          <a:xfrm>
            <a:off x="457200" y="2698627"/>
            <a:ext cx="398080" cy="691842"/>
          </a:xfrm>
          <a:prstGeom prst="can">
            <a:avLst/>
          </a:prstGeom>
          <a:solidFill>
            <a:srgbClr val="FF66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>
          <a:xfrm>
            <a:off x="1393125" y="2917668"/>
            <a:ext cx="1137372" cy="36013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Iteration1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66732" y="2929053"/>
            <a:ext cx="1137372" cy="36013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Iteration2</a:t>
            </a:r>
          </a:p>
        </p:txBody>
      </p:sp>
      <p:cxnSp>
        <p:nvCxnSpPr>
          <p:cNvPr id="44" name="Straight Arrow Connector 43"/>
          <p:cNvCxnSpPr>
            <a:endCxn id="41" idx="1"/>
          </p:cNvCxnSpPr>
          <p:nvPr/>
        </p:nvCxnSpPr>
        <p:spPr>
          <a:xfrm flipV="1">
            <a:off x="855280" y="3097737"/>
            <a:ext cx="537845" cy="2644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>
            <a:stCxn id="41" idx="3"/>
          </p:cNvCxnSpPr>
          <p:nvPr/>
        </p:nvCxnSpPr>
        <p:spPr>
          <a:xfrm>
            <a:off x="2530497" y="3097737"/>
            <a:ext cx="800977" cy="1944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>
            <a:stCxn id="49" idx="4"/>
            <a:endCxn id="42" idx="1"/>
          </p:cNvCxnSpPr>
          <p:nvPr/>
        </p:nvCxnSpPr>
        <p:spPr>
          <a:xfrm>
            <a:off x="3729554" y="3089226"/>
            <a:ext cx="737178" cy="1989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stCxn id="42" idx="3"/>
            <a:endCxn id="50" idx="2"/>
          </p:cNvCxnSpPr>
          <p:nvPr/>
        </p:nvCxnSpPr>
        <p:spPr>
          <a:xfrm>
            <a:off x="5604104" y="3109122"/>
            <a:ext cx="882484" cy="3204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55280" y="2052296"/>
            <a:ext cx="1245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HDFS </a:t>
            </a:r>
          </a:p>
          <a:p>
            <a:r>
              <a:rPr lang="en-US" dirty="0"/>
              <a:t>read</a:t>
            </a:r>
          </a:p>
        </p:txBody>
      </p:sp>
      <p:sp>
        <p:nvSpPr>
          <p:cNvPr id="49" name="Can 48"/>
          <p:cNvSpPr/>
          <p:nvPr/>
        </p:nvSpPr>
        <p:spPr>
          <a:xfrm>
            <a:off x="3331474" y="2743305"/>
            <a:ext cx="398080" cy="691842"/>
          </a:xfrm>
          <a:prstGeom prst="can">
            <a:avLst/>
          </a:prstGeom>
          <a:solidFill>
            <a:srgbClr val="FF66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Can 49"/>
          <p:cNvSpPr/>
          <p:nvPr/>
        </p:nvSpPr>
        <p:spPr>
          <a:xfrm>
            <a:off x="6486588" y="2795246"/>
            <a:ext cx="398080" cy="691842"/>
          </a:xfrm>
          <a:prstGeom prst="can">
            <a:avLst/>
          </a:prstGeom>
          <a:solidFill>
            <a:srgbClr val="FF66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Straight Arrow Connector 54"/>
          <p:cNvCxnSpPr/>
          <p:nvPr/>
        </p:nvCxnSpPr>
        <p:spPr>
          <a:xfrm>
            <a:off x="6884668" y="3152627"/>
            <a:ext cx="866091" cy="2422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540191" y="2052296"/>
            <a:ext cx="1245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HDFS </a:t>
            </a:r>
          </a:p>
          <a:p>
            <a:r>
              <a:rPr lang="en-US" dirty="0"/>
              <a:t>Write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720939" y="2036506"/>
            <a:ext cx="1245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HDFS </a:t>
            </a:r>
          </a:p>
          <a:p>
            <a:r>
              <a:rPr lang="en-US" dirty="0"/>
              <a:t>read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04104" y="2208627"/>
            <a:ext cx="1245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HDFS </a:t>
            </a:r>
          </a:p>
          <a:p>
            <a:r>
              <a:rPr lang="en-US" dirty="0"/>
              <a:t>Write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00318" y="3883107"/>
            <a:ext cx="4511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Spark: In-Memory Data Sharing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31708" y="1538785"/>
            <a:ext cx="4511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Hadoop</a:t>
            </a:r>
            <a:r>
              <a:rPr lang="en-US" dirty="0"/>
              <a:t>: Use Disk for Data Sharing</a:t>
            </a:r>
          </a:p>
        </p:txBody>
      </p:sp>
      <p:cxnSp>
        <p:nvCxnSpPr>
          <p:cNvPr id="62" name="Straight Arrow Connector 61"/>
          <p:cNvCxnSpPr/>
          <p:nvPr/>
        </p:nvCxnSpPr>
        <p:spPr>
          <a:xfrm>
            <a:off x="7974756" y="5330794"/>
            <a:ext cx="927574" cy="2422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51770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9551</TotalTime>
  <Words>1236</Words>
  <Application>Microsoft Office PowerPoint</Application>
  <PresentationFormat>On-screen Show (4:3)</PresentationFormat>
  <Paragraphs>289</Paragraphs>
  <Slides>33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7" baseType="lpstr">
      <vt:lpstr>Arial</vt:lpstr>
      <vt:lpstr>Calibri</vt:lpstr>
      <vt:lpstr>DM Sans</vt:lpstr>
      <vt:lpstr>Office Theme</vt:lpstr>
      <vt:lpstr>Apache Hadoop and Spark: Introduction and Use Cases for Data Analysis</vt:lpstr>
      <vt:lpstr>Outline</vt:lpstr>
      <vt:lpstr>Data</vt:lpstr>
      <vt:lpstr>Cloud and Distributed Computing</vt:lpstr>
      <vt:lpstr>Data Processing and Machine learning Methods</vt:lpstr>
      <vt:lpstr>Hadoop Ecosystem</vt:lpstr>
      <vt:lpstr>how does Hadoop vary from HDFS? </vt:lpstr>
      <vt:lpstr>PowerPoint Presentation</vt:lpstr>
      <vt:lpstr>Hadoop Ecosystem</vt:lpstr>
      <vt:lpstr>Apache Hadoop Basic Modules</vt:lpstr>
      <vt:lpstr>Hadoop HDFS</vt:lpstr>
      <vt:lpstr>Design of Hadoop Distributed File System (HDFS)</vt:lpstr>
      <vt:lpstr>HDFS Architecture</vt:lpstr>
      <vt:lpstr>HDFS</vt:lpstr>
      <vt:lpstr>HDFS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Few HDFS Shell commands</vt:lpstr>
      <vt:lpstr>MapReduce: Simple Programming for Big Data</vt:lpstr>
      <vt:lpstr>Map Reduce Paradigm</vt:lpstr>
      <vt:lpstr>MapReduce  Word Count Example</vt:lpstr>
      <vt:lpstr>Shortcoming of MapReduce</vt:lpstr>
      <vt:lpstr> One Solution is Apache Spark</vt:lpstr>
      <vt:lpstr>Spark Uses Memory instead of Disk</vt:lpstr>
    </vt:vector>
  </TitlesOfParts>
  <Company>NIST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Apache Hadoop and Spark: Introduction and Use Cases for Data Analysis</dc:title>
  <dc:creator>Afzal A Godil</dc:creator>
  <cp:lastModifiedBy>Safia Baloch</cp:lastModifiedBy>
  <cp:revision>170</cp:revision>
  <dcterms:created xsi:type="dcterms:W3CDTF">2016-07-14T15:14:36Z</dcterms:created>
  <dcterms:modified xsi:type="dcterms:W3CDTF">2025-05-06T11:58:23Z</dcterms:modified>
</cp:coreProperties>
</file>