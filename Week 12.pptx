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8" r:id="rId3"/>
    <p:sldId id="264" r:id="rId4"/>
    <p:sldId id="257" r:id="rId5"/>
    <p:sldId id="260" r:id="rId6"/>
    <p:sldId id="261" r:id="rId7"/>
    <p:sldId id="258" r:id="rId8"/>
    <p:sldId id="259" r:id="rId9"/>
    <p:sldId id="265" r:id="rId10"/>
    <p:sldId id="267" r:id="rId11"/>
    <p:sldId id="269" r:id="rId12"/>
    <p:sldId id="266" r:id="rId13"/>
    <p:sldId id="26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D77BC-DD0E-491F-9289-9B1BC1DD1B63}" type="datetimeFigureOut">
              <a:rPr lang="en-GB" smtClean="0"/>
              <a:t>22/04/2026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4BB8C8-5770-474A-BB9F-41644120EE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684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High-traffic databases (MySQL, PostgreSQL)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4BB8C8-5770-474A-BB9F-41644120EE5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13714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B3418-3E36-0095-5FDF-8B06618502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82D869-021D-3988-69AE-D553749EA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F8D1F2-DC81-1B5E-B0FA-707107CA6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8FD8B4-1E32-B18E-C1F1-ECDC8F72F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DF367-E783-E285-4240-78980E9D2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115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9DF13-9663-F06F-0FFB-66AFFDA4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801F11-86A2-F3DA-80A7-07E621E2E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2571-BE3D-D643-7E08-B8AE4B3B0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BA3B5-3C65-C283-EBBB-A040C719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76D5E-D715-AE7E-1A34-AAC563CE0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105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080E0-7AC2-E11A-3EE6-10899A956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47E428-6DD4-6DDB-3194-CFE1138D48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823AA-0087-0D6C-CEFA-7044121CF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F30B5-B132-38C7-7300-D7622BD04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E0A15-EC0B-106E-F4EC-CD0B2979D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730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10BF1-3721-E24E-5C1E-9E14615F6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23E57-427B-F9E6-42E6-1AA7840455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DA83E1-9E2A-5784-2F91-588249E30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0EC4E3-C056-5FFD-66A9-8D79AA324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C7D98-02A4-490A-DCA2-DC60406EE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44A21A-0637-8260-6809-F9DEFBBE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197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502C6-ADF2-4DBE-910B-B0C0472EA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F5D80-751D-3643-64DF-D4D081B56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504809-C92F-5388-DC01-BA32251F48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9D5573-17D8-6B26-5AA8-D50A3219DF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4879BC-1DC6-0D73-F1BF-B04FA82F43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37DC8E-4B5E-D141-B31F-3BEAE623E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3B86B8-E84F-2198-BA78-F16D75837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CC1E6-5047-4846-62AA-80C42E7AE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253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695D8-8A79-1B39-2693-A03E7AA01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17AF9-34FD-1FC6-73E8-46772EEF2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961F5B-5D63-EE4E-80A4-7F9BBDA28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149AB8-A9C8-FDBE-1E1B-AF0623C1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522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457F52-8816-ECC3-FFAF-335B018B0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DBBADC-1245-93FB-613C-95639018C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438976-AFBB-EE87-19B8-1C95A5615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746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DB0A4-6882-B1B2-2A1D-D8D41FCA9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A7B45-57AD-41EF-929A-613EB55D5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B43D59-A191-6727-D7E6-31D93B8F77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A5D44F-3A6A-7487-5C9B-BB592CE0E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F4E47E-7010-F23B-CFD7-A63E8638D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DBCC6B-1483-4D9C-5CE5-76CBBD72A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617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3DF9-AE62-981D-5997-7005C6744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33B4EC-E8DB-FE92-CA84-102D08FB8A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D3907-32AD-EA92-FB31-877CBFEEAE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F76854-DA0D-67B7-C517-D1B1B6167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77F1D4-FD99-E933-8B93-449BA49DA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97B244-307E-1BA3-A365-6D122E1C3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185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B268F-CAEE-9D08-E086-EF70129D9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433A6E-21B6-81DF-98F1-8DDCBC628E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08C9F-21AD-CF00-9290-357DC9CA4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30416A-E05F-1452-495D-0D0344169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047888-DCF5-E365-2BFD-5795DA245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118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3A9CB1-49F2-D30C-4230-5856E916C7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CC963E-A66F-6F3C-280F-B5FD9D2327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773E6-9718-3B4F-CC8F-6E41A39BE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714BD6-98FE-4EFE-46D2-4ED469824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E5A66-D7AF-CC80-256B-BA7B66117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084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F079ED-05BE-3FBD-37AE-1DD2CF276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3C7B08-5655-2219-6AA6-F29BDA1AE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C2D17-7014-550D-2A7F-F325DE8150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B5F5F7-F6B3-4945-BC31-1516E25FF94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CD3BE-DD96-7616-185E-0DABFA16A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9E82B-3735-E1B0-DD3D-8927F1D9DC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B2A231-1B37-4BA7-8127-508260EED1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18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B6ED8-E869-551A-346D-E47141B264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Raid Storage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0928E7-6763-E291-1B4F-BC963F88D1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Week 12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0225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DD03F-1387-A662-C08B-BD8C7B0E3C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RAID Technology:</a:t>
            </a:r>
            <a:br>
              <a:rPr lang="en-US" dirty="0"/>
            </a:br>
            <a:r>
              <a:rPr lang="en-US" dirty="0"/>
              <a:t>RAID is the technology of grouping several hard disk drives in a server into an array that can be defined as a single logical drive. This logical drive then appears to the operating system as a single physical drive. This grouping technique greatly enhances logical-drive capacity and performance.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337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E4E13-87C2-6EB4-76AC-51FCBCC51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happens when data is lost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B67B4-82E5-4F10-F15F-E00A3CBC8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Hard drives and SSDs </a:t>
            </a:r>
            <a:r>
              <a:rPr lang="en-US" b="1" dirty="0"/>
              <a:t>fail</a:t>
            </a:r>
            <a:r>
              <a:rPr lang="en-US" dirty="0"/>
              <a:t>. It's not a matter of </a:t>
            </a:r>
            <a:r>
              <a:rPr lang="en-US" i="1" dirty="0"/>
              <a:t>if</a:t>
            </a:r>
            <a:r>
              <a:rPr lang="en-US" dirty="0"/>
              <a:t> — it's </a:t>
            </a:r>
            <a:r>
              <a:rPr lang="en-US" i="1" dirty="0"/>
              <a:t>when</a:t>
            </a:r>
            <a:r>
              <a:rPr lang="en-US" dirty="0"/>
              <a:t>. Studies by Google and </a:t>
            </a:r>
            <a:r>
              <a:rPr lang="en-US" dirty="0" err="1"/>
              <a:t>Backblaze</a:t>
            </a:r>
            <a:r>
              <a:rPr lang="en-US" dirty="0"/>
              <a:t> show:</a:t>
            </a:r>
          </a:p>
          <a:p>
            <a:r>
              <a:rPr lang="en-US" dirty="0"/>
              <a:t>~</a:t>
            </a:r>
            <a:r>
              <a:rPr lang="en-US" b="1" dirty="0"/>
              <a:t>1.5–5% of drives fail per year</a:t>
            </a:r>
            <a:endParaRPr lang="en-US" dirty="0"/>
          </a:p>
          <a:p>
            <a:r>
              <a:rPr lang="en-US" dirty="0"/>
              <a:t>A data center with </a:t>
            </a:r>
            <a:r>
              <a:rPr lang="en-US" b="1" dirty="0"/>
              <a:t>10,000 drives</a:t>
            </a:r>
            <a:r>
              <a:rPr lang="en-US" dirty="0"/>
              <a:t> can expect </a:t>
            </a:r>
            <a:r>
              <a:rPr lang="en-US" b="1" dirty="0"/>
              <a:t>150–500 failures every year</a:t>
            </a:r>
            <a:r>
              <a:rPr lang="en-US" dirty="0"/>
              <a:t> — that's </a:t>
            </a:r>
            <a:r>
              <a:rPr lang="en-US" b="1" dirty="0"/>
              <a:t>more than one per day</a:t>
            </a:r>
            <a:endParaRPr lang="en-US" dirty="0"/>
          </a:p>
          <a:p>
            <a:r>
              <a:rPr lang="en-US" dirty="0"/>
              <a:t>Without RAID, a single disk failure = </a:t>
            </a:r>
            <a:r>
              <a:rPr lang="en-US" b="1" dirty="0"/>
              <a:t>total data loss</a:t>
            </a:r>
            <a:r>
              <a:rPr lang="en-US" dirty="0"/>
              <a:t> or </a:t>
            </a:r>
            <a:r>
              <a:rPr lang="en-US" b="1" dirty="0"/>
              <a:t>downtime</a:t>
            </a:r>
            <a:r>
              <a:rPr lang="en-US" dirty="0"/>
              <a:t>. In cloud environments serving millions of users, this is catastrophic.</a:t>
            </a:r>
          </a:p>
          <a:p>
            <a:r>
              <a:rPr lang="en-US" b="1" dirty="0"/>
              <a:t>Example:</a:t>
            </a:r>
            <a:r>
              <a:rPr lang="en-US" dirty="0"/>
              <a:t> Dell PERC, LSI </a:t>
            </a:r>
            <a:r>
              <a:rPr lang="en-US" dirty="0" err="1"/>
              <a:t>MegaRAID</a:t>
            </a:r>
            <a:r>
              <a:rPr lang="en-US" dirty="0"/>
              <a:t> cards in physical servers. Common in traditional data centers.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7218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90744-4DB6-04D0-AA38-6C28DAF71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55BE3-428A-4C80-D5C8-947CC98B7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RAID – or Redundant Array of Independent Disks – is a type of storage that writes data across multiple drives within the same system. 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Different configurations are expressed as numbers, such as RAID 0, RAID 1, or RAID 5. 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Each RAID type gives users different benefits:</a:t>
            </a:r>
          </a:p>
          <a:p>
            <a:pPr marL="0" indent="0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 — increased performance, </a:t>
            </a:r>
          </a:p>
          <a:p>
            <a:pPr marL="0" indent="0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 — greater fault tolerance, or a combination of both 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Roboto" panose="02000000000000000000" pitchFamily="2" charset="0"/>
              </a:rPr>
              <a:t> </a:t>
            </a:r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— depending on how it writes and distributes your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115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304EED-BB8E-7AF3-545F-A679ADCD8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814240" cy="662608"/>
          </a:xfrm>
        </p:spPr>
        <p:txBody>
          <a:bodyPr anchor="b">
            <a:normAutofit/>
          </a:bodyPr>
          <a:lstStyle/>
          <a:p>
            <a:r>
              <a:rPr lang="en-US" sz="4000" dirty="0"/>
              <a:t>Key Concepts in RAID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0A180-CC6A-69E7-3B45-C6CE45C21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799365"/>
            <a:ext cx="5814239" cy="3461155"/>
          </a:xfrm>
        </p:spPr>
        <p:txBody>
          <a:bodyPr>
            <a:normAutofit lnSpcReduction="10000"/>
          </a:bodyPr>
          <a:lstStyle/>
          <a:p>
            <a:r>
              <a:rPr lang="en-US" sz="2000" b="1" dirty="0"/>
              <a:t>Striping: </a:t>
            </a:r>
          </a:p>
          <a:p>
            <a:pPr lvl="1"/>
            <a:r>
              <a:rPr lang="en-US" sz="2000" b="0" i="0" dirty="0">
                <a:effectLst/>
                <a:latin typeface="DeepSeek-CJK-patch"/>
              </a:rPr>
              <a:t>Data split into blocks and distributed across disks (RAID 0). Enhances performance.</a:t>
            </a:r>
            <a:endParaRPr lang="en-US" sz="2000" b="1" dirty="0"/>
          </a:p>
          <a:p>
            <a:r>
              <a:rPr lang="en-US" sz="2000" b="1" dirty="0"/>
              <a:t>Mirroring:</a:t>
            </a:r>
          </a:p>
          <a:p>
            <a:pPr lvl="1"/>
            <a:r>
              <a:rPr lang="en-US" sz="2000" b="0" i="0" dirty="0">
                <a:effectLst/>
                <a:latin typeface="DeepSeek-CJK-patch"/>
              </a:rPr>
              <a:t>Duplicate data on two or more disks (RAID 1). Ensures redundancy</a:t>
            </a:r>
            <a:endParaRPr lang="en-US" sz="2000" b="1" dirty="0"/>
          </a:p>
          <a:p>
            <a:r>
              <a:rPr lang="en-US" sz="2000" b="1" dirty="0"/>
              <a:t>Parity:</a:t>
            </a:r>
          </a:p>
          <a:p>
            <a:pPr lvl="1"/>
            <a:r>
              <a:rPr lang="en-US" sz="2000" b="0" i="0" dirty="0">
                <a:effectLst/>
                <a:latin typeface="DeepSeek-CJK-patch"/>
              </a:rPr>
              <a:t>Mathematical checksum is </a:t>
            </a:r>
            <a:r>
              <a:rPr lang="en-US" sz="2000" dirty="0">
                <a:latin typeface="DeepSeek-CJK-patch"/>
              </a:rPr>
              <a:t>c</a:t>
            </a:r>
            <a:r>
              <a:rPr lang="en-US" sz="2000" b="0" i="0" dirty="0">
                <a:effectLst/>
                <a:latin typeface="DeepSeek-CJK-patch"/>
              </a:rPr>
              <a:t>alculated from your data used to rebuild lost information (RAID 5/6). XOR operations for single parity (RAID 5), dual parity for RAID 6.</a:t>
            </a: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EDF9F6-EB9C-68FA-9FE6-2F8DD1C3B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793" y="799365"/>
            <a:ext cx="3586815" cy="22101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EAFFD5-0E50-2449-A1E1-4E4EFF51F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7752" y="3375824"/>
            <a:ext cx="3508185" cy="224326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370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390AB-C5DC-BD05-4DDB-20BABDED0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Parity Function in RAID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CC2B9-2B10-170B-6B9E-3CA9C56336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effectLst/>
                <a:latin typeface="DeepSeek-CJK-patch"/>
              </a:rPr>
              <a:t>The </a:t>
            </a:r>
            <a:r>
              <a:rPr lang="en-US" b="1" i="0" dirty="0">
                <a:effectLst/>
                <a:latin typeface="DeepSeek-CJK-patch"/>
              </a:rPr>
              <a:t>parity function</a:t>
            </a:r>
            <a:r>
              <a:rPr lang="en-US" b="0" i="0" dirty="0">
                <a:effectLst/>
                <a:latin typeface="DeepSeek-CJK-patch"/>
              </a:rPr>
              <a:t> is a mathematical operation (typically </a:t>
            </a:r>
            <a:r>
              <a:rPr lang="en-US" b="1" i="0" dirty="0">
                <a:effectLst/>
                <a:latin typeface="DeepSeek-CJK-patch"/>
              </a:rPr>
              <a:t>XOR - Exclusive OR</a:t>
            </a:r>
            <a:r>
              <a:rPr lang="en-US" b="0" i="0" dirty="0">
                <a:effectLst/>
                <a:latin typeface="DeepSeek-CJK-patch"/>
              </a:rPr>
              <a:t>) applied to data blocks across multiple disks to generate a parity block. This parity block is used to reconstruct lost data in case of a disk failure.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2F963-EE2E-83BC-3703-BA7597E9D453}"/>
              </a:ext>
            </a:extLst>
          </p:cNvPr>
          <p:cNvSpPr txBox="1"/>
          <p:nvPr/>
        </p:nvSpPr>
        <p:spPr>
          <a:xfrm>
            <a:off x="3280611" y="4001294"/>
            <a:ext cx="62082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Disk 1: 1 0 1 1</a:t>
            </a:r>
          </a:p>
          <a:p>
            <a:r>
              <a:rPr lang="en-GB" dirty="0"/>
              <a:t>Disk 2: 0 1 1 0</a:t>
            </a:r>
          </a:p>
          <a:p>
            <a:r>
              <a:rPr lang="en-GB" dirty="0"/>
              <a:t>Parity: 1 1 0 1  ← XOR of Disk1 and Disk2</a:t>
            </a:r>
          </a:p>
          <a:p>
            <a:endParaRPr lang="en-GB" dirty="0"/>
          </a:p>
          <a:p>
            <a:r>
              <a:rPr lang="en-GB" dirty="0"/>
              <a:t>If Disk 2 fails:</a:t>
            </a:r>
          </a:p>
          <a:p>
            <a:r>
              <a:rPr lang="en-GB" dirty="0"/>
              <a:t>Disk 1 XOR Parity = 0 1 1 0 ← Disk 2 reconstructed! </a:t>
            </a:r>
          </a:p>
        </p:txBody>
      </p:sp>
    </p:spTree>
    <p:extLst>
      <p:ext uri="{BB962C8B-B14F-4D97-AF65-F5344CB8AC3E}">
        <p14:creationId xmlns:p14="http://schemas.microsoft.com/office/powerpoint/2010/main" val="2418359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3AB98-9B04-DE52-CF33-FA3DF9D69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RAID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37C07-8488-7BAC-19B8-3A7C7C72A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Raid 0: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Roboto" panose="02000000000000000000" pitchFamily="2" charset="0"/>
              </a:rPr>
              <a:t>Raid 1: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Raid 5: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Roboto" panose="02000000000000000000" pitchFamily="2" charset="0"/>
              </a:rPr>
              <a:t>Raid 6: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Raid 10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FB6420-FA92-B27F-3865-F9F06C5F4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1137" y="1690688"/>
            <a:ext cx="85183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637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6AB90-5393-C257-07BA-F50FFE690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RAID (10)= 1+0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9E9DA-72AD-7EBD-DEA9-BFEFD8E49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RAID: </a:t>
            </a:r>
          </a:p>
          <a:p>
            <a:r>
              <a:rPr lang="en-US" b="1" dirty="0"/>
              <a:t>Mirroring + striping combined.</a:t>
            </a:r>
          </a:p>
          <a:p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F86AAD-2258-3A6D-8DAB-820B06025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736264"/>
            <a:ext cx="5570703" cy="2530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587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4310C-FBEF-3908-B37E-C0B5E8E4F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551"/>
            <a:ext cx="10515600" cy="629486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Cloud with Raid Technology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BD6E6-FF31-4E38-C32A-B2FA65DFE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95" y="681036"/>
            <a:ext cx="11871158" cy="59764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Azure RAID concepts as replication tiers:</a:t>
            </a:r>
          </a:p>
          <a:p>
            <a:pPr lvl="1"/>
            <a:r>
              <a:rPr lang="en-GB" dirty="0"/>
              <a:t>LRS (Locally Redundant Storage) ≈ RAID within one data </a:t>
            </a:r>
            <a:r>
              <a:rPr lang="en-GB" dirty="0" err="1"/>
              <a:t>center</a:t>
            </a:r>
            <a:endParaRPr lang="en-GB" dirty="0"/>
          </a:p>
          <a:p>
            <a:pPr lvl="1"/>
            <a:r>
              <a:rPr lang="en-GB" dirty="0"/>
              <a:t>    3 copies, same building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ZRS (Zone Redundant Storage) ≈ RAID across Availability Zones</a:t>
            </a:r>
          </a:p>
          <a:p>
            <a:pPr lvl="1"/>
            <a:r>
              <a:rPr lang="en-GB" dirty="0"/>
              <a:t>    3 copies, different buildings/zones in same region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GRS (Geo-Redundant Storage) ≈ RAID across continents</a:t>
            </a:r>
          </a:p>
          <a:p>
            <a:pPr lvl="1"/>
            <a:r>
              <a:rPr lang="en-GB" dirty="0"/>
              <a:t>    6 copies: 3 local + 3 in another continent</a:t>
            </a:r>
          </a:p>
          <a:p>
            <a:pPr lvl="1"/>
            <a:r>
              <a:rPr lang="en-GB" dirty="0"/>
              <a:t>    Can withstand entire regional disasters</a:t>
            </a:r>
          </a:p>
        </p:txBody>
      </p:sp>
    </p:spTree>
    <p:extLst>
      <p:ext uri="{BB962C8B-B14F-4D97-AF65-F5344CB8AC3E}">
        <p14:creationId xmlns:p14="http://schemas.microsoft.com/office/powerpoint/2010/main" val="986796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FDB23-DE2E-61F4-D2A2-FC9420B9A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tuning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45C72-C11A-6390-A7C2-E5BAEEA30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Different chunk size.</a:t>
            </a:r>
          </a:p>
          <a:p>
            <a:pPr lvl="1"/>
            <a:r>
              <a:rPr lang="en-US" dirty="0"/>
              <a:t>More overhead with small chunk size(databases), less overhead with large chunk size(video streaming).</a:t>
            </a:r>
          </a:p>
          <a:p>
            <a:r>
              <a:rPr lang="en-US" dirty="0"/>
              <a:t>Read Ahead Caching:</a:t>
            </a:r>
          </a:p>
          <a:p>
            <a:pPr lvl="1"/>
            <a:r>
              <a:rPr lang="en-US" dirty="0"/>
              <a:t>RAID controller and cloud storage uses read ahead  to predict what data you will need next.</a:t>
            </a:r>
          </a:p>
          <a:p>
            <a:pPr lvl="1"/>
            <a:r>
              <a:rPr lang="en-US" dirty="0"/>
              <a:t>For example: You read Block 5</a:t>
            </a:r>
          </a:p>
          <a:p>
            <a:pPr lvl="1"/>
            <a:r>
              <a:rPr lang="en-US" dirty="0"/>
              <a:t>System thinks: "They'll probably want Block 6, 7, 8 next"</a:t>
            </a:r>
          </a:p>
          <a:p>
            <a:pPr lvl="1"/>
            <a:r>
              <a:rPr lang="en-US" dirty="0"/>
              <a:t>System pre-fetches: Blocks 6, 7, 8 into cache</a:t>
            </a:r>
          </a:p>
          <a:p>
            <a:pPr lvl="1"/>
            <a:r>
              <a:rPr lang="en-US" dirty="0"/>
              <a:t>Result: Next reads are near-instant </a:t>
            </a:r>
          </a:p>
          <a:p>
            <a:r>
              <a:rPr lang="en-US" dirty="0"/>
              <a:t>Write Back vs Write Through cache:</a:t>
            </a:r>
          </a:p>
          <a:p>
            <a:pPr lvl="1"/>
            <a:r>
              <a:rPr lang="en-US" dirty="0"/>
              <a:t>Cloud use battery-backed or </a:t>
            </a:r>
            <a:r>
              <a:rPr lang="en-US" dirty="0" err="1"/>
              <a:t>nvRAM</a:t>
            </a:r>
            <a:r>
              <a:rPr lang="en-US" dirty="0"/>
              <a:t> cache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3983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807A5-0098-2D0F-AA31-7342AD11C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Advantages of RAID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D85AF6-08B6-DED8-7812-54679727AA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7316" y="1283439"/>
            <a:ext cx="6780700" cy="428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591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BB51B-8912-6078-39AD-3FAA2E1A2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Task: How does Google use RAID technology 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3CAA1-B471-70C3-A2E4-0EB65B424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0064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4B1E36-3CD5-F09E-50A6-B30FA1763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5400"/>
              <a:t>RAID Levels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7287C-B8B2-2F16-B0B3-D94A61404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2200" b="0" i="0">
                <a:effectLst/>
                <a:latin typeface="fkGroteskNeue"/>
              </a:rPr>
              <a:t>Different configurations balancing speed, capacity, and reliability.</a:t>
            </a:r>
          </a:p>
          <a:p>
            <a:endParaRPr lang="en-US" sz="2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6FBCF9-06BC-E22E-1EEF-EFE5E4C5B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033" y="1504588"/>
            <a:ext cx="7812504" cy="457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903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637</Words>
  <Application>Microsoft Office PowerPoint</Application>
  <PresentationFormat>Widescreen</PresentationFormat>
  <Paragraphs>68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DeepSeek-CJK-patch</vt:lpstr>
      <vt:lpstr>fkGroteskNeue</vt:lpstr>
      <vt:lpstr>Roboto</vt:lpstr>
      <vt:lpstr>Office Theme</vt:lpstr>
      <vt:lpstr>Raid Storage </vt:lpstr>
      <vt:lpstr>PowerPoint Presentation</vt:lpstr>
      <vt:lpstr>What happens when data is lost</vt:lpstr>
      <vt:lpstr>RAID</vt:lpstr>
      <vt:lpstr>Key Concepts in RAID</vt:lpstr>
      <vt:lpstr>Parity Function in RAID</vt:lpstr>
      <vt:lpstr>RAID Types</vt:lpstr>
      <vt:lpstr>RAID (10)= 1+0</vt:lpstr>
      <vt:lpstr>Cloud with Raid Technology</vt:lpstr>
      <vt:lpstr>Performance tuning</vt:lpstr>
      <vt:lpstr>Advantages of RAID</vt:lpstr>
      <vt:lpstr>Class Task: How does Google use RAID technology ?</vt:lpstr>
      <vt:lpstr>RAID Levels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Safia Baloch Lecturer FCS</dc:creator>
  <cp:lastModifiedBy>Safia Baloch Lecturer FCS</cp:lastModifiedBy>
  <cp:revision>42</cp:revision>
  <dcterms:created xsi:type="dcterms:W3CDTF">2025-04-27T17:46:40Z</dcterms:created>
  <dcterms:modified xsi:type="dcterms:W3CDTF">2026-04-22T04:10:11Z</dcterms:modified>
</cp:coreProperties>
</file>