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5" r:id="rId3"/>
    <p:sldId id="272" r:id="rId4"/>
    <p:sldId id="266" r:id="rId5"/>
    <p:sldId id="273" r:id="rId6"/>
    <p:sldId id="274" r:id="rId7"/>
    <p:sldId id="267" r:id="rId8"/>
    <p:sldId id="268" r:id="rId9"/>
    <p:sldId id="275" r:id="rId10"/>
    <p:sldId id="269" r:id="rId11"/>
    <p:sldId id="270" r:id="rId12"/>
    <p:sldId id="2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97F69-9632-60BE-0BAA-72E157C527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BC9897-6588-29C7-0AED-F927A85764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9B54F9-5088-07B1-82BE-1DDD7A93AEE3}"/>
              </a:ext>
            </a:extLst>
          </p:cNvPr>
          <p:cNvSpPr>
            <a:spLocks noGrp="1"/>
          </p:cNvSpPr>
          <p:nvPr>
            <p:ph type="dt" sz="half" idx="10"/>
          </p:nvPr>
        </p:nvSpPr>
        <p:spPr/>
        <p:txBody>
          <a:bodyPr/>
          <a:lstStyle/>
          <a:p>
            <a:fld id="{9B51EC43-41C8-422F-A16B-B4A15A2ECED7}" type="datetimeFigureOut">
              <a:rPr lang="en-US" smtClean="0"/>
              <a:t>3/10/2025</a:t>
            </a:fld>
            <a:endParaRPr lang="en-US"/>
          </a:p>
        </p:txBody>
      </p:sp>
      <p:sp>
        <p:nvSpPr>
          <p:cNvPr id="5" name="Footer Placeholder 4">
            <a:extLst>
              <a:ext uri="{FF2B5EF4-FFF2-40B4-BE49-F238E27FC236}">
                <a16:creationId xmlns:a16="http://schemas.microsoft.com/office/drawing/2014/main" id="{948E0E1F-F696-CE70-96D2-D99EAF3C70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50B880-DB9D-96B2-64A7-200F5315126B}"/>
              </a:ext>
            </a:extLst>
          </p:cNvPr>
          <p:cNvSpPr>
            <a:spLocks noGrp="1"/>
          </p:cNvSpPr>
          <p:nvPr>
            <p:ph type="sldNum" sz="quarter" idx="12"/>
          </p:nvPr>
        </p:nvSpPr>
        <p:spPr/>
        <p:txBody>
          <a:bodyPr/>
          <a:lstStyle/>
          <a:p>
            <a:fld id="{804AE733-C9B0-485C-8208-4273D0CFF319}" type="slidenum">
              <a:rPr lang="en-US" smtClean="0"/>
              <a:t>‹#›</a:t>
            </a:fld>
            <a:endParaRPr lang="en-US"/>
          </a:p>
        </p:txBody>
      </p:sp>
    </p:spTree>
    <p:extLst>
      <p:ext uri="{BB962C8B-B14F-4D97-AF65-F5344CB8AC3E}">
        <p14:creationId xmlns:p14="http://schemas.microsoft.com/office/powerpoint/2010/main" val="3445318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DB5B5-7013-4E62-8CF8-AA04CB9639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CEB37F-8831-96C2-11D3-2AC12016D6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BED49-08DE-2278-51FC-8D752E4E4FB4}"/>
              </a:ext>
            </a:extLst>
          </p:cNvPr>
          <p:cNvSpPr>
            <a:spLocks noGrp="1"/>
          </p:cNvSpPr>
          <p:nvPr>
            <p:ph type="dt" sz="half" idx="10"/>
          </p:nvPr>
        </p:nvSpPr>
        <p:spPr/>
        <p:txBody>
          <a:bodyPr/>
          <a:lstStyle/>
          <a:p>
            <a:fld id="{9B51EC43-41C8-422F-A16B-B4A15A2ECED7}" type="datetimeFigureOut">
              <a:rPr lang="en-US" smtClean="0"/>
              <a:t>3/10/2025</a:t>
            </a:fld>
            <a:endParaRPr lang="en-US"/>
          </a:p>
        </p:txBody>
      </p:sp>
      <p:sp>
        <p:nvSpPr>
          <p:cNvPr id="5" name="Footer Placeholder 4">
            <a:extLst>
              <a:ext uri="{FF2B5EF4-FFF2-40B4-BE49-F238E27FC236}">
                <a16:creationId xmlns:a16="http://schemas.microsoft.com/office/drawing/2014/main" id="{3DF05BB4-FBF0-684C-07CB-A99DC15266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9DF38C-CEE2-D7AA-E0A0-7E90374DBD56}"/>
              </a:ext>
            </a:extLst>
          </p:cNvPr>
          <p:cNvSpPr>
            <a:spLocks noGrp="1"/>
          </p:cNvSpPr>
          <p:nvPr>
            <p:ph type="sldNum" sz="quarter" idx="12"/>
          </p:nvPr>
        </p:nvSpPr>
        <p:spPr/>
        <p:txBody>
          <a:bodyPr/>
          <a:lstStyle/>
          <a:p>
            <a:fld id="{804AE733-C9B0-485C-8208-4273D0CFF319}" type="slidenum">
              <a:rPr lang="en-US" smtClean="0"/>
              <a:t>‹#›</a:t>
            </a:fld>
            <a:endParaRPr lang="en-US"/>
          </a:p>
        </p:txBody>
      </p:sp>
    </p:spTree>
    <p:extLst>
      <p:ext uri="{BB962C8B-B14F-4D97-AF65-F5344CB8AC3E}">
        <p14:creationId xmlns:p14="http://schemas.microsoft.com/office/powerpoint/2010/main" val="2619316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028C1-1EA9-AF6F-6211-F0AE6F512B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123AF0-C9F2-D31A-BF41-61C0407D43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6381BE-9AB0-843A-A3E7-6A34F725A076}"/>
              </a:ext>
            </a:extLst>
          </p:cNvPr>
          <p:cNvSpPr>
            <a:spLocks noGrp="1"/>
          </p:cNvSpPr>
          <p:nvPr>
            <p:ph type="dt" sz="half" idx="10"/>
          </p:nvPr>
        </p:nvSpPr>
        <p:spPr/>
        <p:txBody>
          <a:bodyPr/>
          <a:lstStyle/>
          <a:p>
            <a:fld id="{9B51EC43-41C8-422F-A16B-B4A15A2ECED7}" type="datetimeFigureOut">
              <a:rPr lang="en-US" smtClean="0"/>
              <a:t>3/10/2025</a:t>
            </a:fld>
            <a:endParaRPr lang="en-US"/>
          </a:p>
        </p:txBody>
      </p:sp>
      <p:sp>
        <p:nvSpPr>
          <p:cNvPr id="5" name="Footer Placeholder 4">
            <a:extLst>
              <a:ext uri="{FF2B5EF4-FFF2-40B4-BE49-F238E27FC236}">
                <a16:creationId xmlns:a16="http://schemas.microsoft.com/office/drawing/2014/main" id="{A8105DF1-59C9-2F56-A53E-73B2B3ED07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A18018-5C5A-3F2A-302B-06DD7FFDFEC8}"/>
              </a:ext>
            </a:extLst>
          </p:cNvPr>
          <p:cNvSpPr>
            <a:spLocks noGrp="1"/>
          </p:cNvSpPr>
          <p:nvPr>
            <p:ph type="sldNum" sz="quarter" idx="12"/>
          </p:nvPr>
        </p:nvSpPr>
        <p:spPr/>
        <p:txBody>
          <a:bodyPr/>
          <a:lstStyle/>
          <a:p>
            <a:fld id="{804AE733-C9B0-485C-8208-4273D0CFF319}" type="slidenum">
              <a:rPr lang="en-US" smtClean="0"/>
              <a:t>‹#›</a:t>
            </a:fld>
            <a:endParaRPr lang="en-US"/>
          </a:p>
        </p:txBody>
      </p:sp>
    </p:spTree>
    <p:extLst>
      <p:ext uri="{BB962C8B-B14F-4D97-AF65-F5344CB8AC3E}">
        <p14:creationId xmlns:p14="http://schemas.microsoft.com/office/powerpoint/2010/main" val="1622575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EAA4E-9A73-755F-6383-B27343414D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49EF62-39C7-4572-B01F-D6D9D570FB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B4F571-90CE-98FA-1B88-CCA3A45B1C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E453B8-0087-076F-E1D7-002CBF3869DA}"/>
              </a:ext>
            </a:extLst>
          </p:cNvPr>
          <p:cNvSpPr>
            <a:spLocks noGrp="1"/>
          </p:cNvSpPr>
          <p:nvPr>
            <p:ph type="dt" sz="half" idx="10"/>
          </p:nvPr>
        </p:nvSpPr>
        <p:spPr/>
        <p:txBody>
          <a:bodyPr/>
          <a:lstStyle/>
          <a:p>
            <a:fld id="{9B51EC43-41C8-422F-A16B-B4A15A2ECED7}" type="datetimeFigureOut">
              <a:rPr lang="en-US" smtClean="0"/>
              <a:t>3/10/2025</a:t>
            </a:fld>
            <a:endParaRPr lang="en-US"/>
          </a:p>
        </p:txBody>
      </p:sp>
      <p:sp>
        <p:nvSpPr>
          <p:cNvPr id="6" name="Footer Placeholder 5">
            <a:extLst>
              <a:ext uri="{FF2B5EF4-FFF2-40B4-BE49-F238E27FC236}">
                <a16:creationId xmlns:a16="http://schemas.microsoft.com/office/drawing/2014/main" id="{A313CBAE-D09C-0B55-BB1A-C249B873FA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A84877-FF30-1FF0-9066-F04DC0B7D1A9}"/>
              </a:ext>
            </a:extLst>
          </p:cNvPr>
          <p:cNvSpPr>
            <a:spLocks noGrp="1"/>
          </p:cNvSpPr>
          <p:nvPr>
            <p:ph type="sldNum" sz="quarter" idx="12"/>
          </p:nvPr>
        </p:nvSpPr>
        <p:spPr/>
        <p:txBody>
          <a:bodyPr/>
          <a:lstStyle/>
          <a:p>
            <a:fld id="{804AE733-C9B0-485C-8208-4273D0CFF319}" type="slidenum">
              <a:rPr lang="en-US" smtClean="0"/>
              <a:t>‹#›</a:t>
            </a:fld>
            <a:endParaRPr lang="en-US"/>
          </a:p>
        </p:txBody>
      </p:sp>
    </p:spTree>
    <p:extLst>
      <p:ext uri="{BB962C8B-B14F-4D97-AF65-F5344CB8AC3E}">
        <p14:creationId xmlns:p14="http://schemas.microsoft.com/office/powerpoint/2010/main" val="3565451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2A5EE-2F10-E69D-797C-0D60385531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C6E037-90BC-8B8F-537C-A256123686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F429B9-53EF-0A55-8E5E-FBA9EA4D66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26093E-2BF9-7BFA-45C7-1DDC53C332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A3BB42-877A-C688-B94F-462B0CB046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EB86907-0FA9-5B07-97AE-A0409B9CE0F8}"/>
              </a:ext>
            </a:extLst>
          </p:cNvPr>
          <p:cNvSpPr>
            <a:spLocks noGrp="1"/>
          </p:cNvSpPr>
          <p:nvPr>
            <p:ph type="dt" sz="half" idx="10"/>
          </p:nvPr>
        </p:nvSpPr>
        <p:spPr/>
        <p:txBody>
          <a:bodyPr/>
          <a:lstStyle/>
          <a:p>
            <a:fld id="{9B51EC43-41C8-422F-A16B-B4A15A2ECED7}" type="datetimeFigureOut">
              <a:rPr lang="en-US" smtClean="0"/>
              <a:t>3/10/2025</a:t>
            </a:fld>
            <a:endParaRPr lang="en-US"/>
          </a:p>
        </p:txBody>
      </p:sp>
      <p:sp>
        <p:nvSpPr>
          <p:cNvPr id="8" name="Footer Placeholder 7">
            <a:extLst>
              <a:ext uri="{FF2B5EF4-FFF2-40B4-BE49-F238E27FC236}">
                <a16:creationId xmlns:a16="http://schemas.microsoft.com/office/drawing/2014/main" id="{9E3DF87F-1D7C-182E-1239-FF5525FA641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6F7D69-F936-910D-41B2-A6FAAE2CFCA8}"/>
              </a:ext>
            </a:extLst>
          </p:cNvPr>
          <p:cNvSpPr>
            <a:spLocks noGrp="1"/>
          </p:cNvSpPr>
          <p:nvPr>
            <p:ph type="sldNum" sz="quarter" idx="12"/>
          </p:nvPr>
        </p:nvSpPr>
        <p:spPr/>
        <p:txBody>
          <a:bodyPr/>
          <a:lstStyle/>
          <a:p>
            <a:fld id="{804AE733-C9B0-485C-8208-4273D0CFF319}" type="slidenum">
              <a:rPr lang="en-US" smtClean="0"/>
              <a:t>‹#›</a:t>
            </a:fld>
            <a:endParaRPr lang="en-US"/>
          </a:p>
        </p:txBody>
      </p:sp>
    </p:spTree>
    <p:extLst>
      <p:ext uri="{BB962C8B-B14F-4D97-AF65-F5344CB8AC3E}">
        <p14:creationId xmlns:p14="http://schemas.microsoft.com/office/powerpoint/2010/main" val="740401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A5EE4-64BD-7575-87C6-A929376E839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DBB4DB-CBE9-2FBF-BA1A-50CA867F948B}"/>
              </a:ext>
            </a:extLst>
          </p:cNvPr>
          <p:cNvSpPr>
            <a:spLocks noGrp="1"/>
          </p:cNvSpPr>
          <p:nvPr>
            <p:ph type="dt" sz="half" idx="10"/>
          </p:nvPr>
        </p:nvSpPr>
        <p:spPr/>
        <p:txBody>
          <a:bodyPr/>
          <a:lstStyle/>
          <a:p>
            <a:fld id="{9B51EC43-41C8-422F-A16B-B4A15A2ECED7}" type="datetimeFigureOut">
              <a:rPr lang="en-US" smtClean="0"/>
              <a:t>3/10/2025</a:t>
            </a:fld>
            <a:endParaRPr lang="en-US"/>
          </a:p>
        </p:txBody>
      </p:sp>
      <p:sp>
        <p:nvSpPr>
          <p:cNvPr id="4" name="Footer Placeholder 3">
            <a:extLst>
              <a:ext uri="{FF2B5EF4-FFF2-40B4-BE49-F238E27FC236}">
                <a16:creationId xmlns:a16="http://schemas.microsoft.com/office/drawing/2014/main" id="{68F46612-7D37-3EC3-D1C3-60AB373577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9DA9CB-495A-BAE7-227D-06FD99C18FD6}"/>
              </a:ext>
            </a:extLst>
          </p:cNvPr>
          <p:cNvSpPr>
            <a:spLocks noGrp="1"/>
          </p:cNvSpPr>
          <p:nvPr>
            <p:ph type="sldNum" sz="quarter" idx="12"/>
          </p:nvPr>
        </p:nvSpPr>
        <p:spPr/>
        <p:txBody>
          <a:bodyPr/>
          <a:lstStyle/>
          <a:p>
            <a:fld id="{804AE733-C9B0-485C-8208-4273D0CFF319}" type="slidenum">
              <a:rPr lang="en-US" smtClean="0"/>
              <a:t>‹#›</a:t>
            </a:fld>
            <a:endParaRPr lang="en-US"/>
          </a:p>
        </p:txBody>
      </p:sp>
    </p:spTree>
    <p:extLst>
      <p:ext uri="{BB962C8B-B14F-4D97-AF65-F5344CB8AC3E}">
        <p14:creationId xmlns:p14="http://schemas.microsoft.com/office/powerpoint/2010/main" val="425120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887125-54EA-2DEF-3BD0-98E4CCFDE089}"/>
              </a:ext>
            </a:extLst>
          </p:cNvPr>
          <p:cNvSpPr>
            <a:spLocks noGrp="1"/>
          </p:cNvSpPr>
          <p:nvPr>
            <p:ph type="dt" sz="half" idx="10"/>
          </p:nvPr>
        </p:nvSpPr>
        <p:spPr/>
        <p:txBody>
          <a:bodyPr/>
          <a:lstStyle/>
          <a:p>
            <a:fld id="{9B51EC43-41C8-422F-A16B-B4A15A2ECED7}" type="datetimeFigureOut">
              <a:rPr lang="en-US" smtClean="0"/>
              <a:t>3/10/2025</a:t>
            </a:fld>
            <a:endParaRPr lang="en-US"/>
          </a:p>
        </p:txBody>
      </p:sp>
      <p:sp>
        <p:nvSpPr>
          <p:cNvPr id="3" name="Footer Placeholder 2">
            <a:extLst>
              <a:ext uri="{FF2B5EF4-FFF2-40B4-BE49-F238E27FC236}">
                <a16:creationId xmlns:a16="http://schemas.microsoft.com/office/drawing/2014/main" id="{24332D56-13B8-1127-EEA8-C7D44E05CB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DA857E-7BC5-6125-FEB8-B2666E2409D5}"/>
              </a:ext>
            </a:extLst>
          </p:cNvPr>
          <p:cNvSpPr>
            <a:spLocks noGrp="1"/>
          </p:cNvSpPr>
          <p:nvPr>
            <p:ph type="sldNum" sz="quarter" idx="12"/>
          </p:nvPr>
        </p:nvSpPr>
        <p:spPr/>
        <p:txBody>
          <a:bodyPr/>
          <a:lstStyle/>
          <a:p>
            <a:fld id="{804AE733-C9B0-485C-8208-4273D0CFF319}" type="slidenum">
              <a:rPr lang="en-US" smtClean="0"/>
              <a:t>‹#›</a:t>
            </a:fld>
            <a:endParaRPr lang="en-US"/>
          </a:p>
        </p:txBody>
      </p:sp>
    </p:spTree>
    <p:extLst>
      <p:ext uri="{BB962C8B-B14F-4D97-AF65-F5344CB8AC3E}">
        <p14:creationId xmlns:p14="http://schemas.microsoft.com/office/powerpoint/2010/main" val="4161856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C9023-5C1B-D56E-5797-044D896663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7EA1B0-A94B-A779-6C2D-6E4494B44E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91A672-23D7-9AF9-0AA2-B8C5BB7395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6A3544-62CD-F194-CF70-03BC3D80AC6D}"/>
              </a:ext>
            </a:extLst>
          </p:cNvPr>
          <p:cNvSpPr>
            <a:spLocks noGrp="1"/>
          </p:cNvSpPr>
          <p:nvPr>
            <p:ph type="dt" sz="half" idx="10"/>
          </p:nvPr>
        </p:nvSpPr>
        <p:spPr/>
        <p:txBody>
          <a:bodyPr/>
          <a:lstStyle/>
          <a:p>
            <a:fld id="{9B51EC43-41C8-422F-A16B-B4A15A2ECED7}" type="datetimeFigureOut">
              <a:rPr lang="en-US" smtClean="0"/>
              <a:t>3/10/2025</a:t>
            </a:fld>
            <a:endParaRPr lang="en-US"/>
          </a:p>
        </p:txBody>
      </p:sp>
      <p:sp>
        <p:nvSpPr>
          <p:cNvPr id="6" name="Footer Placeholder 5">
            <a:extLst>
              <a:ext uri="{FF2B5EF4-FFF2-40B4-BE49-F238E27FC236}">
                <a16:creationId xmlns:a16="http://schemas.microsoft.com/office/drawing/2014/main" id="{285282B1-4765-6E63-9997-230CB0AC10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2F06E-F394-0FEE-EBDF-84169B4B81C7}"/>
              </a:ext>
            </a:extLst>
          </p:cNvPr>
          <p:cNvSpPr>
            <a:spLocks noGrp="1"/>
          </p:cNvSpPr>
          <p:nvPr>
            <p:ph type="sldNum" sz="quarter" idx="12"/>
          </p:nvPr>
        </p:nvSpPr>
        <p:spPr/>
        <p:txBody>
          <a:bodyPr/>
          <a:lstStyle/>
          <a:p>
            <a:fld id="{804AE733-C9B0-485C-8208-4273D0CFF319}" type="slidenum">
              <a:rPr lang="en-US" smtClean="0"/>
              <a:t>‹#›</a:t>
            </a:fld>
            <a:endParaRPr lang="en-US"/>
          </a:p>
        </p:txBody>
      </p:sp>
    </p:spTree>
    <p:extLst>
      <p:ext uri="{BB962C8B-B14F-4D97-AF65-F5344CB8AC3E}">
        <p14:creationId xmlns:p14="http://schemas.microsoft.com/office/powerpoint/2010/main" val="1275779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F47E8-8E9C-FEC5-7A9E-E0FD83D551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41D395C-3137-F76F-F24D-7CB38E16F1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A40355-68E6-C38F-4A60-6A00A6B626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C3417B-2482-420F-CEB8-A28B0F50FCB1}"/>
              </a:ext>
            </a:extLst>
          </p:cNvPr>
          <p:cNvSpPr>
            <a:spLocks noGrp="1"/>
          </p:cNvSpPr>
          <p:nvPr>
            <p:ph type="dt" sz="half" idx="10"/>
          </p:nvPr>
        </p:nvSpPr>
        <p:spPr/>
        <p:txBody>
          <a:bodyPr/>
          <a:lstStyle/>
          <a:p>
            <a:fld id="{9B51EC43-41C8-422F-A16B-B4A15A2ECED7}" type="datetimeFigureOut">
              <a:rPr lang="en-US" smtClean="0"/>
              <a:t>3/10/2025</a:t>
            </a:fld>
            <a:endParaRPr lang="en-US"/>
          </a:p>
        </p:txBody>
      </p:sp>
      <p:sp>
        <p:nvSpPr>
          <p:cNvPr id="6" name="Footer Placeholder 5">
            <a:extLst>
              <a:ext uri="{FF2B5EF4-FFF2-40B4-BE49-F238E27FC236}">
                <a16:creationId xmlns:a16="http://schemas.microsoft.com/office/drawing/2014/main" id="{452C54D3-6C42-F65B-3402-82BE15BEA2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F636D1-4005-6FD9-6D73-63E7F5982741}"/>
              </a:ext>
            </a:extLst>
          </p:cNvPr>
          <p:cNvSpPr>
            <a:spLocks noGrp="1"/>
          </p:cNvSpPr>
          <p:nvPr>
            <p:ph type="sldNum" sz="quarter" idx="12"/>
          </p:nvPr>
        </p:nvSpPr>
        <p:spPr/>
        <p:txBody>
          <a:bodyPr/>
          <a:lstStyle/>
          <a:p>
            <a:fld id="{804AE733-C9B0-485C-8208-4273D0CFF319}" type="slidenum">
              <a:rPr lang="en-US" smtClean="0"/>
              <a:t>‹#›</a:t>
            </a:fld>
            <a:endParaRPr lang="en-US"/>
          </a:p>
        </p:txBody>
      </p:sp>
    </p:spTree>
    <p:extLst>
      <p:ext uri="{BB962C8B-B14F-4D97-AF65-F5344CB8AC3E}">
        <p14:creationId xmlns:p14="http://schemas.microsoft.com/office/powerpoint/2010/main" val="1262484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A02DD-0A94-6600-DFF1-9AFB937642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9DFCBB-8606-34B5-F183-6E5C6A8153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AB1AE1-704F-FA48-FC78-6CF6D56E2243}"/>
              </a:ext>
            </a:extLst>
          </p:cNvPr>
          <p:cNvSpPr>
            <a:spLocks noGrp="1"/>
          </p:cNvSpPr>
          <p:nvPr>
            <p:ph type="dt" sz="half" idx="10"/>
          </p:nvPr>
        </p:nvSpPr>
        <p:spPr/>
        <p:txBody>
          <a:bodyPr/>
          <a:lstStyle/>
          <a:p>
            <a:fld id="{9B51EC43-41C8-422F-A16B-B4A15A2ECED7}" type="datetimeFigureOut">
              <a:rPr lang="en-US" smtClean="0"/>
              <a:t>3/10/2025</a:t>
            </a:fld>
            <a:endParaRPr lang="en-US"/>
          </a:p>
        </p:txBody>
      </p:sp>
      <p:sp>
        <p:nvSpPr>
          <p:cNvPr id="5" name="Footer Placeholder 4">
            <a:extLst>
              <a:ext uri="{FF2B5EF4-FFF2-40B4-BE49-F238E27FC236}">
                <a16:creationId xmlns:a16="http://schemas.microsoft.com/office/drawing/2014/main" id="{DC4CAE22-5ECA-A518-8399-3956A6A0AA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EE7EC7-4F5F-DAF9-F54B-2D3245AD85A0}"/>
              </a:ext>
            </a:extLst>
          </p:cNvPr>
          <p:cNvSpPr>
            <a:spLocks noGrp="1"/>
          </p:cNvSpPr>
          <p:nvPr>
            <p:ph type="sldNum" sz="quarter" idx="12"/>
          </p:nvPr>
        </p:nvSpPr>
        <p:spPr/>
        <p:txBody>
          <a:bodyPr/>
          <a:lstStyle/>
          <a:p>
            <a:fld id="{804AE733-C9B0-485C-8208-4273D0CFF319}" type="slidenum">
              <a:rPr lang="en-US" smtClean="0"/>
              <a:t>‹#›</a:t>
            </a:fld>
            <a:endParaRPr lang="en-US"/>
          </a:p>
        </p:txBody>
      </p:sp>
    </p:spTree>
    <p:extLst>
      <p:ext uri="{BB962C8B-B14F-4D97-AF65-F5344CB8AC3E}">
        <p14:creationId xmlns:p14="http://schemas.microsoft.com/office/powerpoint/2010/main" val="3504901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0A8068-BDA8-C31B-439A-F20D87054B4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EE7A90-4736-BC5A-5F80-6D83A3E459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CC974F-029A-C30C-4DF6-FF809E4E674C}"/>
              </a:ext>
            </a:extLst>
          </p:cNvPr>
          <p:cNvSpPr>
            <a:spLocks noGrp="1"/>
          </p:cNvSpPr>
          <p:nvPr>
            <p:ph type="dt" sz="half" idx="10"/>
          </p:nvPr>
        </p:nvSpPr>
        <p:spPr/>
        <p:txBody>
          <a:bodyPr/>
          <a:lstStyle/>
          <a:p>
            <a:fld id="{9B51EC43-41C8-422F-A16B-B4A15A2ECED7}" type="datetimeFigureOut">
              <a:rPr lang="en-US" smtClean="0"/>
              <a:t>3/10/2025</a:t>
            </a:fld>
            <a:endParaRPr lang="en-US"/>
          </a:p>
        </p:txBody>
      </p:sp>
      <p:sp>
        <p:nvSpPr>
          <p:cNvPr id="5" name="Footer Placeholder 4">
            <a:extLst>
              <a:ext uri="{FF2B5EF4-FFF2-40B4-BE49-F238E27FC236}">
                <a16:creationId xmlns:a16="http://schemas.microsoft.com/office/drawing/2014/main" id="{8E7720F1-1071-98F1-FA04-26F144BEA5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84DA37-8C4C-F35C-E76C-2E5F59164314}"/>
              </a:ext>
            </a:extLst>
          </p:cNvPr>
          <p:cNvSpPr>
            <a:spLocks noGrp="1"/>
          </p:cNvSpPr>
          <p:nvPr>
            <p:ph type="sldNum" sz="quarter" idx="12"/>
          </p:nvPr>
        </p:nvSpPr>
        <p:spPr/>
        <p:txBody>
          <a:bodyPr/>
          <a:lstStyle/>
          <a:p>
            <a:fld id="{804AE733-C9B0-485C-8208-4273D0CFF319}" type="slidenum">
              <a:rPr lang="en-US" smtClean="0"/>
              <a:t>‹#›</a:t>
            </a:fld>
            <a:endParaRPr lang="en-US"/>
          </a:p>
        </p:txBody>
      </p:sp>
    </p:spTree>
    <p:extLst>
      <p:ext uri="{BB962C8B-B14F-4D97-AF65-F5344CB8AC3E}">
        <p14:creationId xmlns:p14="http://schemas.microsoft.com/office/powerpoint/2010/main" val="2016393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D366FB-3D74-1600-A5D3-4C50B1BEF5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EA15BF-480C-BEB3-1F8F-A5061BC2F6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B103C6-BC67-BE4A-8D2C-A3F18788E5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B51EC43-41C8-422F-A16B-B4A15A2ECED7}" type="datetimeFigureOut">
              <a:rPr lang="en-US" smtClean="0"/>
              <a:t>3/10/2025</a:t>
            </a:fld>
            <a:endParaRPr lang="en-US"/>
          </a:p>
        </p:txBody>
      </p:sp>
      <p:sp>
        <p:nvSpPr>
          <p:cNvPr id="5" name="Footer Placeholder 4">
            <a:extLst>
              <a:ext uri="{FF2B5EF4-FFF2-40B4-BE49-F238E27FC236}">
                <a16:creationId xmlns:a16="http://schemas.microsoft.com/office/drawing/2014/main" id="{DFD7383C-6992-1875-9B3D-D01C0529CF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03DCFC2-0EA0-105D-0937-C97EA333ED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4AE733-C9B0-485C-8208-4273D0CFF319}" type="slidenum">
              <a:rPr lang="en-US" smtClean="0"/>
              <a:t>‹#›</a:t>
            </a:fld>
            <a:endParaRPr lang="en-US"/>
          </a:p>
        </p:txBody>
      </p:sp>
    </p:spTree>
    <p:extLst>
      <p:ext uri="{BB962C8B-B14F-4D97-AF65-F5344CB8AC3E}">
        <p14:creationId xmlns:p14="http://schemas.microsoft.com/office/powerpoint/2010/main" val="26694324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Programming Model: Server-less Computing</a:t>
            </a:r>
            <a:endParaRPr lang="en-GB" dirty="0"/>
          </a:p>
        </p:txBody>
      </p:sp>
      <p:sp>
        <p:nvSpPr>
          <p:cNvPr id="3" name="Subtitle 2"/>
          <p:cNvSpPr>
            <a:spLocks noGrp="1"/>
          </p:cNvSpPr>
          <p:nvPr>
            <p:ph type="subTitle" idx="1"/>
          </p:nvPr>
        </p:nvSpPr>
        <p:spPr/>
        <p:txBody>
          <a:bodyPr/>
          <a:lstStyle/>
          <a:p>
            <a:r>
              <a:rPr lang="en-US" dirty="0"/>
              <a:t>CE-408</a:t>
            </a:r>
          </a:p>
          <a:p>
            <a:r>
              <a:rPr lang="en-US" dirty="0" err="1"/>
              <a:t>Safia</a:t>
            </a:r>
            <a:r>
              <a:rPr lang="en-US" dirty="0"/>
              <a:t> Baloch</a:t>
            </a:r>
            <a:endParaRPr lang="en-GB" dirty="0"/>
          </a:p>
        </p:txBody>
      </p:sp>
    </p:spTree>
    <p:extLst>
      <p:ext uri="{BB962C8B-B14F-4D97-AF65-F5344CB8AC3E}">
        <p14:creationId xmlns:p14="http://schemas.microsoft.com/office/powerpoint/2010/main" val="1546740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25"/>
            <a:ext cx="10515600" cy="677612"/>
          </a:xfrm>
        </p:spPr>
        <p:txBody>
          <a:bodyPr>
            <a:normAutofit fontScale="90000"/>
          </a:bodyPr>
          <a:lstStyle/>
          <a:p>
            <a:r>
              <a:rPr lang="en-US" dirty="0"/>
              <a:t>Google App Engine/Amazon EC2</a:t>
            </a:r>
            <a:endParaRPr lang="en-GB" dirty="0"/>
          </a:p>
        </p:txBody>
      </p:sp>
      <p:sp>
        <p:nvSpPr>
          <p:cNvPr id="3" name="Content Placeholder 2"/>
          <p:cNvSpPr>
            <a:spLocks noGrp="1"/>
          </p:cNvSpPr>
          <p:nvPr>
            <p:ph idx="1"/>
          </p:nvPr>
        </p:nvSpPr>
        <p:spPr>
          <a:xfrm>
            <a:off x="838200" y="681036"/>
            <a:ext cx="10515600" cy="6024563"/>
          </a:xfrm>
        </p:spPr>
        <p:txBody>
          <a:bodyPr>
            <a:normAutofit fontScale="92500" lnSpcReduction="10000"/>
          </a:bodyPr>
          <a:lstStyle/>
          <a:p>
            <a:r>
              <a:rPr lang="en-US" dirty="0"/>
              <a:t>Eight issues to be addressed in setting up an environment for cloud users.</a:t>
            </a:r>
          </a:p>
          <a:p>
            <a:pPr marL="914400" lvl="1" indent="-457200">
              <a:buFont typeface="+mj-lt"/>
              <a:buAutoNum type="arabicPeriod"/>
            </a:pPr>
            <a:r>
              <a:rPr lang="en-US" dirty="0"/>
              <a:t>Redundancy for availability, so that a single machine failure </a:t>
            </a:r>
            <a:r>
              <a:rPr lang="en-US" dirty="0" err="1"/>
              <a:t>doesnt</a:t>
            </a:r>
            <a:r>
              <a:rPr lang="en-US" dirty="0"/>
              <a:t> take down the service.</a:t>
            </a:r>
            <a:endParaRPr lang="en-US" dirty="0">
              <a:solidFill>
                <a:schemeClr val="accent1"/>
              </a:solidFill>
            </a:endParaRPr>
          </a:p>
          <a:p>
            <a:pPr marL="914400" lvl="2" indent="0">
              <a:buNone/>
            </a:pPr>
            <a:r>
              <a:rPr lang="en-US" b="0" i="0" dirty="0">
                <a:solidFill>
                  <a:schemeClr val="accent1"/>
                </a:solidFill>
                <a:effectLst/>
                <a:latin typeface="Inter"/>
              </a:rPr>
              <a:t>Redundancy ensures that multiple copies of a service or data are maintained to prevent downtime in case of hardware or software failure. This way, if one machine fails, others can take over, ensuring continuous service availability.</a:t>
            </a:r>
            <a:endParaRPr lang="en-US" dirty="0">
              <a:solidFill>
                <a:schemeClr val="accent1"/>
              </a:solidFill>
            </a:endParaRPr>
          </a:p>
          <a:p>
            <a:pPr marL="914400" lvl="1" indent="-457200">
              <a:buFont typeface="+mj-lt"/>
              <a:buAutoNum type="arabicPeriod"/>
            </a:pPr>
            <a:r>
              <a:rPr lang="en-US" dirty="0"/>
              <a:t>Geographic distribution of redundant copies to preserve the service in case of disaster. </a:t>
            </a:r>
            <a:endParaRPr lang="en-US" dirty="0">
              <a:solidFill>
                <a:schemeClr val="accent1"/>
              </a:solidFill>
            </a:endParaRPr>
          </a:p>
          <a:p>
            <a:pPr marL="914400" lvl="2" indent="0">
              <a:buNone/>
            </a:pPr>
            <a:r>
              <a:rPr lang="en-US" b="0" i="0" dirty="0">
                <a:solidFill>
                  <a:schemeClr val="accent1"/>
                </a:solidFill>
                <a:effectLst/>
                <a:latin typeface="Inter"/>
              </a:rPr>
              <a:t>Distributing redundant copies across multiple geographic locations protects against regional disasters (e.g., earthquakes, floods). This ensures that even if one data center goes offline, the service can still operate from another location.</a:t>
            </a:r>
            <a:endParaRPr lang="en-US" dirty="0">
              <a:solidFill>
                <a:schemeClr val="accent1"/>
              </a:solidFill>
            </a:endParaRPr>
          </a:p>
          <a:p>
            <a:pPr marL="914400" lvl="1" indent="-457200">
              <a:buFont typeface="+mj-lt"/>
              <a:buAutoNum type="arabicPeriod"/>
            </a:pPr>
            <a:r>
              <a:rPr lang="en-US" dirty="0"/>
              <a:t>Load balancing and request routing to efficiently utilize resources.</a:t>
            </a:r>
          </a:p>
          <a:p>
            <a:pPr marL="914400" lvl="2" indent="0">
              <a:buNone/>
            </a:pPr>
            <a:r>
              <a:rPr lang="en-US" b="0" i="0" dirty="0">
                <a:solidFill>
                  <a:schemeClr val="accent1"/>
                </a:solidFill>
                <a:effectLst/>
                <a:latin typeface="Inter"/>
              </a:rPr>
              <a:t>Load balancing distributes incoming traffic across multiple servers to prevent overloading any single resource. Efficient request routing ensures that users are directed to the nearest or least busy server, optimizing performance and resource utilization.</a:t>
            </a:r>
            <a:endParaRPr lang="en-US" dirty="0">
              <a:solidFill>
                <a:schemeClr val="accent1"/>
              </a:solidFill>
            </a:endParaRPr>
          </a:p>
          <a:p>
            <a:pPr marL="914400" lvl="1" indent="-457200">
              <a:buFont typeface="+mj-lt"/>
              <a:buAutoNum type="arabicPeriod"/>
            </a:pPr>
            <a:r>
              <a:rPr lang="en-US" dirty="0"/>
              <a:t>Auto-scaling in response to changes in load to scale up or down the system.</a:t>
            </a:r>
          </a:p>
          <a:p>
            <a:pPr marL="914400" lvl="2" indent="0">
              <a:buNone/>
            </a:pPr>
            <a:r>
              <a:rPr lang="en-US" b="0" i="0" dirty="0">
                <a:solidFill>
                  <a:schemeClr val="accent1"/>
                </a:solidFill>
                <a:effectLst/>
                <a:latin typeface="Inter"/>
              </a:rPr>
              <a:t>Auto-scaling dynamically adjusts the number of active servers based on real-time demand, scaling up during peak loads and down during low usage. This ensures optimal resource usage and cost efficiency while maintaining performance.</a:t>
            </a:r>
          </a:p>
        </p:txBody>
      </p:sp>
    </p:spTree>
    <p:extLst>
      <p:ext uri="{BB962C8B-B14F-4D97-AF65-F5344CB8AC3E}">
        <p14:creationId xmlns:p14="http://schemas.microsoft.com/office/powerpoint/2010/main" val="310304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E163A-995F-977B-463F-8F820697612B}"/>
              </a:ext>
            </a:extLst>
          </p:cNvPr>
          <p:cNvSpPr>
            <a:spLocks noGrp="1"/>
          </p:cNvSpPr>
          <p:nvPr>
            <p:ph type="title"/>
          </p:nvPr>
        </p:nvSpPr>
        <p:spPr/>
        <p:txBody>
          <a:bodyPr/>
          <a:lstStyle/>
          <a:p>
            <a:r>
              <a:rPr lang="en-US" dirty="0"/>
              <a:t>Google App Engine/Amazon EC2</a:t>
            </a:r>
          </a:p>
        </p:txBody>
      </p:sp>
      <p:sp>
        <p:nvSpPr>
          <p:cNvPr id="3" name="Content Placeholder 2">
            <a:extLst>
              <a:ext uri="{FF2B5EF4-FFF2-40B4-BE49-F238E27FC236}">
                <a16:creationId xmlns:a16="http://schemas.microsoft.com/office/drawing/2014/main" id="{94546A0B-8F8F-2E71-187B-6C220E5F318E}"/>
              </a:ext>
            </a:extLst>
          </p:cNvPr>
          <p:cNvSpPr>
            <a:spLocks noGrp="1"/>
          </p:cNvSpPr>
          <p:nvPr>
            <p:ph idx="1"/>
          </p:nvPr>
        </p:nvSpPr>
        <p:spPr/>
        <p:txBody>
          <a:bodyPr>
            <a:normAutofit fontScale="92500"/>
          </a:bodyPr>
          <a:lstStyle/>
          <a:p>
            <a:pPr marL="914400" lvl="1" indent="-457200">
              <a:buFont typeface="+mj-lt"/>
              <a:buAutoNum type="arabicPeriod"/>
            </a:pPr>
            <a:r>
              <a:rPr lang="en-US" dirty="0"/>
              <a:t>Monitoring to make sure the service is still running well.</a:t>
            </a:r>
          </a:p>
          <a:p>
            <a:pPr marL="914400" lvl="2" indent="0">
              <a:buNone/>
            </a:pPr>
            <a:r>
              <a:rPr lang="en-US" b="0" i="0" dirty="0">
                <a:solidFill>
                  <a:schemeClr val="accent1"/>
                </a:solidFill>
                <a:effectLst/>
                <a:latin typeface="Inter"/>
              </a:rPr>
              <a:t>Monitoring tools track system performance, uptime, and resource usage to detect and resolve issues proactively. This ensures the service runs smoothly and meets performance benchmarks.</a:t>
            </a:r>
            <a:endParaRPr lang="en-US" dirty="0">
              <a:solidFill>
                <a:schemeClr val="accent1"/>
              </a:solidFill>
            </a:endParaRPr>
          </a:p>
          <a:p>
            <a:pPr marL="914400" lvl="1" indent="-457200">
              <a:buFont typeface="+mj-lt"/>
              <a:buAutoNum type="arabicPeriod"/>
            </a:pPr>
            <a:r>
              <a:rPr lang="en-US" dirty="0"/>
              <a:t>Logging to record messages needed for debugging or performance tuning.</a:t>
            </a:r>
          </a:p>
          <a:p>
            <a:pPr marL="914400" lvl="2" indent="0">
              <a:buNone/>
            </a:pPr>
            <a:r>
              <a:rPr lang="en-US" b="0" i="0" dirty="0">
                <a:solidFill>
                  <a:schemeClr val="accent1"/>
                </a:solidFill>
                <a:effectLst/>
                <a:latin typeface="Inter"/>
              </a:rPr>
              <a:t>Logging records system events, errors, and performance metrics for analysis. These logs are crucial for debugging issues, identifying bottlenecks, and optimizing system performance.</a:t>
            </a:r>
            <a:endParaRPr lang="en-US" dirty="0">
              <a:solidFill>
                <a:schemeClr val="accent1"/>
              </a:solidFill>
            </a:endParaRPr>
          </a:p>
          <a:p>
            <a:pPr marL="914400" lvl="1" indent="-457200">
              <a:buFont typeface="+mj-lt"/>
              <a:buAutoNum type="arabicPeriod"/>
            </a:pPr>
            <a:r>
              <a:rPr lang="en-US" dirty="0"/>
              <a:t>System upgrades, including security patching</a:t>
            </a:r>
            <a:endParaRPr lang="en-US" dirty="0">
              <a:solidFill>
                <a:schemeClr val="accent1"/>
              </a:solidFill>
            </a:endParaRPr>
          </a:p>
          <a:p>
            <a:pPr marL="914400" lvl="2" indent="0">
              <a:buNone/>
            </a:pPr>
            <a:r>
              <a:rPr lang="en-US" b="0" i="0" dirty="0">
                <a:solidFill>
                  <a:schemeClr val="accent1"/>
                </a:solidFill>
                <a:effectLst/>
                <a:latin typeface="Inter"/>
              </a:rPr>
              <a:t>Regular system upgrades and security patches are essential to protect against vulnerabilities and ensure the latest features are available. Automated tools can help streamline this process without disrupting service.</a:t>
            </a:r>
            <a:endParaRPr lang="en-US" dirty="0">
              <a:solidFill>
                <a:schemeClr val="accent1"/>
              </a:solidFill>
            </a:endParaRPr>
          </a:p>
          <a:p>
            <a:pPr marL="914400" lvl="1" indent="-457200">
              <a:buFont typeface="+mj-lt"/>
              <a:buAutoNum type="arabicPeriod"/>
            </a:pPr>
            <a:r>
              <a:rPr lang="en-US" dirty="0"/>
              <a:t>Migration to new instances as they become available</a:t>
            </a:r>
            <a:endParaRPr lang="en-US" dirty="0">
              <a:solidFill>
                <a:schemeClr val="accent1"/>
              </a:solidFill>
            </a:endParaRPr>
          </a:p>
          <a:p>
            <a:pPr marL="914400" lvl="2" indent="0">
              <a:buNone/>
            </a:pPr>
            <a:r>
              <a:rPr lang="en-US" b="0" i="0" dirty="0">
                <a:solidFill>
                  <a:schemeClr val="accent1"/>
                </a:solidFill>
                <a:effectLst/>
                <a:latin typeface="Inter"/>
              </a:rPr>
              <a:t>Migrating to new instances involves moving workloads to updated or more efficient hardware/software without downtime. This ensures the system remains modern, secure, and capable of handling evolving demands.</a:t>
            </a:r>
            <a:endParaRPr lang="en-GB" dirty="0">
              <a:solidFill>
                <a:schemeClr val="accent1"/>
              </a:solidFill>
            </a:endParaRPr>
          </a:p>
          <a:p>
            <a:endParaRPr lang="en-US" dirty="0"/>
          </a:p>
        </p:txBody>
      </p:sp>
    </p:spTree>
    <p:extLst>
      <p:ext uri="{BB962C8B-B14F-4D97-AF65-F5344CB8AC3E}">
        <p14:creationId xmlns:p14="http://schemas.microsoft.com/office/powerpoint/2010/main" val="936321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779" y="51551"/>
            <a:ext cx="10515600" cy="629486"/>
          </a:xfrm>
        </p:spPr>
        <p:txBody>
          <a:bodyPr>
            <a:normAutofit fontScale="90000"/>
          </a:bodyPr>
          <a:lstStyle/>
          <a:p>
            <a:r>
              <a:rPr lang="en-US" dirty="0"/>
              <a:t>Server-less Cloud</a:t>
            </a:r>
            <a:endParaRPr lang="en-GB" dirty="0"/>
          </a:p>
        </p:txBody>
      </p:sp>
      <p:sp>
        <p:nvSpPr>
          <p:cNvPr id="3" name="Content Placeholder 2"/>
          <p:cNvSpPr>
            <a:spLocks noGrp="1"/>
          </p:cNvSpPr>
          <p:nvPr>
            <p:ph idx="1"/>
          </p:nvPr>
        </p:nvSpPr>
        <p:spPr>
          <a:xfrm>
            <a:off x="838200" y="681038"/>
            <a:ext cx="10515600" cy="5495926"/>
          </a:xfrm>
        </p:spPr>
        <p:txBody>
          <a:bodyPr/>
          <a:lstStyle/>
          <a:p>
            <a:r>
              <a:rPr lang="en-US" dirty="0"/>
              <a:t>Cloud user simply writes the code and leaves all the server provisioning and administration tasks to the cloud provider. </a:t>
            </a:r>
          </a:p>
          <a:p>
            <a:pPr lvl="1"/>
            <a:r>
              <a:rPr lang="en-US" dirty="0"/>
              <a:t>Key Idea: “No Server management, pay-per-execution, and automatic scaling”</a:t>
            </a:r>
          </a:p>
          <a:p>
            <a:pPr marL="457200" lvl="1" indent="0">
              <a:buNone/>
            </a:pPr>
            <a:r>
              <a:rPr lang="en-US" dirty="0"/>
              <a:t>Traditional Models:</a:t>
            </a:r>
          </a:p>
          <a:p>
            <a:pPr marL="457200" lvl="1" indent="0">
              <a:buNone/>
            </a:pPr>
            <a:r>
              <a:rPr lang="en-US" dirty="0"/>
              <a:t>1: IaaS, EC2, server</a:t>
            </a:r>
          </a:p>
          <a:p>
            <a:pPr marL="457200" lvl="1" indent="0">
              <a:buNone/>
            </a:pPr>
            <a:r>
              <a:rPr lang="en-US" dirty="0"/>
              <a:t>2:  PaaS, code and server</a:t>
            </a:r>
          </a:p>
          <a:p>
            <a:pPr marL="457200" lvl="1" indent="0">
              <a:buNone/>
            </a:pPr>
            <a:r>
              <a:rPr lang="en-US" dirty="0"/>
              <a:t>3: Serverless: AWS lambda, triggered by events. </a:t>
            </a:r>
          </a:p>
        </p:txBody>
      </p:sp>
    </p:spTree>
    <p:extLst>
      <p:ext uri="{BB962C8B-B14F-4D97-AF65-F5344CB8AC3E}">
        <p14:creationId xmlns:p14="http://schemas.microsoft.com/office/powerpoint/2010/main" val="3131616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8168D-B065-8414-1FAF-B3F0B1DEB020}"/>
              </a:ext>
            </a:extLst>
          </p:cNvPr>
          <p:cNvSpPr>
            <a:spLocks noGrp="1"/>
          </p:cNvSpPr>
          <p:nvPr>
            <p:ph type="title"/>
          </p:nvPr>
        </p:nvSpPr>
        <p:spPr/>
        <p:txBody>
          <a:bodyPr/>
          <a:lstStyle/>
          <a:p>
            <a:r>
              <a:rPr lang="en-US" dirty="0"/>
              <a:t>Serverless </a:t>
            </a:r>
          </a:p>
        </p:txBody>
      </p:sp>
      <p:sp>
        <p:nvSpPr>
          <p:cNvPr id="3" name="Content Placeholder 2">
            <a:extLst>
              <a:ext uri="{FF2B5EF4-FFF2-40B4-BE49-F238E27FC236}">
                <a16:creationId xmlns:a16="http://schemas.microsoft.com/office/drawing/2014/main" id="{49306E2E-B4FE-B012-5D4D-F041280127D6}"/>
              </a:ext>
            </a:extLst>
          </p:cNvPr>
          <p:cNvSpPr>
            <a:spLocks noGrp="1"/>
          </p:cNvSpPr>
          <p:nvPr>
            <p:ph idx="1"/>
          </p:nvPr>
        </p:nvSpPr>
        <p:spPr/>
        <p:txBody>
          <a:bodyPr/>
          <a:lstStyle/>
          <a:p>
            <a:r>
              <a:rPr lang="en-US" dirty="0"/>
              <a:t>While cloud functions packaged as </a:t>
            </a:r>
            <a:r>
              <a:rPr lang="en-US" dirty="0" err="1"/>
              <a:t>FaaS</a:t>
            </a:r>
            <a:r>
              <a:rPr lang="en-US" dirty="0"/>
              <a:t> (Function as a Service) offerings (AWS lambda, GCF, IBM Cloud Function, Azure Functions) represent the core of serverless computing, </a:t>
            </a:r>
          </a:p>
          <a:p>
            <a:r>
              <a:rPr lang="en-US" dirty="0"/>
              <a:t>cloud platforms also provide specialized serverless frameworks that cater to specific application requirements as BaaS (Backend as a Service) offerings.</a:t>
            </a:r>
          </a:p>
          <a:p>
            <a:r>
              <a:rPr lang="en-US" dirty="0"/>
              <a:t>Serverless Computing = </a:t>
            </a:r>
            <a:r>
              <a:rPr lang="en-US" dirty="0" err="1"/>
              <a:t>FaaS</a:t>
            </a:r>
            <a:r>
              <a:rPr lang="en-US" dirty="0"/>
              <a:t> +BaaS</a:t>
            </a:r>
            <a:endParaRPr lang="en-GB" dirty="0"/>
          </a:p>
          <a:p>
            <a:endParaRPr lang="en-US" dirty="0"/>
          </a:p>
        </p:txBody>
      </p:sp>
    </p:spTree>
    <p:extLst>
      <p:ext uri="{BB962C8B-B14F-4D97-AF65-F5344CB8AC3E}">
        <p14:creationId xmlns:p14="http://schemas.microsoft.com/office/powerpoint/2010/main" val="4277588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EA469-2C4F-92B6-EE3F-33C023A7AB50}"/>
              </a:ext>
            </a:extLst>
          </p:cNvPr>
          <p:cNvSpPr>
            <a:spLocks noGrp="1"/>
          </p:cNvSpPr>
          <p:nvPr>
            <p:ph type="title"/>
          </p:nvPr>
        </p:nvSpPr>
        <p:spPr/>
        <p:txBody>
          <a:bodyPr/>
          <a:lstStyle/>
          <a:p>
            <a:r>
              <a:rPr lang="en-US" dirty="0"/>
              <a:t>Key Concepts </a:t>
            </a:r>
          </a:p>
        </p:txBody>
      </p:sp>
      <p:sp>
        <p:nvSpPr>
          <p:cNvPr id="3" name="Content Placeholder 2">
            <a:extLst>
              <a:ext uri="{FF2B5EF4-FFF2-40B4-BE49-F238E27FC236}">
                <a16:creationId xmlns:a16="http://schemas.microsoft.com/office/drawing/2014/main" id="{F3AD73E4-E073-39F5-3206-19317DD1BD1A}"/>
              </a:ext>
            </a:extLst>
          </p:cNvPr>
          <p:cNvSpPr>
            <a:spLocks noGrp="1"/>
          </p:cNvSpPr>
          <p:nvPr>
            <p:ph idx="1"/>
          </p:nvPr>
        </p:nvSpPr>
        <p:spPr/>
        <p:txBody>
          <a:bodyPr/>
          <a:lstStyle/>
          <a:p>
            <a:r>
              <a:rPr lang="en-US" dirty="0"/>
              <a:t>Event-driven Architecture</a:t>
            </a:r>
          </a:p>
          <a:p>
            <a:pPr lvl="1"/>
            <a:r>
              <a:rPr lang="en-US" dirty="0"/>
              <a:t>Functions are triggered by events </a:t>
            </a:r>
          </a:p>
          <a:p>
            <a:r>
              <a:rPr lang="en-US" dirty="0"/>
              <a:t>Statelessness </a:t>
            </a:r>
          </a:p>
          <a:p>
            <a:pPr lvl="1"/>
            <a:r>
              <a:rPr lang="en-US" dirty="0"/>
              <a:t>Functions are ephemeral and stateless</a:t>
            </a:r>
          </a:p>
          <a:p>
            <a:pPr lvl="1"/>
            <a:r>
              <a:rPr lang="en-US" dirty="0"/>
              <a:t>How to preserve  function state?</a:t>
            </a:r>
          </a:p>
          <a:p>
            <a:r>
              <a:rPr lang="en-US" dirty="0"/>
              <a:t>Scaling </a:t>
            </a:r>
          </a:p>
          <a:p>
            <a:pPr lvl="1"/>
            <a:r>
              <a:rPr lang="en-US" dirty="0"/>
              <a:t>Automatic scaling from zero to thousands of instances </a:t>
            </a:r>
          </a:p>
          <a:p>
            <a:r>
              <a:rPr lang="en-US" dirty="0" err="1"/>
              <a:t>FaaS</a:t>
            </a:r>
            <a:endParaRPr lang="en-US" dirty="0"/>
          </a:p>
          <a:p>
            <a:pPr lvl="1"/>
            <a:r>
              <a:rPr lang="en-US" dirty="0"/>
              <a:t>Core component: Deploy function not server </a:t>
            </a:r>
          </a:p>
          <a:p>
            <a:pPr lvl="1"/>
            <a:endParaRPr lang="en-US" dirty="0"/>
          </a:p>
          <a:p>
            <a:endParaRPr lang="en-US" dirty="0"/>
          </a:p>
        </p:txBody>
      </p:sp>
    </p:spTree>
    <p:extLst>
      <p:ext uri="{BB962C8B-B14F-4D97-AF65-F5344CB8AC3E}">
        <p14:creationId xmlns:p14="http://schemas.microsoft.com/office/powerpoint/2010/main" val="3931981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250" y="16180"/>
            <a:ext cx="10515600" cy="953411"/>
          </a:xfrm>
        </p:spPr>
        <p:txBody>
          <a:bodyPr/>
          <a:lstStyle/>
          <a:p>
            <a:r>
              <a:rPr lang="en-US" dirty="0"/>
              <a:t>Emergence of Server-less Computing</a:t>
            </a:r>
            <a:endParaRPr lang="en-GB" dirty="0"/>
          </a:p>
        </p:txBody>
      </p:sp>
      <p:sp>
        <p:nvSpPr>
          <p:cNvPr id="3" name="Content Placeholder 2"/>
          <p:cNvSpPr>
            <a:spLocks noGrp="1"/>
          </p:cNvSpPr>
          <p:nvPr>
            <p:ph idx="1"/>
          </p:nvPr>
        </p:nvSpPr>
        <p:spPr>
          <a:xfrm>
            <a:off x="838201" y="969591"/>
            <a:ext cx="10515600" cy="953411"/>
          </a:xfrm>
        </p:spPr>
        <p:txBody>
          <a:bodyPr/>
          <a:lstStyle/>
          <a:p>
            <a:r>
              <a:rPr lang="en-US" dirty="0"/>
              <a:t>summary  of differences between </a:t>
            </a:r>
            <a:r>
              <a:rPr lang="en-US" dirty="0" err="1"/>
              <a:t>serverless</a:t>
            </a:r>
            <a:r>
              <a:rPr lang="en-US" dirty="0"/>
              <a:t> and the traditional approach.</a:t>
            </a:r>
          </a:p>
          <a:p>
            <a:endParaRPr lang="en-US" dirty="0"/>
          </a:p>
          <a:p>
            <a:endParaRPr lang="en-GB" dirty="0"/>
          </a:p>
        </p:txBody>
      </p:sp>
      <p:pic>
        <p:nvPicPr>
          <p:cNvPr id="4" name="Picture 3"/>
          <p:cNvPicPr>
            <a:picLocks noChangeAspect="1"/>
          </p:cNvPicPr>
          <p:nvPr/>
        </p:nvPicPr>
        <p:blipFill>
          <a:blip r:embed="rId2"/>
          <a:stretch>
            <a:fillRect/>
          </a:stretch>
        </p:blipFill>
        <p:spPr>
          <a:xfrm>
            <a:off x="838201" y="1809345"/>
            <a:ext cx="10309698" cy="5048655"/>
          </a:xfrm>
          <a:prstGeom prst="rect">
            <a:avLst/>
          </a:prstGeom>
        </p:spPr>
      </p:pic>
    </p:spTree>
    <p:extLst>
      <p:ext uri="{BB962C8B-B14F-4D97-AF65-F5344CB8AC3E}">
        <p14:creationId xmlns:p14="http://schemas.microsoft.com/office/powerpoint/2010/main" val="1596709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2558" y="82821"/>
            <a:ext cx="10515600" cy="1074569"/>
          </a:xfrm>
        </p:spPr>
        <p:txBody>
          <a:bodyPr>
            <a:normAutofit fontScale="90000"/>
          </a:bodyPr>
          <a:lstStyle/>
          <a:p>
            <a:r>
              <a:rPr lang="en-US" dirty="0"/>
              <a:t>There are three critical distinctions between </a:t>
            </a:r>
            <a:r>
              <a:rPr lang="en-US" dirty="0" err="1"/>
              <a:t>serverless</a:t>
            </a:r>
            <a:r>
              <a:rPr lang="en-US" dirty="0"/>
              <a:t> and </a:t>
            </a:r>
            <a:r>
              <a:rPr lang="en-US" dirty="0" err="1"/>
              <a:t>serverful</a:t>
            </a:r>
            <a:r>
              <a:rPr lang="en-US" dirty="0"/>
              <a:t> computing</a:t>
            </a:r>
            <a:endParaRPr lang="en-GB" dirty="0"/>
          </a:p>
        </p:txBody>
      </p:sp>
      <p:sp>
        <p:nvSpPr>
          <p:cNvPr id="3" name="Content Placeholder 2"/>
          <p:cNvSpPr>
            <a:spLocks noGrp="1"/>
          </p:cNvSpPr>
          <p:nvPr>
            <p:ph idx="1"/>
          </p:nvPr>
        </p:nvSpPr>
        <p:spPr>
          <a:xfrm>
            <a:off x="0" y="1157390"/>
            <a:ext cx="5525311" cy="5019573"/>
          </a:xfrm>
        </p:spPr>
        <p:txBody>
          <a:bodyPr>
            <a:noAutofit/>
          </a:bodyPr>
          <a:lstStyle/>
          <a:p>
            <a:r>
              <a:rPr lang="en-GB" sz="2000" dirty="0"/>
              <a:t>Decoupled computation and storage.</a:t>
            </a:r>
          </a:p>
          <a:p>
            <a:r>
              <a:rPr lang="en-US" sz="2000" dirty="0"/>
              <a:t>Executing code without managing resource allocation.</a:t>
            </a:r>
          </a:p>
          <a:p>
            <a:r>
              <a:rPr lang="en-US" sz="2000" dirty="0"/>
              <a:t>Paying in proportion to resources used instead of for resources allocated. </a:t>
            </a:r>
          </a:p>
          <a:p>
            <a:r>
              <a:rPr lang="en-US" sz="2000" dirty="0"/>
              <a:t>The </a:t>
            </a:r>
            <a:r>
              <a:rPr lang="en-US" sz="2000" dirty="0" err="1"/>
              <a:t>serverless</a:t>
            </a:r>
            <a:r>
              <a:rPr lang="en-US" sz="2000" dirty="0"/>
              <a:t> layer sits between applications and the base cloud platform, simplifying cloud programming. </a:t>
            </a:r>
          </a:p>
          <a:p>
            <a:r>
              <a:rPr lang="en-US" sz="2000" dirty="0"/>
              <a:t>Cloud functions (i.e., </a:t>
            </a:r>
            <a:r>
              <a:rPr lang="en-US" sz="2000" dirty="0" err="1"/>
              <a:t>FaaS</a:t>
            </a:r>
            <a:r>
              <a:rPr lang="en-US" sz="2000" dirty="0"/>
              <a:t>) provide general compute and are complemented by an ecosystem of specialized Backend as a Service (BaaS) offerings such as object storage, databases, or messaging.</a:t>
            </a:r>
          </a:p>
          <a:p>
            <a:r>
              <a:rPr lang="en-US" sz="2000" dirty="0"/>
              <a:t>The base underlying base cloud platform includes virtual machines (VM), private networks (VPC), virtualized block storage, Identity and Access Management (IAM), as well as billing and monitoring. </a:t>
            </a:r>
            <a:endParaRPr lang="en-GB" sz="2000" dirty="0"/>
          </a:p>
        </p:txBody>
      </p:sp>
      <p:pic>
        <p:nvPicPr>
          <p:cNvPr id="4" name="Picture 3"/>
          <p:cNvPicPr>
            <a:picLocks noChangeAspect="1"/>
          </p:cNvPicPr>
          <p:nvPr/>
        </p:nvPicPr>
        <p:blipFill>
          <a:blip r:embed="rId2"/>
          <a:stretch>
            <a:fillRect/>
          </a:stretch>
        </p:blipFill>
        <p:spPr>
          <a:xfrm>
            <a:off x="5775158" y="1690688"/>
            <a:ext cx="6578969" cy="5019573"/>
          </a:xfrm>
          <a:prstGeom prst="rect">
            <a:avLst/>
          </a:prstGeom>
        </p:spPr>
      </p:pic>
    </p:spTree>
    <p:extLst>
      <p:ext uri="{BB962C8B-B14F-4D97-AF65-F5344CB8AC3E}">
        <p14:creationId xmlns:p14="http://schemas.microsoft.com/office/powerpoint/2010/main" val="23587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diagram of a software process&#10;&#10;AI-generated content may be incorrect.">
            <a:extLst>
              <a:ext uri="{FF2B5EF4-FFF2-40B4-BE49-F238E27FC236}">
                <a16:creationId xmlns:a16="http://schemas.microsoft.com/office/drawing/2014/main" id="{FE066566-5A93-0D8A-CD89-1DBA317B511F}"/>
              </a:ext>
            </a:extLst>
          </p:cNvPr>
          <p:cNvPicPr>
            <a:picLocks noGrp="1" noChangeAspect="1"/>
          </p:cNvPicPr>
          <p:nvPr>
            <p:ph idx="1"/>
          </p:nvPr>
        </p:nvPicPr>
        <p:blipFill>
          <a:blip r:embed="rId2"/>
          <a:srcRect l="15095"/>
          <a:stretch/>
        </p:blipFill>
        <p:spPr>
          <a:xfrm>
            <a:off x="20" y="1282"/>
            <a:ext cx="12191980" cy="6856718"/>
          </a:xfrm>
          <a:prstGeom prst="rect">
            <a:avLst/>
          </a:prstGeom>
        </p:spPr>
      </p:pic>
    </p:spTree>
    <p:extLst>
      <p:ext uri="{BB962C8B-B14F-4D97-AF65-F5344CB8AC3E}">
        <p14:creationId xmlns:p14="http://schemas.microsoft.com/office/powerpoint/2010/main" val="974391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941" y="85588"/>
            <a:ext cx="10515600" cy="656942"/>
          </a:xfrm>
        </p:spPr>
        <p:txBody>
          <a:bodyPr>
            <a:normAutofit fontScale="90000"/>
          </a:bodyPr>
          <a:lstStyle/>
          <a:p>
            <a:r>
              <a:rPr lang="en-US" dirty="0" err="1"/>
              <a:t>Serverless</a:t>
            </a:r>
            <a:r>
              <a:rPr lang="en-US" dirty="0"/>
              <a:t> Apps</a:t>
            </a:r>
            <a:endParaRPr lang="en-GB" dirty="0"/>
          </a:p>
        </p:txBody>
      </p:sp>
      <p:sp>
        <p:nvSpPr>
          <p:cNvPr id="3" name="Content Placeholder 2"/>
          <p:cNvSpPr>
            <a:spLocks noGrp="1"/>
          </p:cNvSpPr>
          <p:nvPr>
            <p:ph idx="1"/>
          </p:nvPr>
        </p:nvSpPr>
        <p:spPr>
          <a:xfrm>
            <a:off x="222941" y="987070"/>
            <a:ext cx="5037306" cy="5870929"/>
          </a:xfrm>
        </p:spPr>
        <p:txBody>
          <a:bodyPr>
            <a:normAutofit fontScale="92500"/>
          </a:bodyPr>
          <a:lstStyle/>
          <a:p>
            <a:r>
              <a:rPr lang="en-US" dirty="0"/>
              <a:t>In this example, you create an app which automatically encrypts PDF files when they are uploaded to an Amazon Simple Storage Service (Amazon S3) bucket. To implement this app, you create the following resources:</a:t>
            </a:r>
          </a:p>
          <a:p>
            <a:pPr lvl="1"/>
            <a:r>
              <a:rPr lang="en-US" dirty="0"/>
              <a:t>An S3 bucket for users to upload PDF files to</a:t>
            </a:r>
          </a:p>
          <a:p>
            <a:pPr lvl="1"/>
            <a:r>
              <a:rPr lang="en-US" dirty="0"/>
              <a:t>A Lambda function in Python which reads the uploaded file and creates an encrypted, password-protected version of it</a:t>
            </a:r>
          </a:p>
          <a:p>
            <a:pPr lvl="1"/>
            <a:r>
              <a:rPr lang="en-US" dirty="0"/>
              <a:t>A second S3 bucket for Lambda to save the encrypted file in</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6239" y="987070"/>
            <a:ext cx="6931753" cy="5365091"/>
          </a:xfrm>
          <a:prstGeom prst="rect">
            <a:avLst/>
          </a:prstGeom>
        </p:spPr>
      </p:pic>
    </p:spTree>
    <p:extLst>
      <p:ext uri="{BB962C8B-B14F-4D97-AF65-F5344CB8AC3E}">
        <p14:creationId xmlns:p14="http://schemas.microsoft.com/office/powerpoint/2010/main" val="2191522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Limitations of today’s </a:t>
            </a:r>
            <a:r>
              <a:rPr lang="en-US" dirty="0" err="1"/>
              <a:t>serverless</a:t>
            </a:r>
            <a:r>
              <a:rPr lang="en-US" dirty="0"/>
              <a:t> computing Platforms</a:t>
            </a:r>
            <a:endParaRPr lang="en-GB" dirty="0"/>
          </a:p>
        </p:txBody>
      </p:sp>
      <p:sp>
        <p:nvSpPr>
          <p:cNvPr id="3" name="Content Placeholder 2"/>
          <p:cNvSpPr>
            <a:spLocks noGrp="1"/>
          </p:cNvSpPr>
          <p:nvPr>
            <p:ph idx="1"/>
          </p:nvPr>
        </p:nvSpPr>
        <p:spPr/>
        <p:txBody>
          <a:bodyPr/>
          <a:lstStyle/>
          <a:p>
            <a:r>
              <a:rPr lang="en-US" dirty="0"/>
              <a:t>Hostel Task</a:t>
            </a:r>
            <a:endParaRPr lang="en-GB" dirty="0"/>
          </a:p>
        </p:txBody>
      </p:sp>
    </p:spTree>
    <p:extLst>
      <p:ext uri="{BB962C8B-B14F-4D97-AF65-F5344CB8AC3E}">
        <p14:creationId xmlns:p14="http://schemas.microsoft.com/office/powerpoint/2010/main" val="2118964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	</a:t>
            </a:r>
            <a:endParaRPr lang="en-GB" dirty="0"/>
          </a:p>
        </p:txBody>
      </p:sp>
      <p:sp>
        <p:nvSpPr>
          <p:cNvPr id="3" name="Content Placeholder 2"/>
          <p:cNvSpPr>
            <a:spLocks noGrp="1"/>
          </p:cNvSpPr>
          <p:nvPr>
            <p:ph idx="1"/>
          </p:nvPr>
        </p:nvSpPr>
        <p:spPr/>
        <p:txBody>
          <a:bodyPr/>
          <a:lstStyle/>
          <a:p>
            <a:r>
              <a:rPr lang="en-US" dirty="0"/>
              <a:t>How does </a:t>
            </a:r>
            <a:r>
              <a:rPr lang="en-US" dirty="0" err="1"/>
              <a:t>serverless</a:t>
            </a:r>
            <a:r>
              <a:rPr lang="en-US" dirty="0"/>
              <a:t> computing relates to Kubernetes?</a:t>
            </a:r>
            <a:endParaRPr lang="en-GB" dirty="0"/>
          </a:p>
        </p:txBody>
      </p:sp>
    </p:spTree>
    <p:extLst>
      <p:ext uri="{BB962C8B-B14F-4D97-AF65-F5344CB8AC3E}">
        <p14:creationId xmlns:p14="http://schemas.microsoft.com/office/powerpoint/2010/main" val="25255542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TotalTime>
  <Words>806</Words>
  <Application>Microsoft Office PowerPoint</Application>
  <PresentationFormat>Widescreen</PresentationFormat>
  <Paragraphs>61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Inter</vt:lpstr>
      <vt:lpstr>Office Theme</vt:lpstr>
      <vt:lpstr>Cloud Programming Model: Server-less Computing</vt:lpstr>
      <vt:lpstr>Google App Engine/Amazon EC2</vt:lpstr>
      <vt:lpstr>Google App Engine/Amazon EC2</vt:lpstr>
      <vt:lpstr>Server-less Cloud</vt:lpstr>
      <vt:lpstr>Serverless </vt:lpstr>
      <vt:lpstr>Key Concepts </vt:lpstr>
      <vt:lpstr>Emergence of Server-less Computing</vt:lpstr>
      <vt:lpstr>There are three critical distinctions between serverless and serverful computing</vt:lpstr>
      <vt:lpstr>PowerPoint Presentation</vt:lpstr>
      <vt:lpstr>Serverless Apps</vt:lpstr>
      <vt:lpstr>Limitations of today’s serverless computing Platforms</vt:lpstr>
      <vt:lpstr>Discuss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Safia Baloch Lecturer FCS</dc:creator>
  <cp:lastModifiedBy>Safia Baloch Lecturer FCS</cp:lastModifiedBy>
  <cp:revision>15</cp:revision>
  <dcterms:created xsi:type="dcterms:W3CDTF">2025-03-10T03:28:24Z</dcterms:created>
  <dcterms:modified xsi:type="dcterms:W3CDTF">2025-03-10T05:29:18Z</dcterms:modified>
</cp:coreProperties>
</file>