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3" r:id="rId10"/>
    <p:sldId id="266" r:id="rId11"/>
    <p:sldId id="267" r:id="rId12"/>
    <p:sldId id="268" r:id="rId13"/>
    <p:sldId id="269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5C258-E118-C4C3-7A2F-1804F973F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BFDE4-764C-1FAA-98EC-212A1D46A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985CE-0567-5E32-40DD-B66C219F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4D83B-F375-7A2A-A9D3-42836D15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21EFD-FCF8-185E-EE80-4D8CBD33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0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CB803-1E19-7058-870A-F55E56C6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5E20C-7573-534E-D0F8-18BF0D64D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7B4D7-19B9-E44B-ED3D-CE64D896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B0B8-8D41-8D56-3E0A-9A06B889D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2E023-E4B2-DA48-169C-18B9A023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2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E3B2-9BD6-5329-E870-36C42385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27CAF-FFE4-26DE-BA0B-DBD23C876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98C0-4EAE-8C03-D123-CB8196D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9B1E3-4A3D-9444-AA89-8C0CFE86E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29220-33B4-46D7-002A-02E46154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6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70FD-7A9F-D067-A12A-A49FEB20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9877-35C9-D1C3-ACAB-D42F94832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6BE34-3ECE-F698-8FB3-A7E10B417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BD31A-148C-1697-E155-AFE71F4B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0A5E8-4A98-28C4-FC04-DDA66FCD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2D229-7772-37C5-EAFF-B5A25670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588C-7DF5-F7C8-76C6-61127817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EC0F6-BB30-BBBB-050D-2112A9320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21DEE-BA06-0CA2-2FD5-30F8F51EF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D7F45-FC45-263A-BEF7-1345F3E87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44CD3-668F-9F49-C807-3D670569E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F6D179-0855-D443-C9CF-FC1404B7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F853D9-9357-8D43-0B45-CE0F0EC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5D35B-B4EB-44FD-5940-D6E12136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8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B9A80-D801-EA49-84F4-682CBE7B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E6510-C176-E790-6130-3A0180E6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61E71-5E10-7BC1-43C0-C039A7B4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1BC08-BA78-7544-6F3F-6D5A2EE5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4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61966-81CF-41B4-A5F5-C6D98E5D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8271FA-1497-C59D-588E-98692ABCB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A914-BE8B-AF17-290C-1D1A109D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9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C8A2D-EF9C-FAE1-50F7-311D8A54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878DC-F61D-3D82-9608-F6EEF7E61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8D214-D91F-C2AA-4FF9-75183434B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7B9F7-53F5-EF66-5C43-2D2BDFD31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7B341-7D0F-0D4D-A18E-569144F9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F1155-FBE7-51A4-8717-275595CF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4F00-3696-5DB8-361C-FA820534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F2D93-B4F4-7574-D2D4-64961A7B6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C25E4-04F3-E298-542C-E4981489C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090E1-6A6E-7FF0-B84A-FE92D84E9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A8D45-7949-BC1E-7A59-9E1A3C56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665FA-1867-5B7C-4363-026914EC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91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5AC3-7514-735C-C215-ADF8BB0C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D0729-A663-1527-9D1A-FF0148C8E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D1FB5-EC98-E873-1691-F8099051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90E9A-256A-112B-5F37-08435688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B7E15-76B7-1282-820D-E610BE3F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55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A0F9E-3070-3EAD-6463-569D55152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A48DA-C70E-8D06-4467-A9C96A30C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DD727-9EDE-648E-B838-0F9C66BC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57205-8B52-8095-6F86-47E92A98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CB832-D830-A81D-205A-E9377CCA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4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CA6337-2687-5921-F259-90285F1D5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B0375-ACB3-BE68-06AB-75AF2F025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A56E7-BF42-5264-99BE-062BC40EE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92028-C843-4C15-822E-246FE883E206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0B861-8567-5145-A25A-1605BB215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731E7-9CB2-1C44-3150-FD72E6846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7772A-BB5D-4126-8BE7-C8ADF4016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3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0092-B7AB-15D0-8E8C-C5B8257FB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Cloud Resource Management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C5AF5-D281-120E-8BE9-65FB13265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Open Stack</a:t>
            </a:r>
          </a:p>
        </p:txBody>
      </p:sp>
    </p:spTree>
    <p:extLst>
      <p:ext uri="{BB962C8B-B14F-4D97-AF65-F5344CB8AC3E}">
        <p14:creationId xmlns:p14="http://schemas.microsoft.com/office/powerpoint/2010/main" val="20544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3DC8-3945-E7A3-555E-DC94CA03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4F48-4B7D-4019-5CFA-56F4E7D7D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OpenStack is the framework for building a cloud operating system, an open source project designed to provide software for the </a:t>
            </a:r>
            <a:r>
              <a:rPr lang="en-US" b="1" dirty="0"/>
              <a:t>construction and management </a:t>
            </a:r>
            <a:r>
              <a:rPr lang="en-US" dirty="0"/>
              <a:t>of public and private clouds, comprising a large number of peripheral components, integrating and managing a wide range of </a:t>
            </a:r>
            <a:r>
              <a:rPr lang="en-US" b="1" dirty="0"/>
              <a:t>hardware devices</a:t>
            </a:r>
            <a:r>
              <a:rPr lang="en-US" dirty="0"/>
              <a:t>, and hosting a variety of </a:t>
            </a:r>
            <a:r>
              <a:rPr lang="en-US" b="1" dirty="0"/>
              <a:t>upper-level applications </a:t>
            </a:r>
            <a:r>
              <a:rPr lang="en-US" dirty="0"/>
              <a:t>and services, resulting in a complete and robust </a:t>
            </a:r>
            <a:r>
              <a:rPr lang="en-US" b="1" dirty="0"/>
              <a:t>cloud computing system.</a:t>
            </a:r>
          </a:p>
          <a:p>
            <a:pPr algn="just"/>
            <a:r>
              <a:rPr lang="en-US" dirty="0"/>
              <a:t> deploying infrastructure as a service (IaaS), or building a complete framework for a cloud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3274830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E43D61-C18E-D9A9-C38A-80565FC44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803" y="643466"/>
            <a:ext cx="71423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5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FB72-5249-1B34-40B7-4AA204D0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Openstack</a:t>
            </a:r>
            <a:r>
              <a:rPr lang="en-US" dirty="0"/>
              <a:t> as OS Framework and  not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ADEE2-F80F-0A1E-EA61-D9944686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OpenStack cannot independently implement resource access and abstraction, but needs to work with the underlying virtualization software, software definition storage, software definition network, and other software.</a:t>
            </a:r>
          </a:p>
          <a:p>
            <a:r>
              <a:rPr lang="en-US" dirty="0"/>
              <a:t>cannot independently provide comprehensive application life cycle management capabilities but needs to integrate various management software platforms at the upper level. </a:t>
            </a:r>
          </a:p>
          <a:p>
            <a:r>
              <a:rPr lang="en-US" dirty="0"/>
              <a:t>does not have complete system management and maintenance capabilities, and when put into use, it needs to integrate various management software and maintenance tools.</a:t>
            </a:r>
          </a:p>
          <a:p>
            <a:r>
              <a:rPr lang="en-US" dirty="0"/>
              <a:t>OpenStack's human–machine interface is not rich, powerful, etc.</a:t>
            </a:r>
          </a:p>
        </p:txBody>
      </p:sp>
    </p:spTree>
    <p:extLst>
      <p:ext uri="{BB962C8B-B14F-4D97-AF65-F5344CB8AC3E}">
        <p14:creationId xmlns:p14="http://schemas.microsoft.com/office/powerpoint/2010/main" val="271262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60D7-9A4D-1CDA-48E9-73F239E2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OpenStack Core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DE2F8-3D17-214A-3F1E-EEC45823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Nova</a:t>
            </a:r>
          </a:p>
          <a:p>
            <a:pPr lvl="1"/>
            <a:r>
              <a:rPr lang="en-US" dirty="0"/>
              <a:t>Controller to support all processing of life cycle of instances within OpenStack, and manage and scale requirements.</a:t>
            </a:r>
          </a:p>
          <a:p>
            <a:pPr lvl="1"/>
            <a:r>
              <a:rPr lang="en-US" dirty="0"/>
              <a:t>Can not provide virtualization and use </a:t>
            </a:r>
            <a:r>
              <a:rPr lang="en-US" dirty="0" err="1"/>
              <a:t>LibVirt</a:t>
            </a:r>
            <a:r>
              <a:rPr lang="en-US" dirty="0"/>
              <a:t> API to support interaction between hypervisors.</a:t>
            </a:r>
          </a:p>
          <a:p>
            <a:r>
              <a:rPr lang="en-US" dirty="0"/>
              <a:t>Swift</a:t>
            </a:r>
          </a:p>
          <a:p>
            <a:pPr lvl="1"/>
            <a:r>
              <a:rPr lang="en-US" dirty="0"/>
              <a:t>Provide Object Storage Services, which allow files to be retrieved. Not mounting. </a:t>
            </a:r>
          </a:p>
          <a:p>
            <a:pPr lvl="1"/>
            <a:r>
              <a:rPr lang="en-US" dirty="0"/>
              <a:t>Provides consistent virtual object storage.</a:t>
            </a:r>
          </a:p>
          <a:p>
            <a:pPr lvl="1"/>
            <a:r>
              <a:rPr lang="en-US" dirty="0"/>
              <a:t>Highly scalable, can store billions of objects with distributed storage nodes, has built in fault management, archiving , streaming capabilities.</a:t>
            </a:r>
          </a:p>
          <a:p>
            <a:r>
              <a:rPr lang="en-US" dirty="0"/>
              <a:t>Glance</a:t>
            </a:r>
          </a:p>
          <a:p>
            <a:pPr lvl="1"/>
            <a:r>
              <a:rPr lang="en-US" dirty="0"/>
              <a:t>Provide directory and storage for virtual disk images. The disk images are used in Nova component. </a:t>
            </a:r>
          </a:p>
          <a:p>
            <a:pPr lvl="1"/>
            <a:r>
              <a:rPr lang="en-US" dirty="0"/>
              <a:t>Perform mirror management. </a:t>
            </a:r>
          </a:p>
          <a:p>
            <a:r>
              <a:rPr lang="en-US" dirty="0"/>
              <a:t>Keystone</a:t>
            </a:r>
          </a:p>
          <a:p>
            <a:pPr lvl="1"/>
            <a:r>
              <a:rPr lang="en-US" dirty="0"/>
              <a:t>Provide authentication and authorization for all services on </a:t>
            </a:r>
            <a:r>
              <a:rPr lang="en-US" dirty="0" err="1"/>
              <a:t>Openstack</a:t>
            </a:r>
            <a:r>
              <a:rPr lang="en-US" dirty="0"/>
              <a:t>.  The most critical component in </a:t>
            </a:r>
            <a:r>
              <a:rPr lang="en-US" dirty="0" err="1"/>
              <a:t>openstack</a:t>
            </a:r>
            <a:r>
              <a:rPr lang="en-US" dirty="0"/>
              <a:t>. </a:t>
            </a:r>
          </a:p>
          <a:p>
            <a:r>
              <a:rPr lang="en-US" dirty="0"/>
              <a:t>Neutron</a:t>
            </a:r>
          </a:p>
          <a:p>
            <a:pPr lvl="1"/>
            <a:r>
              <a:rPr lang="en-US" dirty="0"/>
              <a:t>Core component to provide network services. Use SDN, software based network resource management and various network related technologies in Linux OS to support third party plug-ins.</a:t>
            </a:r>
          </a:p>
          <a:p>
            <a:r>
              <a:rPr lang="en-US" dirty="0"/>
              <a:t>Cinder</a:t>
            </a:r>
          </a:p>
          <a:p>
            <a:pPr lvl="1"/>
            <a:r>
              <a:rPr lang="en-US" dirty="0"/>
              <a:t>Virtual component, store the disk files and data used by VM.</a:t>
            </a:r>
          </a:p>
          <a:p>
            <a:pPr lvl="1"/>
            <a:r>
              <a:rPr lang="en-US" dirty="0"/>
              <a:t>Provides block storage services  for instances, </a:t>
            </a:r>
          </a:p>
          <a:p>
            <a:pPr lvl="1"/>
            <a:r>
              <a:rPr lang="en-US" dirty="0"/>
              <a:t>Block storage Drives determine the  allocation and consumption of storage.</a:t>
            </a:r>
          </a:p>
          <a:p>
            <a:r>
              <a:rPr lang="en-US" dirty="0"/>
              <a:t>Horizon</a:t>
            </a:r>
          </a:p>
          <a:p>
            <a:pPr lvl="1"/>
            <a:r>
              <a:rPr lang="en-US" dirty="0"/>
              <a:t>Horizon provides a Web-based interface that enables cloud administrators and users to manage a variety of OpenStack resources and services.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74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3D136-F1AF-15A0-6DCF-0B18F4DF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432" y="0"/>
            <a:ext cx="11646567" cy="834189"/>
          </a:xfrm>
        </p:spPr>
        <p:txBody>
          <a:bodyPr>
            <a:noAutofit/>
          </a:bodyPr>
          <a:lstStyle/>
          <a:p>
            <a:r>
              <a:rPr lang="en-US" sz="3600" dirty="0"/>
              <a:t>The logical relationship between OpenStack components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8CB18F-BF14-4982-0DD1-6094207FF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433" y="834189"/>
            <a:ext cx="11069052" cy="5871411"/>
          </a:xfrm>
        </p:spPr>
      </p:pic>
    </p:spTree>
    <p:extLst>
      <p:ext uri="{BB962C8B-B14F-4D97-AF65-F5344CB8AC3E}">
        <p14:creationId xmlns:p14="http://schemas.microsoft.com/office/powerpoint/2010/main" val="369860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AF89-2D53-6749-3A05-C922A527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Relationship Between OpenStack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23B66-9049-34F5-3108-7A730C5B9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OpenStack's services are called through a unified REST-style API to achieve loose coupling of the system. </a:t>
            </a:r>
          </a:p>
          <a:p>
            <a:r>
              <a:rPr lang="en-US" dirty="0"/>
              <a:t>What is loose coupling architecture?</a:t>
            </a:r>
          </a:p>
          <a:p>
            <a:r>
              <a:rPr lang="en-US" dirty="0"/>
              <a:t> loosely coupled architecture also brings some difficulties to maintaining the whole system, and operations personnel need to master more system-related knowledge to debug the components that are in trouble. </a:t>
            </a:r>
          </a:p>
          <a:p>
            <a:r>
              <a:rPr lang="en-US" dirty="0"/>
              <a:t>developers and maintenance personnel must understand the interchange relation ships between components.</a:t>
            </a:r>
          </a:p>
        </p:txBody>
      </p:sp>
    </p:spTree>
    <p:extLst>
      <p:ext uri="{BB962C8B-B14F-4D97-AF65-F5344CB8AC3E}">
        <p14:creationId xmlns:p14="http://schemas.microsoft.com/office/powerpoint/2010/main" val="78690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B9BE-B7A0-1A4C-DB2A-84441E38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and proprietary or closed source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E036-89FF-FE13-E52F-26D2DCB37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this ?</a:t>
            </a:r>
          </a:p>
        </p:txBody>
      </p:sp>
    </p:spTree>
    <p:extLst>
      <p:ext uri="{BB962C8B-B14F-4D97-AF65-F5344CB8AC3E}">
        <p14:creationId xmlns:p14="http://schemas.microsoft.com/office/powerpoint/2010/main" val="198423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4239-3706-5F16-2BA3-6CA0207C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Eucalyptus Cloud as IaaS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05EA7-06A1-07B3-7FA3-90861D3D4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IaaS Style is private and hybrid clouds.</a:t>
            </a:r>
          </a:p>
          <a:p>
            <a:r>
              <a:rPr lang="en-US" dirty="0"/>
              <a:t>Infrastructure resources (machines, network and storage )</a:t>
            </a:r>
          </a:p>
          <a:p>
            <a:pPr lvl="1"/>
            <a:r>
              <a:rPr lang="en-US" dirty="0"/>
              <a:t>Implemented inside existing data center</a:t>
            </a:r>
          </a:p>
          <a:p>
            <a:r>
              <a:rPr lang="en-US" dirty="0"/>
              <a:t>Implement industry standard AWS APIs.</a:t>
            </a:r>
          </a:p>
          <a:p>
            <a:r>
              <a:rPr lang="en-US" dirty="0"/>
              <a:t>Provide own set of command line tools (Euca2ools):internal and external</a:t>
            </a:r>
          </a:p>
          <a:p>
            <a:r>
              <a:rPr lang="en-US" dirty="0"/>
              <a:t>The main components are Cluster controller , cloud controller, Node controller,  walrus storage controller and storage controller </a:t>
            </a:r>
          </a:p>
        </p:txBody>
      </p:sp>
    </p:spTree>
    <p:extLst>
      <p:ext uri="{BB962C8B-B14F-4D97-AF65-F5344CB8AC3E}">
        <p14:creationId xmlns:p14="http://schemas.microsoft.com/office/powerpoint/2010/main" val="308877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BC3B-14C5-8EBB-9D2A-28120E40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Eucalyptus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517F3-9AEA-D574-BA2E-89734A500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 Controller(CC):  manage NCs, manage , communicate between controllers, and manage networks specific instances </a:t>
            </a:r>
          </a:p>
          <a:p>
            <a:r>
              <a:rPr lang="en-US" dirty="0"/>
              <a:t>Cloud Controller (CLC): front end, provide EC2/S3 interface</a:t>
            </a:r>
          </a:p>
          <a:p>
            <a:r>
              <a:rPr lang="en-US" dirty="0"/>
              <a:t>Node Controller (NC): basic component of node, maintains instance on each nodes, interact with OS, Hypervisor and CC</a:t>
            </a:r>
          </a:p>
          <a:p>
            <a:r>
              <a:rPr lang="en-US" dirty="0"/>
              <a:t>Walrus Storage (WS3): file storage system, such as machine image, snapshots, </a:t>
            </a:r>
          </a:p>
          <a:p>
            <a:r>
              <a:rPr lang="en-US" dirty="0"/>
              <a:t>Storage Controller (SC): provide persistent block storage and allows creation of snapshots of volumes. </a:t>
            </a:r>
          </a:p>
        </p:txBody>
      </p:sp>
    </p:spTree>
    <p:extLst>
      <p:ext uri="{BB962C8B-B14F-4D97-AF65-F5344CB8AC3E}">
        <p14:creationId xmlns:p14="http://schemas.microsoft.com/office/powerpoint/2010/main" val="2686847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cloud server&#10;&#10;AI-generated content may be incorrect.">
            <a:extLst>
              <a:ext uri="{FF2B5EF4-FFF2-40B4-BE49-F238E27FC236}">
                <a16:creationId xmlns:a16="http://schemas.microsoft.com/office/drawing/2014/main" id="{05050B82-EB91-82EF-C146-9831531DE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89" y="643467"/>
            <a:ext cx="831502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58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0638-72A7-7E0C-B3AC-1E4E5215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Open Source </a:t>
            </a:r>
            <a:r>
              <a:rPr lang="en-US" dirty="0" err="1"/>
              <a:t>Iaas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56E1-A094-08D2-581C-61C2D50FE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OpenNebula</a:t>
            </a:r>
            <a:endParaRPr lang="en-US" dirty="0"/>
          </a:p>
          <a:p>
            <a:r>
              <a:rPr lang="en-US" dirty="0"/>
              <a:t>Apache </a:t>
            </a:r>
            <a:r>
              <a:rPr lang="en-US" dirty="0" err="1"/>
              <a:t>CloudStack</a:t>
            </a:r>
            <a:r>
              <a:rPr lang="en-US" dirty="0"/>
              <a:t>:  good for large networks of </a:t>
            </a:r>
            <a:r>
              <a:rPr lang="en-US" dirty="0" err="1"/>
              <a:t>vms</a:t>
            </a:r>
            <a:endParaRPr lang="en-US" dirty="0"/>
          </a:p>
          <a:p>
            <a:r>
              <a:rPr lang="en-US" dirty="0"/>
              <a:t>Nimbus: good in terms of administration of Virtual networks, as it is supported by SSH into all nodes </a:t>
            </a:r>
          </a:p>
        </p:txBody>
      </p:sp>
    </p:spTree>
    <p:extLst>
      <p:ext uri="{BB962C8B-B14F-4D97-AF65-F5344CB8AC3E}">
        <p14:creationId xmlns:p14="http://schemas.microsoft.com/office/powerpoint/2010/main" val="3382704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58CF-EB34-479B-8BB2-708FFEE5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OpenSource</a:t>
            </a:r>
            <a:r>
              <a:rPr lang="en-US" dirty="0"/>
              <a:t> PaaS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0763A-FF67-D476-E424-2B46393FE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Paasmaker</a:t>
            </a:r>
            <a:r>
              <a:rPr lang="en-US" dirty="0"/>
              <a:t>: provide full visibility to users, actions are broken into trees format to be monitored, portable with PHP, Ruby, python, Nodejs, designed for clusters. (distribution and cluster failure )</a:t>
            </a:r>
          </a:p>
          <a:p>
            <a:r>
              <a:rPr lang="en-US" dirty="0"/>
              <a:t>Red Hat </a:t>
            </a:r>
            <a:r>
              <a:rPr lang="en-US" dirty="0" err="1"/>
              <a:t>Openshift</a:t>
            </a:r>
            <a:r>
              <a:rPr lang="en-US" dirty="0"/>
              <a:t>: broker, node servers.</a:t>
            </a:r>
          </a:p>
          <a:p>
            <a:pPr lvl="1"/>
            <a:r>
              <a:rPr lang="en-US" dirty="0"/>
              <a:t>Broker is single point of contact for all application management activities(login, DNS, application state, orchestration of application.)</a:t>
            </a:r>
          </a:p>
          <a:p>
            <a:pPr lvl="1"/>
            <a:r>
              <a:rPr lang="en-US" dirty="0"/>
              <a:t>Node server has built-in cartridges and gears. Where user application </a:t>
            </a:r>
            <a:r>
              <a:rPr lang="en-US"/>
              <a:t>is stored and served</a:t>
            </a:r>
          </a:p>
          <a:p>
            <a:endParaRPr lang="en-US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87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7CD1-8D3B-D245-58CA-70C8B5B2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OpenNebula</a:t>
            </a:r>
            <a:r>
              <a:rPr lang="en-US" dirty="0"/>
              <a:t> Scheduler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5D6DF-A85B-4658-34D7-F6D1FF834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algorithm that places Virtual Machine depending on their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51063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782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Cloud Resource Management Tools</vt:lpstr>
      <vt:lpstr>OpenStack</vt:lpstr>
      <vt:lpstr>PowerPoint Presentation</vt:lpstr>
      <vt:lpstr>Openstack as OS Framework and  not OS</vt:lpstr>
      <vt:lpstr>OpenStack Core Components</vt:lpstr>
      <vt:lpstr>The logical relationship between OpenStack components </vt:lpstr>
      <vt:lpstr>Logical Relationship Between OpenStack Components</vt:lpstr>
      <vt:lpstr>Open source and proprietary or closed source </vt:lpstr>
      <vt:lpstr>Eucalyptus Cloud as IaaS</vt:lpstr>
      <vt:lpstr>Eucalyptus Components</vt:lpstr>
      <vt:lpstr>PowerPoint Presentation</vt:lpstr>
      <vt:lpstr>More Open Source Iaas</vt:lpstr>
      <vt:lpstr>OpenSource PaaS</vt:lpstr>
      <vt:lpstr>OpenNebula Scheduler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 Lecturer FCS</dc:creator>
  <cp:lastModifiedBy>Safia Baloch Lecturer FCS</cp:lastModifiedBy>
  <cp:revision>69</cp:revision>
  <dcterms:created xsi:type="dcterms:W3CDTF">2025-03-17T02:28:59Z</dcterms:created>
  <dcterms:modified xsi:type="dcterms:W3CDTF">2025-04-07T05:29:09Z</dcterms:modified>
</cp:coreProperties>
</file>