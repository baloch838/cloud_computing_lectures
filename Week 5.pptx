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3" r:id="rId13"/>
    <p:sldId id="26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83089-FE6B-4352-8840-09F7BBBC9FCC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7A795-D752-4777-9C11-7CBBBB8A6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0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E6F-DF6F-ED94-448A-7E4A19CA8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1D07E-CF4B-5A3A-EFB4-6BE890568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04EF1-E2DE-35FD-FE02-8C5B6BB0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DC2FA-4CE7-1C26-A45F-C38BE5A6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504E5-84A3-5A5D-18CE-5AA90D1A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9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04AF-6C4A-929E-7D0A-5D40405E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F1BE6-1396-34BA-91DD-85DE8731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A377C-817E-95AB-10E0-41749757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4F26A-3ACE-4523-DBAB-4C1675DD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886C2-D099-E9D3-3A8D-A51E3E24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6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0CA5-DEC5-5391-B170-89165028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7E78F-CBF2-B9E1-D17F-3A5A80C3A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808D9-FB98-834B-40CA-CB08E253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1A6BE-EE48-1356-A32D-3E1AEA34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56AF8-CCBB-E010-5746-9A34E128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4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64D1-D6DF-3A76-B426-F95CA4F8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5FD8F-9FF7-3D15-1EE5-DC6CE2790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2A1B6-121F-AFA6-48E8-0B73037A5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F3C63-D07A-6265-F6B9-77F0CFE6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F922B-3230-9112-3368-319D3F8C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6C06D-F296-9462-5214-5323D759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E7D72-5231-1D27-DEB2-59ECAA9D3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46056-2C0D-B6FE-6BCA-6E46718D2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2FAF2-235B-17D5-2D42-F9D9D0AFF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B7558-5790-F8E5-8EB3-813A5E20F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2FC1F-635A-6167-197C-A5BB742E6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419B-8C41-EB9B-0B2F-FE0BE7B9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AF9E7-D8AE-196F-0B5B-AAF7D00D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99F22-E395-EDD8-B095-16BE221C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5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7F6D-7ECB-B650-6D2E-CDE749DA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35D39-F3FB-4F05-D0CD-D3FB39C6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DA7EB-414B-6511-12C2-E7F1F62A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189C9-473D-44A6-01AB-0DEC990E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22316-3755-A35C-0F16-F0543C3B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0E3CF-E358-9CCA-BA57-5EB696FA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54311-2FBB-8703-3E7A-893422F7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7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BABE-342F-DBF8-DF43-E091383D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6595-9F91-2F14-CDE9-26957E4DE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5205A-BCBB-6EFD-19F5-A33E36E54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179ED-5734-8656-0946-17499E36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210F1-A955-B8CA-9E06-5CF53B43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ACE9E-6344-F570-A19A-79A3D5D1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5497-72E1-2034-C291-22437B0A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836E2-5128-C257-F8CE-5D7038644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FE564-FA92-6873-59CE-1E9A506C4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495F2-D933-251C-5EFB-FE0A5B35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7031F-0D11-2FCD-3570-18FC3F65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C53C7-87C6-852A-FA23-BB392D1B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1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3689-10E3-D346-7344-43634199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93004-75EA-5F60-E04D-0EE601E1D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131E-A3C5-F97F-4C86-12164E915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7B22F-096A-908F-ACBB-5072DAD64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9C572-B639-9FE4-0D77-2A6D6D32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7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40AFDA-3356-3848-816F-B9C8F84D2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9F5F8-CFD7-D629-405D-6187DC1D0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F74B0-0E6A-A149-487E-7621F046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719B8-DE31-7F71-2035-55A15E0B6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2374C-ECFD-7063-46D6-9660E8A5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5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D5E39-7AA7-D246-61A8-DA360ED5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0E680-AC27-FE59-D215-D8EE658B5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F06FE-21E6-3C6D-5BED-80D9C1B5A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3FFB4-A598-4FD3-B542-88E91225A8C9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01787-FC05-5BA9-9952-87C9363E8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AB668-68DD-51C9-3E5C-509381DCB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7E02A-FAA3-4610-A049-EA1A6426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8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thesai.org/Downloads/Volume14No3/Paper_37-Current_Development_Challenges_and_Future_Trends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orbes.com/sites/emilsayegh/2024/07/31/microsoft-and-aws-outages-a-wake-up-call-for-cloud-dependency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CCB3-159C-1D35-1D80-F631D62ED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 Deployment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35CF7-AAC9-3112-F84E-B17A18A25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Week 6</a:t>
            </a:r>
            <a:r>
              <a:rPr lang="en-US" baseline="30000"/>
              <a:t>th</a:t>
            </a:r>
            <a:endParaRPr lang="en-US" dirty="0"/>
          </a:p>
          <a:p>
            <a:r>
              <a:rPr lang="en-US" dirty="0"/>
              <a:t>CE-308</a:t>
            </a:r>
          </a:p>
          <a:p>
            <a:r>
              <a:rPr lang="en-US" dirty="0"/>
              <a:t>Safia Baloch</a:t>
            </a:r>
          </a:p>
        </p:txBody>
      </p:sp>
    </p:spTree>
    <p:extLst>
      <p:ext uri="{BB962C8B-B14F-4D97-AF65-F5344CB8AC3E}">
        <p14:creationId xmlns:p14="http://schemas.microsoft.com/office/powerpoint/2010/main" val="270500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27392-8245-1CB9-0355-30FB27BB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Choosing right deployment model for your organization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081F0-05BC-B756-73AE-1B6948C4D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Technical requirement, operational preference, cost consideration</a:t>
            </a:r>
          </a:p>
          <a:p>
            <a:r>
              <a:rPr lang="en-US" sz="2000"/>
              <a:t>Technology Fit</a:t>
            </a:r>
          </a:p>
          <a:p>
            <a:r>
              <a:rPr lang="en-US" sz="2000"/>
              <a:t>Operational Fit</a:t>
            </a:r>
          </a:p>
          <a:p>
            <a:r>
              <a:rPr lang="en-US" sz="2000"/>
              <a:t>Cost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DAD4B-90F7-69FF-6969-B7D8B742B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82565"/>
            <a:ext cx="5150277" cy="23176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6DAF7-D367-2D9A-A0AE-E4B1F75D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72EB-F8E0-9711-60B5-8D708DDB8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Deployment Model: how resources of a system are employed to execute the application function. </a:t>
            </a:r>
          </a:p>
          <a:p>
            <a:r>
              <a:rPr lang="en-US" dirty="0"/>
              <a:t>Beyond the capabilities of the resources, it is deployment that essentially determines the runtime properties of the system , e.g.</a:t>
            </a:r>
          </a:p>
          <a:p>
            <a:r>
              <a:rPr lang="en-US" dirty="0"/>
              <a:t>Responsiveness, reliability, availability.</a:t>
            </a:r>
          </a:p>
          <a:p>
            <a:r>
              <a:rPr lang="en-US" dirty="0"/>
              <a:t>The automatic, or machine supported design of a deployment. </a:t>
            </a:r>
          </a:p>
          <a:p>
            <a:r>
              <a:rPr lang="en-US" dirty="0"/>
              <a:t>What is Deployment? “Central resource broker”</a:t>
            </a:r>
          </a:p>
        </p:txBody>
      </p:sp>
    </p:spTree>
    <p:extLst>
      <p:ext uri="{BB962C8B-B14F-4D97-AF65-F5344CB8AC3E}">
        <p14:creationId xmlns:p14="http://schemas.microsoft.com/office/powerpoint/2010/main" val="102839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714D0-198F-5203-B2F3-E844075C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Private Cloud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EBDF-8FB5-6AC5-04BE-6C9B61CBD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600"/>
              <a:t>Referred as  “internal cloud”, Traditional IT environment</a:t>
            </a:r>
          </a:p>
          <a:p>
            <a:r>
              <a:rPr lang="en-US" sz="1600"/>
              <a:t>Incorporates cloud characteristics , if designed with virtualization and orchestration tools</a:t>
            </a:r>
          </a:p>
          <a:p>
            <a:r>
              <a:rPr lang="en-US" sz="1600"/>
              <a:t> </a:t>
            </a:r>
          </a:p>
          <a:p>
            <a:r>
              <a:rPr lang="en-US" sz="1600"/>
              <a:t>Benefits of Private Cloud:</a:t>
            </a:r>
          </a:p>
          <a:p>
            <a:pPr lvl="1"/>
            <a:r>
              <a:rPr lang="en-US" sz="1600" b="1"/>
              <a:t>Complete control</a:t>
            </a:r>
            <a:r>
              <a:rPr lang="en-US" sz="1600"/>
              <a:t> over entire stack</a:t>
            </a:r>
          </a:p>
          <a:p>
            <a:pPr lvl="1"/>
            <a:r>
              <a:rPr lang="en-US" sz="1600" b="1"/>
              <a:t>Enhanced security</a:t>
            </a:r>
            <a:r>
              <a:rPr lang="en-US" sz="1600"/>
              <a:t> to keep sensitive data in-house</a:t>
            </a:r>
          </a:p>
          <a:p>
            <a:pPr lvl="1"/>
            <a:r>
              <a:rPr lang="en-US" sz="1600" b="1"/>
              <a:t>Customization</a:t>
            </a:r>
            <a:r>
              <a:rPr lang="en-US" sz="1600"/>
              <a:t> of infrastructure to meet specific business needs.</a:t>
            </a:r>
          </a:p>
          <a:p>
            <a:pPr lvl="1"/>
            <a:r>
              <a:rPr lang="en-US" sz="1600" b="1"/>
              <a:t>On demand</a:t>
            </a:r>
            <a:r>
              <a:rPr lang="en-US" sz="1600"/>
              <a:t> data availability</a:t>
            </a:r>
          </a:p>
          <a:p>
            <a:endParaRPr lang="en-US" sz="1600"/>
          </a:p>
        </p:txBody>
      </p:sp>
      <p:pic>
        <p:nvPicPr>
          <p:cNvPr id="5" name="Picture 4" descr="Diagram of a cloud computing diagram&#10;&#10;AI-generated content may be incorrect.">
            <a:extLst>
              <a:ext uri="{FF2B5EF4-FFF2-40B4-BE49-F238E27FC236}">
                <a16:creationId xmlns:a16="http://schemas.microsoft.com/office/drawing/2014/main" id="{617B4BAB-6892-0957-5AC7-4B32E2B23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6" r="1913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2AC91-47FC-569A-0017-F9707B68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Vendors of Private Cloud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9732-DADA-7987-8635-C34B4683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r>
              <a:rPr lang="en-US" sz="1300">
                <a:solidFill>
                  <a:schemeClr val="tx2"/>
                </a:solidFill>
              </a:rPr>
              <a:t>Private cloud stacks:</a:t>
            </a:r>
          </a:p>
          <a:p>
            <a:pPr lvl="1"/>
            <a:r>
              <a:rPr lang="en-US" sz="1300">
                <a:solidFill>
                  <a:schemeClr val="tx2"/>
                </a:solidFill>
              </a:rPr>
              <a:t>Vmware</a:t>
            </a:r>
          </a:p>
          <a:p>
            <a:pPr lvl="1"/>
            <a:r>
              <a:rPr lang="en-US" sz="1300">
                <a:solidFill>
                  <a:schemeClr val="tx2"/>
                </a:solidFill>
              </a:rPr>
              <a:t>Microsoft </a:t>
            </a:r>
          </a:p>
          <a:p>
            <a:pPr lvl="1"/>
            <a:r>
              <a:rPr lang="en-US" sz="1300">
                <a:solidFill>
                  <a:schemeClr val="tx2"/>
                </a:solidFill>
              </a:rPr>
              <a:t>RedHat: subsidiary of Ibm:</a:t>
            </a:r>
          </a:p>
          <a:p>
            <a:pPr lvl="1"/>
            <a:r>
              <a:rPr lang="en-US" sz="1300">
                <a:solidFill>
                  <a:schemeClr val="tx2"/>
                </a:solidFill>
              </a:rPr>
              <a:t>Dell EMC: PowerFlex</a:t>
            </a:r>
          </a:p>
          <a:p>
            <a:pPr lvl="1"/>
            <a:r>
              <a:rPr lang="en-US" sz="1300">
                <a:solidFill>
                  <a:schemeClr val="tx2"/>
                </a:solidFill>
              </a:rPr>
              <a:t>OpenStack</a:t>
            </a:r>
          </a:p>
          <a:p>
            <a:pPr lvl="1"/>
            <a:r>
              <a:rPr lang="en-US" sz="1300">
                <a:solidFill>
                  <a:schemeClr val="tx2"/>
                </a:solidFill>
              </a:rPr>
              <a:t>HPE: Hewllet Packard Enterprise 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9C89159-FC9B-70CE-A91A-E28A3550C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82" y="3364198"/>
            <a:ext cx="3935394" cy="2695476"/>
          </a:xfrm>
          <a:prstGeom prst="rect">
            <a:avLst/>
          </a:prstGeom>
        </p:spPr>
      </p:pic>
      <p:pic>
        <p:nvPicPr>
          <p:cNvPr id="5" name="Picture 4" descr="A group of logos of different companies&#10;&#10;Description automatically generated">
            <a:extLst>
              <a:ext uri="{FF2B5EF4-FFF2-40B4-BE49-F238E27FC236}">
                <a16:creationId xmlns:a16="http://schemas.microsoft.com/office/drawing/2014/main" id="{9239B6F2-93BD-D8A7-D126-B80F43E45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491"/>
          <a:stretch/>
        </p:blipFill>
        <p:spPr>
          <a:xfrm>
            <a:off x="6355641" y="3439591"/>
            <a:ext cx="5166360" cy="254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2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756AE-4E5F-15FC-1A6E-E6E719BC9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Public Cloud	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CD3B6-60D8-1C71-420D-54EA045E8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/>
              <a:t>Referred as “Cloud Computing”</a:t>
            </a:r>
          </a:p>
          <a:p>
            <a:r>
              <a:rPr lang="en-US" sz="1700"/>
              <a:t>IT services on infrastructure provided by third party.</a:t>
            </a:r>
          </a:p>
          <a:p>
            <a:r>
              <a:rPr lang="en-US" sz="1700"/>
              <a:t>Operate on Multi tenant model ( multiple customers sharing same infrastructures)</a:t>
            </a:r>
          </a:p>
          <a:p>
            <a:r>
              <a:rPr lang="en-US" sz="1700"/>
              <a:t> Suitable for which type of business ?</a:t>
            </a:r>
          </a:p>
          <a:p>
            <a:r>
              <a:rPr lang="en-US" sz="1700"/>
              <a:t>Benefits of Public Cloud:</a:t>
            </a:r>
          </a:p>
          <a:p>
            <a:pPr lvl="1"/>
            <a:r>
              <a:rPr lang="en-US" sz="1700"/>
              <a:t>Cost Efficiency: Pay as you go</a:t>
            </a:r>
          </a:p>
          <a:p>
            <a:pPr lvl="1"/>
            <a:r>
              <a:rPr lang="en-US" sz="1700"/>
              <a:t>Scalability for resources up and down over demand</a:t>
            </a:r>
          </a:p>
          <a:p>
            <a:pPr lvl="1"/>
            <a:r>
              <a:rPr lang="en-US" sz="1700"/>
              <a:t>Accessibility from anywhere with an internet.</a:t>
            </a:r>
          </a:p>
          <a:p>
            <a:pPr marL="457200" lvl="1" indent="0">
              <a:buNone/>
            </a:pPr>
            <a:endParaRPr lang="en-US" sz="1700"/>
          </a:p>
        </p:txBody>
      </p:sp>
      <p:pic>
        <p:nvPicPr>
          <p:cNvPr id="7" name="Picture 6" descr="Diagram of a cloud computing diagram&#10;&#10;AI-generated content may be incorrect.">
            <a:extLst>
              <a:ext uri="{FF2B5EF4-FFF2-40B4-BE49-F238E27FC236}">
                <a16:creationId xmlns:a16="http://schemas.microsoft.com/office/drawing/2014/main" id="{6F8E5FC8-6004-F3D3-A3BC-53A88708F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67537"/>
            <a:ext cx="5150277" cy="334768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9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6EFAE-B83D-B1F9-8E65-AF69DFC3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/>
              <a:t>Vendors of Public Cloud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31155-97D8-0287-5487-A5F0BD030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23250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Amazon Web Services </a:t>
            </a:r>
          </a:p>
          <a:p>
            <a:r>
              <a:rPr lang="en-US" sz="2200" dirty="0"/>
              <a:t>Microsoft Azure</a:t>
            </a:r>
          </a:p>
          <a:p>
            <a:r>
              <a:rPr lang="en-US" sz="2200" dirty="0"/>
              <a:t>Google Cloud Platform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3E466D-922E-3CC2-B5A1-4700D571C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21847"/>
            <a:ext cx="6903720" cy="381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2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7417-DD71-9162-EA6B-A47EC317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Cloud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BBC05-B414-CC8C-36EC-0B574516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Combination of private and public clouds</a:t>
            </a:r>
          </a:p>
          <a:p>
            <a:r>
              <a:rPr lang="en-US" dirty="0"/>
              <a:t>Creating flexible and unified environment</a:t>
            </a:r>
          </a:p>
          <a:p>
            <a:r>
              <a:rPr lang="en-US" dirty="0"/>
              <a:t>Organization which requires balance between security, compliance, performance.</a:t>
            </a:r>
          </a:p>
          <a:p>
            <a:r>
              <a:rPr lang="en-US" dirty="0"/>
              <a:t>E.g. storing data in a private cloud for compliance reasons and using public cloud services to deploy customer facing applications globally.</a:t>
            </a:r>
          </a:p>
          <a:p>
            <a:r>
              <a:rPr lang="en-US" dirty="0"/>
              <a:t>Cloud Bursting ?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FF0000"/>
                </a:solidFill>
                <a:effectLst/>
                <a:latin typeface="AmazonEmberBold"/>
              </a:rPr>
              <a:t>How can you implement cloud bursting on AWS?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When do organization use cloud bursting?</a:t>
            </a:r>
          </a:p>
          <a:p>
            <a:pPr lvl="1"/>
            <a:r>
              <a:rPr lang="en-US" dirty="0"/>
              <a:t>Marketing campaigns</a:t>
            </a:r>
          </a:p>
          <a:p>
            <a:pPr lvl="1"/>
            <a:r>
              <a:rPr lang="en-US" dirty="0"/>
              <a:t>Big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176980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7" name="Rectangle 105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A7BDB-0DDA-CDC4-458C-2C61C360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 of Hybrid Cloud 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Flexibility between on premises, private, public cloud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Scalability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Compliance </a:t>
            </a:r>
          </a:p>
        </p:txBody>
      </p:sp>
      <p:sp>
        <p:nvSpPr>
          <p:cNvPr id="105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diagram of a building&#10;&#10;Description automatically generated">
            <a:extLst>
              <a:ext uri="{FF2B5EF4-FFF2-40B4-BE49-F238E27FC236}">
                <a16:creationId xmlns:a16="http://schemas.microsoft.com/office/drawing/2014/main" id="{7428FEF2-C115-D273-73C5-DDFC8C04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311" y="2633472"/>
            <a:ext cx="11476329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55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90C5271-B027-AC7D-10C7-ABBB9EBF12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648208"/>
            <a:ext cx="10905066" cy="55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510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BA339-9FA8-D6E6-4A60-372E3F8F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Cloud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Diagram of a cloud computing diagram&#10;&#10;AI-generated content may be incorrect.">
            <a:extLst>
              <a:ext uri="{FF2B5EF4-FFF2-40B4-BE49-F238E27FC236}">
                <a16:creationId xmlns:a16="http://schemas.microsoft.com/office/drawing/2014/main" id="{375FE0C5-CF0C-4FD6-B3D5-DE917704F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92" y="1489703"/>
            <a:ext cx="5536001" cy="381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19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1988-C494-1426-C864-1352CF42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MultiCloud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DFD01-13A4-C72E-3296-4E9324469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Multiple cloud services from different providers simultaneously</a:t>
            </a:r>
          </a:p>
          <a:p>
            <a:r>
              <a:rPr lang="en-US" dirty="0"/>
              <a:t>E.g. an organization might use Microsoft Azure for certain workloads and AWS for others.</a:t>
            </a:r>
          </a:p>
          <a:p>
            <a:r>
              <a:rPr lang="en-US" dirty="0"/>
              <a:t>Complex to manage</a:t>
            </a:r>
          </a:p>
          <a:p>
            <a:endParaRPr lang="en-US" dirty="0"/>
          </a:p>
          <a:p>
            <a:r>
              <a:rPr lang="en-US" dirty="0"/>
              <a:t>Benefits of </a:t>
            </a:r>
            <a:r>
              <a:rPr lang="en-US" dirty="0" err="1"/>
              <a:t>Multicloud</a:t>
            </a:r>
            <a:r>
              <a:rPr lang="en-US" dirty="0"/>
              <a:t>:</a:t>
            </a:r>
          </a:p>
          <a:p>
            <a:r>
              <a:rPr lang="en-US" dirty="0"/>
              <a:t>Vendor Independence to reduce reliance on single cloud provider</a:t>
            </a:r>
          </a:p>
          <a:p>
            <a:r>
              <a:rPr lang="en-US" dirty="0"/>
              <a:t>Cost Optimization by choosing the best/suitable provider for each workload</a:t>
            </a:r>
          </a:p>
          <a:p>
            <a:r>
              <a:rPr lang="en-US" dirty="0"/>
              <a:t>Flexibility in operations and resilience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05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E465-8B0A-522A-FCC2-0E78540B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Deployment Model for following use cases( private or public)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561CE-8A8E-545C-D6ED-BABF657DC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375"/>
              </a:spcAft>
            </a:pPr>
            <a:r>
              <a:rPr lang="en-US" b="0" i="0" dirty="0">
                <a:solidFill>
                  <a:srgbClr val="262626"/>
                </a:solidFill>
                <a:effectLst/>
                <a:latin typeface="intel-clear"/>
              </a:rPr>
              <a:t>Relieve demand on IT resources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62626"/>
                </a:solidFill>
                <a:effectLst/>
                <a:latin typeface="intel-clear"/>
              </a:rPr>
              <a:t>Protect sensitive information, including intellectual property</a:t>
            </a:r>
          </a:p>
          <a:p>
            <a:pPr>
              <a:spcAft>
                <a:spcPts val="375"/>
              </a:spcAft>
            </a:pPr>
            <a:r>
              <a:rPr lang="en-US" b="0" i="0" dirty="0">
                <a:solidFill>
                  <a:srgbClr val="262626"/>
                </a:solidFill>
                <a:effectLst/>
                <a:latin typeface="intel-clear"/>
              </a:rPr>
              <a:t>Scale up quickly and accelerate time to market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62626"/>
                </a:solidFill>
                <a:effectLst/>
                <a:latin typeface="intel-clear"/>
              </a:rPr>
              <a:t>Meet data sovereignty or compliance requirements</a:t>
            </a:r>
          </a:p>
          <a:p>
            <a:pPr>
              <a:spcAft>
                <a:spcPts val="375"/>
              </a:spcAft>
            </a:pPr>
            <a:r>
              <a:rPr lang="en-US" b="0" i="0" dirty="0">
                <a:solidFill>
                  <a:srgbClr val="262626"/>
                </a:solidFill>
                <a:effectLst/>
                <a:latin typeface="intel-clear"/>
              </a:rPr>
              <a:t>Run workloads over the short term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62626"/>
                </a:solidFill>
                <a:effectLst/>
                <a:latin typeface="intel-clear"/>
              </a:rPr>
              <a:t>Ensure high availability</a:t>
            </a:r>
          </a:p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62626"/>
                </a:solidFill>
                <a:effectLst/>
                <a:latin typeface="intel-clear"/>
              </a:rPr>
              <a:t>Manage upfront costs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37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3333-FB83-FF87-12F9-9CDDB5FC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1FA36-BB1A-A030-E6F0-B3AB13AF3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Paper for overview : </a:t>
            </a:r>
            <a:r>
              <a:rPr lang="en-US" dirty="0">
                <a:hlinkClick r:id="rId2"/>
              </a:rPr>
              <a:t>Current Development, Challenges and Future Trends in Cloud Computing: A Survey</a:t>
            </a:r>
            <a:endParaRPr lang="en-US" dirty="0"/>
          </a:p>
          <a:p>
            <a:r>
              <a:rPr lang="en-US" dirty="0"/>
              <a:t>Security </a:t>
            </a:r>
          </a:p>
          <a:p>
            <a:r>
              <a:rPr lang="en-US" dirty="0"/>
              <a:t>Reliability and Tolerance </a:t>
            </a:r>
          </a:p>
          <a:p>
            <a:r>
              <a:rPr lang="en-US" dirty="0"/>
              <a:t>Resource Management and Scalability</a:t>
            </a:r>
          </a:p>
          <a:p>
            <a:r>
              <a:rPr lang="en-US" dirty="0"/>
              <a:t> Privacy and Compliance </a:t>
            </a:r>
          </a:p>
          <a:p>
            <a:r>
              <a:rPr lang="en-US" dirty="0"/>
              <a:t>Cost Management </a:t>
            </a:r>
          </a:p>
          <a:p>
            <a:r>
              <a:rPr lang="en-US" dirty="0"/>
              <a:t>Performance and Latency </a:t>
            </a:r>
          </a:p>
          <a:p>
            <a:r>
              <a:rPr lang="en-US" dirty="0"/>
              <a:t>Environment Impact </a:t>
            </a:r>
          </a:p>
          <a:p>
            <a:r>
              <a:rPr lang="en-US" dirty="0"/>
              <a:t>Adoption Challenges </a:t>
            </a:r>
          </a:p>
          <a:p>
            <a:pPr marL="0" indent="0">
              <a:buNone/>
            </a:pPr>
            <a:r>
              <a:rPr lang="en-US" dirty="0"/>
              <a:t>Future Direction to address challenges ? </a:t>
            </a:r>
          </a:p>
        </p:txBody>
      </p:sp>
    </p:spTree>
    <p:extLst>
      <p:ext uri="{BB962C8B-B14F-4D97-AF65-F5344CB8AC3E}">
        <p14:creationId xmlns:p14="http://schemas.microsoft.com/office/powerpoint/2010/main" val="906192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ED58-44DF-134F-F949-B2189E29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21" y="21973"/>
            <a:ext cx="10515600" cy="1325563"/>
          </a:xfrm>
        </p:spPr>
        <p:txBody>
          <a:bodyPr/>
          <a:lstStyle/>
          <a:p>
            <a:r>
              <a:rPr lang="en-US" dirty="0"/>
              <a:t>Security 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36D1-B4C8-320E-7D66-70E7DA0D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1" y="1010652"/>
            <a:ext cx="10515600" cy="55104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Data Breaches and Unauthorized Access </a:t>
            </a:r>
          </a:p>
          <a:p>
            <a:pPr lvl="1"/>
            <a:r>
              <a:rPr lang="en-US" dirty="0"/>
              <a:t>2014 Dropbox hacked , over 50 million accounts were compromised </a:t>
            </a:r>
          </a:p>
          <a:p>
            <a:pPr lvl="1"/>
            <a:r>
              <a:rPr lang="en-US" dirty="0"/>
              <a:t>Solution?</a:t>
            </a:r>
          </a:p>
          <a:p>
            <a:r>
              <a:rPr lang="en-US" b="1" dirty="0"/>
              <a:t>Malicious insiders </a:t>
            </a:r>
          </a:p>
          <a:p>
            <a:r>
              <a:rPr lang="en-US" b="1" dirty="0"/>
              <a:t>Denial of Service (DoS) Attacks </a:t>
            </a:r>
          </a:p>
          <a:p>
            <a:pPr lvl="1"/>
            <a:r>
              <a:rPr lang="en-US" dirty="0"/>
              <a:t>Implementing robust firewall and intrusion detection systems</a:t>
            </a:r>
          </a:p>
          <a:p>
            <a:pPr lvl="1"/>
            <a:r>
              <a:rPr lang="en-US" dirty="0"/>
              <a:t>Using content delivery network to distribute traffic</a:t>
            </a:r>
          </a:p>
          <a:p>
            <a:r>
              <a:rPr lang="en-US" b="1" dirty="0"/>
              <a:t>Shared Technology Vulnerabilities </a:t>
            </a:r>
            <a:r>
              <a:rPr lang="en-US" dirty="0"/>
              <a:t> (Multi-Tenancy can lead to side channel attacks )</a:t>
            </a:r>
          </a:p>
          <a:p>
            <a:pPr lvl="1"/>
            <a:r>
              <a:rPr lang="en-US" dirty="0"/>
              <a:t>Solution ?</a:t>
            </a:r>
          </a:p>
          <a:p>
            <a:r>
              <a:rPr lang="en-US" b="1" dirty="0"/>
              <a:t>Lack of transparency</a:t>
            </a:r>
          </a:p>
          <a:p>
            <a:pPr lvl="1"/>
            <a:r>
              <a:rPr lang="en-US" dirty="0"/>
              <a:t>User lack visibility into where their data is stored and how it is secured. </a:t>
            </a:r>
          </a:p>
          <a:p>
            <a:pPr lvl="1"/>
            <a:r>
              <a:rPr lang="en-US" dirty="0"/>
              <a:t>Solution</a:t>
            </a:r>
          </a:p>
          <a:p>
            <a:pPr lvl="2"/>
            <a:r>
              <a:rPr lang="en-US" dirty="0"/>
              <a:t>Clear service level agreement with providers </a:t>
            </a:r>
          </a:p>
          <a:p>
            <a:pPr lvl="2"/>
            <a:r>
              <a:rPr lang="en-US" dirty="0"/>
              <a:t>Adoption of standard s like ISO 27002 for cloud security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28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A623-F956-FCBC-111E-3156B6BC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and Fault Tolerance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9A8B2-66B8-BD12-3AC4-270C822C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Outages</a:t>
            </a:r>
          </a:p>
          <a:p>
            <a:r>
              <a:rPr lang="en-US" dirty="0"/>
              <a:t>Downtime due to hardware failures, software bugs, or network issues</a:t>
            </a:r>
          </a:p>
          <a:p>
            <a:pPr lvl="1"/>
            <a:r>
              <a:rPr lang="en-US" dirty="0">
                <a:hlinkClick r:id="rId2"/>
              </a:rPr>
              <a:t>Microsoft </a:t>
            </a:r>
            <a:r>
              <a:rPr lang="en-US" dirty="0" err="1">
                <a:hlinkClick r:id="rId2"/>
              </a:rPr>
              <a:t>anf</a:t>
            </a:r>
            <a:r>
              <a:rPr lang="en-US" dirty="0">
                <a:hlinkClick r:id="rId2"/>
              </a:rPr>
              <a:t> AWS outages 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Fault Tolerance</a:t>
            </a:r>
          </a:p>
          <a:p>
            <a:pPr lvl="1"/>
            <a:r>
              <a:rPr lang="en-US" dirty="0"/>
              <a:t>Hardware and software failure can disrupt the services </a:t>
            </a:r>
          </a:p>
          <a:p>
            <a:pPr lvl="1"/>
            <a:r>
              <a:rPr lang="en-US" dirty="0"/>
              <a:t>Efficient fault tolerant algorithms and regular backups / disaster recovery plans can help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598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A7E3-B924-3FF2-C789-6C6F93DD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Management and scalability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258EA-2F60-551F-0567-1EA205626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Resource provisioning </a:t>
            </a:r>
          </a:p>
          <a:p>
            <a:pPr lvl="1"/>
            <a:r>
              <a:rPr lang="en-US" i="1" dirty="0"/>
              <a:t>Over provision lead to waste of resource and under provision lead to performance degradation</a:t>
            </a:r>
          </a:p>
          <a:p>
            <a:pPr lvl="1"/>
            <a:r>
              <a:rPr lang="en-US" dirty="0"/>
              <a:t>Dynamic resource allocation using auto scaling  </a:t>
            </a:r>
          </a:p>
          <a:p>
            <a:pPr lvl="1"/>
            <a:r>
              <a:rPr lang="en-US" dirty="0"/>
              <a:t>Algorithms to predict  forecast resource demands , time series etc.</a:t>
            </a:r>
          </a:p>
          <a:p>
            <a:r>
              <a:rPr lang="en-US" b="1" dirty="0"/>
              <a:t>Load balancing </a:t>
            </a:r>
          </a:p>
          <a:p>
            <a:pPr lvl="1"/>
            <a:r>
              <a:rPr lang="en-US" dirty="0"/>
              <a:t>Bottleneck due to uneven distribution </a:t>
            </a:r>
          </a:p>
          <a:p>
            <a:pPr lvl="1"/>
            <a:r>
              <a:rPr lang="en-US" dirty="0"/>
              <a:t>Load balancing algorithms </a:t>
            </a:r>
          </a:p>
          <a:p>
            <a:pPr lvl="1"/>
            <a:r>
              <a:rPr lang="en-US" dirty="0"/>
              <a:t>Containerization for efficient resource utilization </a:t>
            </a:r>
          </a:p>
          <a:p>
            <a:r>
              <a:rPr lang="en-US" dirty="0"/>
              <a:t>Scheduling </a:t>
            </a:r>
          </a:p>
          <a:p>
            <a:pPr lvl="1"/>
            <a:r>
              <a:rPr lang="en-US" dirty="0"/>
              <a:t>Inefficient scheduling of tasks will delay and increase cost </a:t>
            </a:r>
          </a:p>
          <a:p>
            <a:pPr lvl="1"/>
            <a:r>
              <a:rPr lang="en-US" dirty="0"/>
              <a:t>Round robin, priority based scheduling algorithms are solution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954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ACE1-023B-A6DC-91FA-7C0F22FA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and Compliance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8E5A2-69ED-65AA-9B10-AE4573397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Privacy : crucial for sensitive industries </a:t>
            </a:r>
          </a:p>
          <a:p>
            <a:pPr lvl="1"/>
            <a:r>
              <a:rPr lang="en-US" dirty="0"/>
              <a:t>Accessible by unauthorized parties and governments</a:t>
            </a:r>
          </a:p>
          <a:p>
            <a:pPr lvl="1"/>
            <a:r>
              <a:rPr lang="en-US" dirty="0"/>
              <a:t>Encryption is the solution </a:t>
            </a:r>
          </a:p>
          <a:p>
            <a:r>
              <a:rPr lang="en-US" dirty="0"/>
              <a:t>Regulatory Compliance </a:t>
            </a:r>
          </a:p>
          <a:p>
            <a:pPr lvl="1"/>
            <a:r>
              <a:rPr lang="en-US" dirty="0"/>
              <a:t>Every region have varying regulation (GDPR in Europe , HIPAA in USA, personal data protection bill 2023  in Pakistan )</a:t>
            </a:r>
          </a:p>
          <a:p>
            <a:pPr lvl="1"/>
            <a:r>
              <a:rPr lang="en-US" dirty="0"/>
              <a:t>Ensuring cloud provider comply with relevant regulations</a:t>
            </a:r>
          </a:p>
          <a:p>
            <a:pPr lvl="1"/>
            <a:r>
              <a:rPr lang="en-US" dirty="0"/>
              <a:t>Regular audits and compliance checks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982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06C6-7E63-2E9A-D813-C631413D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C441A-8745-D2A6-1A56-134D7E5DF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reduce capital cost but challenges operational cost </a:t>
            </a:r>
          </a:p>
          <a:p>
            <a:r>
              <a:rPr lang="en-US" dirty="0"/>
              <a:t>Hidden costs</a:t>
            </a:r>
          </a:p>
          <a:p>
            <a:pPr lvl="1"/>
            <a:r>
              <a:rPr lang="en-US" dirty="0"/>
              <a:t>Cost increase due to data transfer fee, storage over usages, or premium services </a:t>
            </a:r>
          </a:p>
          <a:p>
            <a:pPr lvl="1"/>
            <a:r>
              <a:rPr lang="en-US" dirty="0"/>
              <a:t>Using cost management tools provided by cloud providers </a:t>
            </a:r>
          </a:p>
          <a:p>
            <a:r>
              <a:rPr lang="en-US" dirty="0"/>
              <a:t>Vendor Lock In</a:t>
            </a:r>
          </a:p>
          <a:p>
            <a:pPr lvl="1"/>
            <a:r>
              <a:rPr lang="en-US" dirty="0"/>
              <a:t>Using open standards and APIs to ensure interoperability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31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284D-673E-009B-9592-3D91C211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and latency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80D82-E3C3-0CA5-BB24-FF17F349E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Latency </a:t>
            </a:r>
          </a:p>
          <a:p>
            <a:pPr lvl="1"/>
            <a:r>
              <a:rPr lang="en-US" dirty="0"/>
              <a:t>delay in Data transfer impact real time applications. </a:t>
            </a:r>
          </a:p>
          <a:p>
            <a:pPr lvl="1"/>
            <a:r>
              <a:rPr lang="en-US" dirty="0" err="1"/>
              <a:t>E,g</a:t>
            </a:r>
            <a:r>
              <a:rPr lang="en-US" dirty="0"/>
              <a:t> ?</a:t>
            </a:r>
          </a:p>
          <a:p>
            <a:pPr lvl="1"/>
            <a:r>
              <a:rPr lang="en-US" dirty="0"/>
              <a:t>Edge Computing can bring services closer to user</a:t>
            </a:r>
          </a:p>
          <a:p>
            <a:pPr lvl="1"/>
            <a:r>
              <a:rPr lang="en-US" dirty="0"/>
              <a:t>Optimizing network configuration and protocol </a:t>
            </a:r>
          </a:p>
          <a:p>
            <a:r>
              <a:rPr lang="en-US" dirty="0"/>
              <a:t>Resource Contention </a:t>
            </a:r>
          </a:p>
          <a:p>
            <a:pPr lvl="1"/>
            <a:r>
              <a:rPr lang="en-US" dirty="0"/>
              <a:t>Inevitable to avoid in multi tenancy</a:t>
            </a:r>
          </a:p>
          <a:p>
            <a:pPr lvl="1"/>
            <a:r>
              <a:rPr lang="en-US" dirty="0"/>
              <a:t>For critical application , dedicated resources can be used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314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584D-DAD0-56D8-E36E-936B50CF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Impact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E2E3B-73BE-A218-87C9-BA01D4AF9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Energy Consumption </a:t>
            </a:r>
          </a:p>
          <a:p>
            <a:r>
              <a:rPr lang="en-US" dirty="0"/>
              <a:t>Read </a:t>
            </a:r>
          </a:p>
          <a:p>
            <a:r>
              <a:rPr lang="en-US" b="1" i="0" dirty="0">
                <a:effectLst/>
                <a:latin typeface="NHaasGroteskTXW01-75Bd"/>
              </a:rPr>
              <a:t>The Staggering Ecological Impacts of Computation and the Cloud by </a:t>
            </a:r>
            <a:r>
              <a:rPr lang="en-US" b="1" i="0" dirty="0" err="1">
                <a:effectLst/>
                <a:latin typeface="NHaasGroteskTXW01-75Bd"/>
              </a:rPr>
              <a:t>mit</a:t>
            </a:r>
            <a:r>
              <a:rPr lang="en-US" b="1" i="0" dirty="0">
                <a:effectLst/>
                <a:latin typeface="NHaasGroteskTXW01-75Bd"/>
              </a:rPr>
              <a:t> press </a:t>
            </a:r>
            <a:r>
              <a:rPr lang="en-US" b="1" i="0" dirty="0" err="1">
                <a:effectLst/>
                <a:latin typeface="NHaasGroteskTXW01-75Bd"/>
              </a:rPr>
              <a:t>feb</a:t>
            </a:r>
            <a:r>
              <a:rPr lang="en-US" b="1" i="0" dirty="0">
                <a:effectLst/>
                <a:latin typeface="NHaasGroteskTXW01-75Bd"/>
              </a:rPr>
              <a:t> 2022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43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F6E1-80EC-02CD-5109-68864371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Adoption Challenge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C605-0398-725D-9D3D-00ACEB478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Adoption problem for small or medium enterprises (SMEs)</a:t>
            </a:r>
          </a:p>
          <a:p>
            <a:r>
              <a:rPr lang="en-US" b="1" dirty="0"/>
              <a:t>Lack of Expertise </a:t>
            </a:r>
          </a:p>
          <a:p>
            <a:r>
              <a:rPr lang="en-US" b="1" dirty="0"/>
              <a:t>Change management </a:t>
            </a:r>
          </a:p>
          <a:p>
            <a:pPr lvl="1"/>
            <a:r>
              <a:rPr lang="en-US" dirty="0"/>
              <a:t>Clear communication of benefits and ROI</a:t>
            </a:r>
          </a:p>
          <a:p>
            <a:pPr lvl="2"/>
            <a:r>
              <a:rPr lang="en-US" dirty="0"/>
              <a:t>Gradual migration to the cloud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35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C1EC-5B78-069A-C88D-3148A8FA3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E86B3-7938-85F6-7D59-1DD2E420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: predictive analytics, </a:t>
            </a:r>
          </a:p>
          <a:p>
            <a:r>
              <a:rPr lang="en-US" dirty="0"/>
              <a:t>Blockchain, Enhancing data Security and transparency </a:t>
            </a:r>
          </a:p>
          <a:p>
            <a:r>
              <a:rPr lang="en-US" dirty="0"/>
              <a:t>Edge Computing : reduce latency and improve performance </a:t>
            </a:r>
          </a:p>
          <a:p>
            <a:r>
              <a:rPr lang="en-US" dirty="0"/>
              <a:t>Quantum Computing : advance encryption and computational capabilities </a:t>
            </a:r>
          </a:p>
        </p:txBody>
      </p:sp>
    </p:spTree>
    <p:extLst>
      <p:ext uri="{BB962C8B-B14F-4D97-AF65-F5344CB8AC3E}">
        <p14:creationId xmlns:p14="http://schemas.microsoft.com/office/powerpoint/2010/main" val="2196256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936</Words>
  <Application>Microsoft Office PowerPoint</Application>
  <PresentationFormat>Widescreen</PresentationFormat>
  <Paragraphs>163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AmazonEmberBold</vt:lpstr>
      <vt:lpstr>Aptos</vt:lpstr>
      <vt:lpstr>Aptos Display</vt:lpstr>
      <vt:lpstr>Arial</vt:lpstr>
      <vt:lpstr>intel-clear</vt:lpstr>
      <vt:lpstr>NHaasGroteskTXW01-75Bd</vt:lpstr>
      <vt:lpstr>Office Theme</vt:lpstr>
      <vt:lpstr>Cloud Deployment Models</vt:lpstr>
      <vt:lpstr>Choosing right deployment model for your organization</vt:lpstr>
      <vt:lpstr>Model Based Deployment</vt:lpstr>
      <vt:lpstr>Private Cloud</vt:lpstr>
      <vt:lpstr>Vendors of Private Cloud</vt:lpstr>
      <vt:lpstr>Public Cloud </vt:lpstr>
      <vt:lpstr>Vendors of Public Cloud</vt:lpstr>
      <vt:lpstr>Hybrid Cloud </vt:lpstr>
      <vt:lpstr>Benefits of Hybrid Cloud  Flexibility between on premises, private, public cloud Scalability Compliance </vt:lpstr>
      <vt:lpstr>PowerPoint Presentation</vt:lpstr>
      <vt:lpstr>? Cloud</vt:lpstr>
      <vt:lpstr>MultiCloud </vt:lpstr>
      <vt:lpstr>Ideal Deployment Model for following use cases( private or public)</vt:lpstr>
      <vt:lpstr>Cloud Computing Challenges </vt:lpstr>
      <vt:lpstr>Security Challenges </vt:lpstr>
      <vt:lpstr>Reliability and Fault Tolerance </vt:lpstr>
      <vt:lpstr>Resource Management and scalability  </vt:lpstr>
      <vt:lpstr>Privacy and Compliance </vt:lpstr>
      <vt:lpstr>Cost Management </vt:lpstr>
      <vt:lpstr>Performance and latency </vt:lpstr>
      <vt:lpstr>Environment Impact </vt:lpstr>
      <vt:lpstr>Adoption Challenge </vt:lpstr>
      <vt:lpstr>Future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</dc:creator>
  <cp:lastModifiedBy>Safia Baloch Lecturer FCS</cp:lastModifiedBy>
  <cp:revision>121</cp:revision>
  <dcterms:created xsi:type="dcterms:W3CDTF">2024-11-18T04:58:02Z</dcterms:created>
  <dcterms:modified xsi:type="dcterms:W3CDTF">2025-03-02T18:51:09Z</dcterms:modified>
</cp:coreProperties>
</file>