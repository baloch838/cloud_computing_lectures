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29182-5FA9-4FBB-B998-AD95B41D000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89641-7D6C-409D-B1D0-FFDFABA88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6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89641-7D6C-409D-B1D0-FFDFABA880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5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28CE-93D6-79B6-F4BB-6C64312D5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4028B-65E4-981B-5103-84FA7805E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261D4-7EA9-CD57-C1D8-19DF942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5D12D-70D8-27D1-62CD-4A923242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4CEFA-215C-540D-96FF-A35E6DCD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75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E730-6EF3-C467-8633-3B9BAFB1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A2DA-2D6F-D6D9-E688-E84CBD744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9EF4-D314-DA7C-9447-2370BBF0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E61E7-B314-138B-5F6E-14238B2D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66CF1-6770-23DB-BA85-E102A2AB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1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5CDB-6F23-6C30-B523-CCDAF690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EB4A4-0A70-04E2-A208-924CE051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0917-BD71-B21E-FC6E-EC5A4047A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33C62-8F8F-F090-C059-6CF181F6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0E86-EE7A-992B-3A50-2706C89A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5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DA53-C850-29D3-95FD-B1F7C707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6DC22-8FF5-26FA-B237-D42EF76B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A9D2D-6F93-F5C4-0A1E-6BEC7146B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C787C-3BAE-63D6-D070-8FADB8CCA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8EA36-44D1-3083-25AC-DC71D048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96DF4-E4BB-A718-E657-587F9D83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94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DBB42-6C8D-F510-8E05-5585866A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D4838-B131-7D6C-5DFF-095B76A68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9A8D5-A5D1-9744-1426-32389D2EA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59ABA-62AD-22CD-EB4E-6B94B9F95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95702-3043-4E4F-9C3E-ADB9AECA7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3EE34-0DA5-E668-A58F-92F98299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E898F6-43D4-40D4-E9BA-46C044DA9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A0E5D-8359-CB9D-2A10-0469E099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8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42B7-1E9D-10FE-B1A9-42EF92F7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1A53F-6260-CFE6-87E2-40145258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9FD81-D719-A26E-9FDE-6429CF71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FCD26-C729-D69F-78DF-17AC3533B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8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67863-05DB-BF0F-FD24-F1835BA0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A15FA-3FB3-A075-C65E-B0D8850F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DDFFD-7EEA-EE89-E600-C464E5D9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4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1506-20C4-0360-8EF6-D4ED3F41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72AF-9696-F681-ACC6-6DE96E14E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F20E3-D677-19FF-FD14-530DBA07A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69298-4DB2-6789-FB1A-8318C78F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669D8-05DE-FDCE-FB82-0915477A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4C384-B682-67C6-33EB-56B062A6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7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75B9-FACF-4AC6-9C70-2B3866CE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AD406-FFBE-D790-8028-3099ADEEF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7E69B-7D6B-F9BF-FBB1-0D5747064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ADAD7-6A5A-233F-3237-E55088FC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9F529-3980-EFBA-A849-9A179B21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B7005-85A0-9F99-7DEB-BFC24A1F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4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B5A5-5236-90DD-B770-4763B472C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AF5EA-ACB2-15FF-80DF-5B4B45E5A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E00FB-896D-3F76-A9DD-B4FEEB98C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E3506-1625-1CA2-625C-F75657BD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E1ADB-52BF-D1BF-5E62-6FA435B0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3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34ACD0-73D8-6F43-8636-1E20CE9D6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74B0D-9773-5531-48E0-CEBEA2E4E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C0765-5465-2708-710C-69D3C4AC9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3A1D9-4C7B-3B54-466F-16D5B9A99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F1D1F-D9C8-AACF-25B7-6CFB2016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24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43319-6CEE-E226-8B02-41F64210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6180F-116A-4EE3-7E85-6405B6B2E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01537-9A6A-BBAA-978B-2D32CCCE6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D2BA2-905E-4C34-9149-8D2EFE175F72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5E5DD-525D-6129-24BD-050D267FA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B3790-544B-CCD3-F7D9-4DDF99FCC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C6DBF-BFF8-47CA-BEB1-E97A476FF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manticscholar.org/reader/03a59e124f9e6faef59efb10a4d01cbd1c372a6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467A-F0DA-C6F3-E6BA-2F2F8E065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Virtualization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42049-D0FD-2B3D-649D-AC4872E3EF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674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89EC-1040-1431-0380-7615BB63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need virtualization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F5EEF-A698-A9BB-14FF-C4FB776EF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Increased performance and computing capacity</a:t>
            </a:r>
          </a:p>
          <a:p>
            <a:r>
              <a:rPr lang="en-US" dirty="0"/>
              <a:t>Underutilized hardware and software resources</a:t>
            </a:r>
          </a:p>
          <a:p>
            <a:r>
              <a:rPr lang="en-US" dirty="0"/>
              <a:t>Lack of space: Big companies vs enterprises </a:t>
            </a:r>
          </a:p>
          <a:p>
            <a:r>
              <a:rPr lang="en-US" dirty="0"/>
              <a:t>Greening initiatives </a:t>
            </a:r>
          </a:p>
          <a:p>
            <a:r>
              <a:rPr lang="en-US" dirty="0"/>
              <a:t>Rise of Administrative costs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63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2A7E-1C5A-FE87-D410-BB282C70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Virtualized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5B84E-D948-237B-B9D8-49B2141DC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Increased Security</a:t>
            </a:r>
          </a:p>
          <a:p>
            <a:r>
              <a:rPr lang="en-US" dirty="0"/>
              <a:t>Managed Execution</a:t>
            </a:r>
          </a:p>
          <a:p>
            <a:r>
              <a:rPr lang="en-US" dirty="0"/>
              <a:t>Portability: Virtual image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C6C4A-EF89-2D74-CB0C-0E9F60262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993" y="3429000"/>
            <a:ext cx="5387807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6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9AA6-E8E9-E855-0862-ECBD596B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Reference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D2D3C-FB47-A652-AD72-54DDA4571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execution environment at computing levels</a:t>
            </a:r>
          </a:p>
          <a:p>
            <a:r>
              <a:rPr lang="en-US" dirty="0"/>
              <a:t>OS developer (System ISA), application developer (user ISA)</a:t>
            </a:r>
          </a:p>
          <a:p>
            <a:r>
              <a:rPr lang="en-US" dirty="0"/>
              <a:t>ABI: low level data types, format for executable programs</a:t>
            </a:r>
          </a:p>
          <a:p>
            <a:r>
              <a:rPr lang="en-US" dirty="0"/>
              <a:t>High-level abstraction: </a:t>
            </a:r>
          </a:p>
          <a:p>
            <a:pPr lvl="1"/>
            <a:r>
              <a:rPr lang="en-US" dirty="0"/>
              <a:t>nonprivileged</a:t>
            </a:r>
          </a:p>
          <a:p>
            <a:pPr lvl="1"/>
            <a:r>
              <a:rPr lang="en-US" dirty="0"/>
              <a:t>Privileged</a:t>
            </a:r>
          </a:p>
          <a:p>
            <a:pPr lvl="2"/>
            <a:r>
              <a:rPr lang="en-US" dirty="0"/>
              <a:t>Behavior sensitive: I/O</a:t>
            </a:r>
          </a:p>
          <a:p>
            <a:pPr lvl="2"/>
            <a:r>
              <a:rPr lang="en-US" dirty="0"/>
              <a:t>Control sensitive : </a:t>
            </a:r>
            <a:r>
              <a:rPr lang="en-US" dirty="0" err="1"/>
              <a:t>cpu</a:t>
            </a:r>
            <a:r>
              <a:rPr lang="en-US" dirty="0"/>
              <a:t> registers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D5198-3710-F4D8-A71C-C60138EA4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006" y="3226637"/>
            <a:ext cx="5243014" cy="23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67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20E0-1B01-ABD7-8414-BCE801ED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rings and privilege modes.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9B3F2-1087-61D6-BC7E-8EE2D5323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06948" cy="4351338"/>
          </a:xfrm>
        </p:spPr>
        <p:txBody>
          <a:bodyPr/>
          <a:lstStyle/>
          <a:p>
            <a:r>
              <a:rPr lang="en-US" dirty="0"/>
              <a:t>User Mode</a:t>
            </a:r>
          </a:p>
          <a:p>
            <a:r>
              <a:rPr lang="en-US" dirty="0"/>
              <a:t>Supervisory mode: execution mode</a:t>
            </a:r>
          </a:p>
          <a:p>
            <a:r>
              <a:rPr lang="en-US" dirty="0"/>
              <a:t>Hypervisor mode: above supervisory mode</a:t>
            </a:r>
          </a:p>
          <a:p>
            <a:r>
              <a:rPr lang="en-US" dirty="0"/>
              <a:t>Managing traps: </a:t>
            </a:r>
          </a:p>
          <a:p>
            <a:pPr lvl="1"/>
            <a:r>
              <a:rPr lang="en-US" dirty="0"/>
              <a:t>ISA 17 sensitive instruction for user mode</a:t>
            </a:r>
          </a:p>
          <a:p>
            <a:pPr lvl="1"/>
            <a:endParaRPr lang="en-US" dirty="0"/>
          </a:p>
          <a:p>
            <a:r>
              <a:rPr lang="en-US" dirty="0"/>
              <a:t>How guest </a:t>
            </a:r>
            <a:r>
              <a:rPr lang="en-US" dirty="0" err="1"/>
              <a:t>os</a:t>
            </a:r>
            <a:r>
              <a:rPr lang="en-US" dirty="0"/>
              <a:t> sensitive instructions are handled while it runs in user mode?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989A0-680B-CF66-269B-1E208B024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711" y="1501717"/>
            <a:ext cx="4061812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45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7E54-0B94-A79B-81A0-EAC1A986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level virtualization/system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784E5-0761-E985-7782-DFE87C3CA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Hypervisor ?</a:t>
            </a:r>
          </a:p>
          <a:p>
            <a:pPr lvl="1"/>
            <a:r>
              <a:rPr lang="en-US" dirty="0"/>
              <a:t>Type –I</a:t>
            </a:r>
          </a:p>
          <a:p>
            <a:pPr lvl="2"/>
            <a:r>
              <a:rPr lang="en-US" dirty="0"/>
              <a:t>VMM: </a:t>
            </a:r>
          </a:p>
          <a:p>
            <a:pPr lvl="2"/>
            <a:r>
              <a:rPr lang="en-US" dirty="0"/>
              <a:t>Directly runs on top of hardware(Native VM)</a:t>
            </a:r>
          </a:p>
          <a:p>
            <a:pPr lvl="1"/>
            <a:r>
              <a:rPr lang="en-US" dirty="0"/>
              <a:t>Type-II</a:t>
            </a:r>
          </a:p>
          <a:p>
            <a:pPr lvl="2"/>
            <a:r>
              <a:rPr lang="en-US" dirty="0"/>
              <a:t>Requires support of OS for virtualization services (Hosted VM)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FF7C8-74AA-63D8-EDD1-3207AC75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02" y="4313366"/>
            <a:ext cx="5159187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83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9DD7-9A9F-457D-1F8F-2B6E0F9E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Manager: VMM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4D02D-90CC-2B56-4691-A7F601642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Dispatcher : entry point,( invocator) </a:t>
            </a:r>
          </a:p>
          <a:p>
            <a:r>
              <a:rPr lang="en-US" dirty="0"/>
              <a:t>Allocator : manage resource allocation.</a:t>
            </a:r>
          </a:p>
          <a:p>
            <a:r>
              <a:rPr lang="en-US" dirty="0"/>
              <a:t>Interpreter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Efficient VMM must satisfy  the criteria of  three properties (</a:t>
            </a:r>
            <a:r>
              <a:rPr lang="en-US" dirty="0" err="1"/>
              <a:t>Golgberg</a:t>
            </a:r>
            <a:r>
              <a:rPr lang="en-US" dirty="0"/>
              <a:t> &amp; Popek):</a:t>
            </a:r>
          </a:p>
          <a:p>
            <a:pPr lvl="1"/>
            <a:r>
              <a:rPr lang="en-US" b="1" dirty="0"/>
              <a:t>Equivalence</a:t>
            </a:r>
            <a:r>
              <a:rPr lang="en-US" dirty="0"/>
              <a:t> :A guest running under the control of a virtual machine manager should exhibit the same behavior as when it is executed directly on the physical host.</a:t>
            </a:r>
          </a:p>
          <a:p>
            <a:pPr lvl="1"/>
            <a:r>
              <a:rPr lang="en-US" b="1" dirty="0"/>
              <a:t>Resource Control:</a:t>
            </a:r>
            <a:r>
              <a:rPr lang="en-US" dirty="0"/>
              <a:t> The virtual machine manager should be in complete control of virtualized resources. </a:t>
            </a:r>
            <a:endParaRPr lang="en-US" b="1" dirty="0"/>
          </a:p>
          <a:p>
            <a:pPr lvl="1"/>
            <a:r>
              <a:rPr lang="en-US" b="1" dirty="0"/>
              <a:t>Efficiency</a:t>
            </a:r>
            <a:r>
              <a:rPr lang="en-US" dirty="0"/>
              <a:t>: A statistically dominant fraction of the machine instructions should be executed without intervention from the virtual machine manager.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252AA-13C2-D9A1-B78B-A107573D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563" y="140535"/>
            <a:ext cx="3761116" cy="363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5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0C69-A8AB-A6C6-68FE-A66BABB53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virtualization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85BD8-E449-4520-EC71-39F198DD1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Full virtualization</a:t>
            </a:r>
            <a:r>
              <a:rPr lang="en-US" dirty="0"/>
              <a:t>: Full virtualization refers to the ability to run a program, most likely an operating system, directly on top of a virtual machine and without any modification, as though it were run on the raw hardware</a:t>
            </a:r>
          </a:p>
          <a:p>
            <a:r>
              <a:rPr lang="en-US" b="1" dirty="0"/>
              <a:t>Paravirtualization</a:t>
            </a:r>
            <a:r>
              <a:rPr lang="en-US" dirty="0"/>
              <a:t>: This is a not-transparent virtualization solution that allows thin VMM. </a:t>
            </a:r>
          </a:p>
          <a:p>
            <a:pPr lvl="1"/>
            <a:r>
              <a:rPr lang="en-US" dirty="0"/>
              <a:t>Performance critical operation for host</a:t>
            </a:r>
          </a:p>
          <a:p>
            <a:pPr lvl="1"/>
            <a:r>
              <a:rPr lang="en-US" dirty="0"/>
              <a:t>Open source and academic environment </a:t>
            </a:r>
          </a:p>
          <a:p>
            <a:r>
              <a:rPr lang="en-US" b="1" dirty="0"/>
              <a:t>Partial Virtualization: </a:t>
            </a:r>
            <a:r>
              <a:rPr lang="en-US" dirty="0"/>
              <a:t>Partial virtualization provides a partial emulation of the underlying hardware, thus not allowing the complete execution of the guest operating system in complete isolation.</a:t>
            </a:r>
          </a:p>
        </p:txBody>
      </p:sp>
    </p:spTree>
    <p:extLst>
      <p:ext uri="{BB962C8B-B14F-4D97-AF65-F5344CB8AC3E}">
        <p14:creationId xmlns:p14="http://schemas.microsoft.com/office/powerpoint/2010/main" val="3727771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1E6B-C6D6-08B8-FC86-7818F635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Level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14D0-870B-A4C6-7C8D-4313ADB6E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concurrent execution</a:t>
            </a:r>
          </a:p>
          <a:p>
            <a:r>
              <a:rPr lang="en-US" dirty="0"/>
              <a:t>No VMM or Hypervisor </a:t>
            </a:r>
          </a:p>
          <a:p>
            <a:r>
              <a:rPr lang="en-US" dirty="0"/>
              <a:t>Virtualization within  single OS, kernel allowing multiple user space instances.</a:t>
            </a:r>
          </a:p>
          <a:p>
            <a:pPr lvl="1"/>
            <a:r>
              <a:rPr lang="en-US" dirty="0"/>
              <a:t>User spaces includes: isolated view of file system, separate IP, configuration and access to devices </a:t>
            </a:r>
          </a:p>
          <a:p>
            <a:r>
              <a:rPr lang="en-US" dirty="0"/>
              <a:t>Direct call to OS system call, no emulation, no overhead unlike hardware virtualization</a:t>
            </a:r>
          </a:p>
          <a:p>
            <a:r>
              <a:rPr lang="en-US" dirty="0"/>
              <a:t>Programming Language-level virtualization: bytecode program </a:t>
            </a:r>
          </a:p>
          <a:p>
            <a:pPr lvl="1"/>
            <a:r>
              <a:rPr lang="en-US" dirty="0"/>
              <a:t>For deployment </a:t>
            </a:r>
          </a:p>
          <a:p>
            <a:pPr lvl="1"/>
            <a:r>
              <a:rPr lang="en-US" dirty="0"/>
              <a:t>Platform/OS portability </a:t>
            </a:r>
          </a:p>
        </p:txBody>
      </p:sp>
    </p:spTree>
    <p:extLst>
      <p:ext uri="{BB962C8B-B14F-4D97-AF65-F5344CB8AC3E}">
        <p14:creationId xmlns:p14="http://schemas.microsoft.com/office/powerpoint/2010/main" val="253538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44B2-AACC-8B2F-BAE7-14CF5BD7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and Cloud Computing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6CA4-5F39-BA99-19E9-49D4A6BCB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Mostly for computing and storage environment not for network.</a:t>
            </a:r>
          </a:p>
          <a:p>
            <a:r>
              <a:rPr lang="en-US" dirty="0"/>
              <a:t>Hardware virtualization (IaaS)</a:t>
            </a:r>
          </a:p>
          <a:p>
            <a:r>
              <a:rPr lang="en-US" dirty="0"/>
              <a:t>Programming language  virtualization (PaaS)</a:t>
            </a:r>
          </a:p>
          <a:p>
            <a:r>
              <a:rPr lang="en-US" dirty="0"/>
              <a:t>Server Consolidation </a:t>
            </a:r>
          </a:p>
          <a:p>
            <a:pPr lvl="1"/>
            <a:r>
              <a:rPr lang="en-US" dirty="0"/>
              <a:t>Virtual machine migration</a:t>
            </a:r>
          </a:p>
          <a:p>
            <a:pPr lvl="1"/>
            <a:r>
              <a:rPr lang="en-US" dirty="0"/>
              <a:t>Live  migration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581E6-5A3A-7F69-3BC8-B189DC256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692" y="2187202"/>
            <a:ext cx="5189670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2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CA9D-26CB-A70F-ED18-DC5DC1466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and disadvantages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42F3-FF29-EF00-60F6-C82895DB2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virtual execution environment can be configured as a sandbox, thus preventing any harmful operation to cross the borders of the virtual host.</a:t>
            </a:r>
          </a:p>
          <a:p>
            <a:r>
              <a:rPr lang="en-US" dirty="0"/>
              <a:t>Resource partitioning is simplified providing finetuning of resources as well </a:t>
            </a:r>
          </a:p>
          <a:p>
            <a:r>
              <a:rPr lang="en-US" dirty="0"/>
              <a:t>Overhead by the following activities:</a:t>
            </a:r>
          </a:p>
          <a:p>
            <a:pPr lvl="1"/>
            <a:r>
              <a:rPr lang="en-US" dirty="0"/>
              <a:t>Maintaining the status of virtual processor s</a:t>
            </a:r>
          </a:p>
          <a:p>
            <a:pPr lvl="1"/>
            <a:r>
              <a:rPr lang="en-US" dirty="0"/>
              <a:t>Support of privileged instructions (trap and simulate privileged instructions)</a:t>
            </a:r>
          </a:p>
          <a:p>
            <a:pPr lvl="1"/>
            <a:r>
              <a:rPr lang="en-US" dirty="0"/>
              <a:t>Support of paging within VM </a:t>
            </a:r>
          </a:p>
          <a:p>
            <a:pPr lvl="1"/>
            <a:r>
              <a:rPr lang="en-US" dirty="0"/>
              <a:t>Console functions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424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92B2-DA11-F3E9-D7C9-9629E6A5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Xen -paravirtualization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2523F-9468-692A-4125-224C4CCEB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Paravirtualization</a:t>
            </a:r>
          </a:p>
          <a:p>
            <a:r>
              <a:rPr lang="en-US" dirty="0"/>
              <a:t>Special Domain: Domain 0</a:t>
            </a:r>
          </a:p>
          <a:p>
            <a:pPr lvl="1"/>
            <a:r>
              <a:rPr lang="en-US" dirty="0"/>
              <a:t>First loaded</a:t>
            </a:r>
          </a:p>
          <a:p>
            <a:pPr lvl="1"/>
            <a:r>
              <a:rPr lang="en-US" dirty="0"/>
              <a:t>VM created and configured  with http</a:t>
            </a:r>
          </a:p>
          <a:p>
            <a:r>
              <a:rPr lang="en-US" dirty="0"/>
              <a:t>Domain U: Ring 1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Paravirtualization needs the operating systems codebase to be modified, and hence not all operating system can be used as guest in a Xen based environment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2B611-CB56-38E7-98CA-7A4D016A0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294" y="885575"/>
            <a:ext cx="6477561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8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D7E6B-3B2D-38AB-7247-3B4CC5FD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Vmware: full virtualization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1DEBA-21D7-E5F5-7CFF-7E93BCB8A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Full virtualization</a:t>
            </a:r>
          </a:p>
          <a:p>
            <a:pPr lvl="1"/>
            <a:r>
              <a:rPr lang="en-US" sz="2000" dirty="0"/>
              <a:t>Type I  : Server </a:t>
            </a:r>
          </a:p>
          <a:p>
            <a:pPr lvl="1"/>
            <a:r>
              <a:rPr lang="en-US" sz="2000" dirty="0"/>
              <a:t>Type II: Desktop</a:t>
            </a:r>
          </a:p>
          <a:p>
            <a:r>
              <a:rPr lang="en-US" sz="2000" dirty="0"/>
              <a:t>Direct execution for non privileged</a:t>
            </a:r>
          </a:p>
          <a:p>
            <a:r>
              <a:rPr lang="en-US" sz="2000" dirty="0"/>
              <a:t>Binary translation (sensitive instructions)</a:t>
            </a:r>
          </a:p>
          <a:p>
            <a:r>
              <a:rPr lang="en-US" sz="2000" dirty="0"/>
              <a:t> Memory Management issue.</a:t>
            </a:r>
          </a:p>
        </p:txBody>
      </p:sp>
      <p:pic>
        <p:nvPicPr>
          <p:cNvPr id="5" name="Picture 4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4A15365A-A861-BB9E-92AD-6A11C4AF6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513725"/>
            <a:ext cx="6096000" cy="55618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3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9551-C2C1-C711-888C-67C386CE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Virtualization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63695-A5DA-6B58-B5EA-8C75386A4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 </a:t>
            </a:r>
          </a:p>
          <a:p>
            <a:r>
              <a:rPr lang="en-US" dirty="0"/>
              <a:t>Network </a:t>
            </a:r>
          </a:p>
          <a:p>
            <a:r>
              <a:rPr lang="en-US" dirty="0"/>
              <a:t>Desktop </a:t>
            </a:r>
          </a:p>
          <a:p>
            <a:r>
              <a:rPr lang="en-US" dirty="0"/>
              <a:t>Application server </a:t>
            </a:r>
          </a:p>
        </p:txBody>
      </p:sp>
    </p:spTree>
    <p:extLst>
      <p:ext uri="{BB962C8B-B14F-4D97-AF65-F5344CB8AC3E}">
        <p14:creationId xmlns:p14="http://schemas.microsoft.com/office/powerpoint/2010/main" val="4291264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E2B9-40DF-7DD9-9CF3-415F106E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Hostel Task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28C95-5E3D-1C7E-53FE-54492B3B6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[PDF] A Survey of Virtualization Technologies: Towards a New Taxonomic Proposal | Semantic Scholar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09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643</Words>
  <Application>Microsoft Office PowerPoint</Application>
  <PresentationFormat>Widescreen</PresentationFormat>
  <Paragraphs>100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Virtualization </vt:lpstr>
      <vt:lpstr>Why we need virtualization ?</vt:lpstr>
      <vt:lpstr>Characteristics of Virtualized environments</vt:lpstr>
      <vt:lpstr>Machine Reference Model</vt:lpstr>
      <vt:lpstr>Security rings and privilege modes.</vt:lpstr>
      <vt:lpstr>Hardware level virtualization/system virtualization</vt:lpstr>
      <vt:lpstr>Virtual Machine Manager: VMM</vt:lpstr>
      <vt:lpstr>Hardware virtualization techniques</vt:lpstr>
      <vt:lpstr>Operating system Level Virtualization</vt:lpstr>
      <vt:lpstr>Virtualization and Cloud Computing </vt:lpstr>
      <vt:lpstr>Advantage and disadvantages </vt:lpstr>
      <vt:lpstr>Examples: Xen -paravirtualization</vt:lpstr>
      <vt:lpstr>Vmware: full virtualization </vt:lpstr>
      <vt:lpstr>Other types of Virtualization </vt:lpstr>
      <vt:lpstr>Hostel Task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</dc:creator>
  <cp:lastModifiedBy>Safia Baloch</cp:lastModifiedBy>
  <cp:revision>79</cp:revision>
  <dcterms:created xsi:type="dcterms:W3CDTF">2025-02-09T17:47:14Z</dcterms:created>
  <dcterms:modified xsi:type="dcterms:W3CDTF">2025-02-11T08:39:24Z</dcterms:modified>
</cp:coreProperties>
</file>