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AEDEA-C572-F74C-7F7B-F128D7E6A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E714F-9DAF-A1AA-B369-DA7386AA32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23C86-FB67-3AAC-7813-355C162CC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1FF74E-0875-2087-8B66-54B50CE60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DCE6E-9BFD-380F-78A2-5D8CD0C93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99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DE7D1-BF35-A32D-8F66-D1C4AA3AE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7BC88E-01A9-EC93-EA9A-17E7341287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FBA79-BE8D-788D-2DEC-EE78943F8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7CD1FA-2024-3AE5-8A69-EB161D00A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58620-E7B9-C00C-3F2E-57741FB7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945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CD28-34B2-BF8B-CBEF-9B63E7349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22565-7C11-E624-4232-E9241790F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57914-9B6B-FC1B-BC7E-8FD54C665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C31CE-1981-0595-657F-83CA83A2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104BD-3D06-E321-4EC2-245449B8F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8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A8D24-1B74-5F8A-B0C8-DC9128780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F609D-C251-B6EA-74C6-600CE4C54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49037B-6BCB-2B8F-4508-248FC1851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3DE645-1645-F456-4726-D03F9103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AD7E1A-9C3E-AD04-369E-F62779186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AE364D-5A8C-6A0C-D458-62DE553C6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55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E1E16-20EA-CF2E-E2FC-DF7892FC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F3E69-28F2-9DCD-46B3-998994A2D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FAC369-64BE-5132-CE5D-2E4187944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A20D1A-123F-42B0-0B39-568E9E7D6A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4EF14-B223-B661-BF2B-B524C70A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CFDC8-C1C0-C93A-4008-7EF9C48DE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C53BB-8267-42C8-C56A-0FE4660B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8411F8-6677-4AC1-11A0-6726669A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1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B050-3F13-C0D3-878E-508C2B7A1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7C4C7E-A4E4-A2AE-B167-C061A408C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3D04-9FF3-5149-0B9D-5CE2D0A51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386E5-F512-ACD1-7AAF-E561AC181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2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099E40-5D76-982F-FB0B-BF3DA062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28D4D5-A843-41B2-3FFD-C6D58812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39F10-5891-0EC5-59D9-712018924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77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FE484-6C8E-88B1-A7E4-3CD13D285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6257D-6C0F-BFC3-B9E1-38C445E934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BBACF-5B16-C2D7-CAD8-27AC616803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73523-631A-FF4A-7EBF-F522A9020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14626-87D5-4C2E-B808-5419295A6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F177A2-392C-8BB8-98A9-6019DEEA6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08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C9D50-7004-1442-C296-9EF2C7FFF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60CF0-6C47-D54F-0F2A-786169F06B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A1E0BE-64CA-468B-2E29-8E0A3694FD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9F679-2AC5-5C21-C40E-A930AEECD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4A606C-5070-6900-0759-0ECF36666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0018B-4A1F-790A-7D04-8D5243DC8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854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8A255-2785-CBC6-1224-F920883F6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E1085D-F9FE-4526-F2E8-A2D3746DD5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7B4A-5903-0BEE-FFF5-A57CBCFFA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4BEEB-987C-8EAA-1B13-CC248E949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1FF31-5788-3A2E-7DE9-F7222B15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362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9207FA-CF28-C4B9-3EFB-4976BC0414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5F0E48-C506-AA2E-BFC3-B02B55C98C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3EFE5-C0B1-3270-AE6A-8B1E3348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EAAF1-0305-3331-4B5E-5D116640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71F802-4742-A338-1282-24E0B5909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012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95ACAB-679A-7484-B962-D2D39EEEC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6910F-F4C7-20CA-07EE-2DE781C0B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C9751-9331-E76F-649B-1BB31350A0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F0B13F-5AB4-4492-B9A5-CE00E55052EF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CAA0E-0462-F57C-FCE7-BF6C79F23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3492D-3F03-C8A1-8360-9549F4711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C21AF-A5EA-4AE7-B31A-DB1C4812B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3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0A42-5EC2-7118-AA3C-7ACC0A0B1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Cloud Computing Architectures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B9DC9-E379-0BD7-C71D-61D69809B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05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C705A-DF92-8C09-8210-D5F442771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start , a utility service </a:t>
            </a:r>
          </a:p>
          <a:p>
            <a:r>
              <a:rPr lang="en-US" dirty="0"/>
              <a:t>Cloud in general, datacenter, a collection of clusters, or a heterogeneous distributed system composed of desktop PCs, workstations, and servers. </a:t>
            </a:r>
          </a:p>
        </p:txBody>
      </p:sp>
    </p:spTree>
    <p:extLst>
      <p:ext uri="{BB962C8B-B14F-4D97-AF65-F5344CB8AC3E}">
        <p14:creationId xmlns:p14="http://schemas.microsoft.com/office/powerpoint/2010/main" val="2619928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2596-1813-5DEC-090E-3BE44138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2620"/>
            <a:ext cx="10515600" cy="613443"/>
          </a:xfrm>
        </p:spPr>
        <p:txBody>
          <a:bodyPr>
            <a:normAutofit fontScale="90000"/>
          </a:bodyPr>
          <a:lstStyle/>
          <a:p>
            <a:r>
              <a:rPr lang="en-US" dirty="0"/>
              <a:t>The Cloud Reference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36733E-108E-648E-7332-DC1BC65EB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71" y="786063"/>
            <a:ext cx="11751058" cy="6071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09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D865C-D143-2F57-2E58-46AA40E0E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811" y="18255"/>
            <a:ext cx="10515600" cy="662782"/>
          </a:xfrm>
        </p:spPr>
        <p:txBody>
          <a:bodyPr>
            <a:normAutofit fontScale="90000"/>
          </a:bodyPr>
          <a:lstStyle/>
          <a:p>
            <a:r>
              <a:rPr lang="en-US" dirty="0"/>
              <a:t>Cloud Computing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BE647D-7D5A-2C14-6C57-CDD85784F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2337"/>
            <a:ext cx="3433011" cy="452462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combination of hosting platforms and resources is generally called IaaS</a:t>
            </a:r>
          </a:p>
          <a:p>
            <a:r>
              <a:rPr lang="en-US" dirty="0"/>
              <a:t>The range of tools include Web-based interfaces, command-line tools, and frameworks for concurrent and dis tributed programming. </a:t>
            </a:r>
          </a:p>
          <a:p>
            <a:r>
              <a:rPr lang="en-US" dirty="0"/>
              <a:t>Pure PaaS ? </a:t>
            </a:r>
          </a:p>
          <a:p>
            <a:r>
              <a:rPr lang="en-US" dirty="0" err="1"/>
              <a:t>XaaS</a:t>
            </a:r>
            <a:r>
              <a:rPr lang="en-US" dirty="0"/>
              <a:t> 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B60647-4DC5-2BC9-3039-005C12F96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723" y="529389"/>
            <a:ext cx="8733277" cy="6044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11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05C21-8ADD-50C3-EC18-D911C4DA1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0"/>
            <a:ext cx="10515600" cy="1325563"/>
          </a:xfrm>
        </p:spPr>
        <p:txBody>
          <a:bodyPr/>
          <a:lstStyle/>
          <a:p>
            <a:r>
              <a:rPr lang="en-US" dirty="0"/>
              <a:t>IaaS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E123E-A2C4-6B81-BCA4-C0D155667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7411" y="850232"/>
            <a:ext cx="7844589" cy="6007768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9B1D50F-206B-B194-63F9-20F3D1D95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52337"/>
            <a:ext cx="3433011" cy="4524626"/>
          </a:xfrm>
        </p:spPr>
        <p:txBody>
          <a:bodyPr>
            <a:normAutofit/>
          </a:bodyPr>
          <a:lstStyle/>
          <a:p>
            <a:r>
              <a:rPr lang="en-US" dirty="0"/>
              <a:t>Single server offering entire infrastructure, network devices, load balancers, databases, web servers.</a:t>
            </a:r>
          </a:p>
        </p:txBody>
      </p:sp>
    </p:spTree>
    <p:extLst>
      <p:ext uri="{BB962C8B-B14F-4D97-AF65-F5344CB8AC3E}">
        <p14:creationId xmlns:p14="http://schemas.microsoft.com/office/powerpoint/2010/main" val="450514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7E7F-B7D7-28CB-1FCA-3868BC233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 at Amazon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2897B9-F6E6-7D72-37B2-C0F82DA38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Earlier, installed infrastructure for selling variety of goods. </a:t>
            </a:r>
          </a:p>
          <a:p>
            <a:r>
              <a:rPr lang="en-US" dirty="0"/>
              <a:t>Mid 2000, amazon web services AWS</a:t>
            </a:r>
          </a:p>
          <a:p>
            <a:r>
              <a:rPr lang="en-US" dirty="0"/>
              <a:t>offers an infrastructure consisting of compute and storage servers interconnected by high-speed networks that support a set of services to access these resources.</a:t>
            </a:r>
          </a:p>
          <a:p>
            <a:r>
              <a:rPr lang="en-US" dirty="0"/>
              <a:t>Role of application developer ?</a:t>
            </a:r>
          </a:p>
          <a:p>
            <a:r>
              <a:rPr lang="en-US" dirty="0"/>
              <a:t>EC2. Elastic Computing Cloud, Web service with a simple interface for launching instances of an application under several operating systems.</a:t>
            </a:r>
          </a:p>
          <a:p>
            <a:r>
              <a:rPr lang="en-US" dirty="0"/>
              <a:t>An instance created from Amazon Machine Image (AMI) stored in S3, or  user define image. </a:t>
            </a:r>
          </a:p>
          <a:p>
            <a:r>
              <a:rPr lang="en-US" dirty="0"/>
              <a:t>Image includes, OS, runt time environment , libraries, application.</a:t>
            </a:r>
          </a:p>
        </p:txBody>
      </p:sp>
    </p:spTree>
    <p:extLst>
      <p:ext uri="{BB962C8B-B14F-4D97-AF65-F5344CB8AC3E}">
        <p14:creationId xmlns:p14="http://schemas.microsoft.com/office/powerpoint/2010/main" val="36093614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F25B7-1EFE-4609-EA31-2BDC3893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EC2: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39F045-85B4-46D1-551E-CA6AEC947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Launch an instance from an existing AMI and terminate an instance</a:t>
            </a:r>
          </a:p>
          <a:p>
            <a:pPr lvl="1"/>
            <a:r>
              <a:rPr lang="en-US" dirty="0"/>
              <a:t>Start and stop an instance</a:t>
            </a:r>
          </a:p>
          <a:p>
            <a:pPr lvl="1"/>
            <a:r>
              <a:rPr lang="en-US" dirty="0"/>
              <a:t>create a new image</a:t>
            </a:r>
          </a:p>
          <a:p>
            <a:pPr lvl="1"/>
            <a:r>
              <a:rPr lang="en-US" dirty="0"/>
              <a:t>add tags to identify an image</a:t>
            </a:r>
          </a:p>
          <a:p>
            <a:pPr lvl="1"/>
            <a:r>
              <a:rPr lang="en-US" dirty="0"/>
              <a:t>reboot an instance.</a:t>
            </a:r>
          </a:p>
          <a:p>
            <a:r>
              <a:rPr lang="en-US" dirty="0"/>
              <a:t>Based on Xen virtualization.</a:t>
            </a:r>
          </a:p>
          <a:p>
            <a:r>
              <a:rPr lang="en-US" dirty="0"/>
              <a:t>User interaction with SOAP messages. </a:t>
            </a:r>
          </a:p>
          <a:p>
            <a:r>
              <a:rPr lang="en-US" dirty="0"/>
              <a:t>User has root access so he can relocate the instance.</a:t>
            </a:r>
          </a:p>
          <a:p>
            <a:r>
              <a:rPr lang="en-US" dirty="0"/>
              <a:t>VM import, user environment</a:t>
            </a:r>
          </a:p>
          <a:p>
            <a:r>
              <a:rPr lang="en-US" dirty="0"/>
              <a:t>Elastic load Balancing, distribute the  application traffic </a:t>
            </a:r>
          </a:p>
          <a:p>
            <a:r>
              <a:rPr lang="en-US" dirty="0"/>
              <a:t>Elastic IP address.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636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80CC62-85BE-D28E-0C31-A56D06A2F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169D41-4A8A-19EA-FC26-F4EDB8ED24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7804" y="243840"/>
            <a:ext cx="7664196" cy="637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484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288A5-BDA1-3AB5-C7EF-F4B09E26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E683C-F574-95BD-BAF6-A2FA9AE6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Simple Storage System (S3): storage for large objects  from byte to Terabytes, </a:t>
            </a:r>
          </a:p>
          <a:p>
            <a:pPr lvl="1"/>
            <a:r>
              <a:rPr lang="en-US" dirty="0"/>
              <a:t>with primitive functions  write, read, delete, put, get excluding copy, rename and move. </a:t>
            </a:r>
          </a:p>
          <a:p>
            <a:pPr lvl="1"/>
            <a:r>
              <a:rPr lang="en-US" dirty="0"/>
              <a:t>Object stored in bucked and retrieved with Dev-key. </a:t>
            </a:r>
          </a:p>
          <a:p>
            <a:r>
              <a:rPr lang="en-US" dirty="0"/>
              <a:t>Elastic Bucket Store (EBS):  persistent  block-level storage for EC2 instance,</a:t>
            </a:r>
          </a:p>
          <a:p>
            <a:pPr lvl="1"/>
            <a:r>
              <a:rPr lang="en-US" dirty="0"/>
              <a:t> volume is raw, unformatted and reliable physical disk from 1 </a:t>
            </a:r>
            <a:r>
              <a:rPr lang="en-US" dirty="0" err="1"/>
              <a:t>GBt</a:t>
            </a:r>
            <a:r>
              <a:rPr lang="en-US" dirty="0"/>
              <a:t> to 1 TB or even more. </a:t>
            </a:r>
          </a:p>
          <a:p>
            <a:pPr lvl="1"/>
            <a:r>
              <a:rPr lang="en-US" dirty="0"/>
              <a:t>Volume from same zone grouped and replicated in each zone, instance can have multiple volume, but volume can not be shared with multiple instances. </a:t>
            </a:r>
          </a:p>
          <a:p>
            <a:pPr lvl="1"/>
            <a:r>
              <a:rPr lang="en-US" dirty="0"/>
              <a:t>Good for database application , file systems application with raw data devices </a:t>
            </a:r>
          </a:p>
          <a:p>
            <a:r>
              <a:rPr lang="en-US" dirty="0"/>
              <a:t> Simple Db: a nonrelational data store that allows developers to store and query data items via Web services requests.</a:t>
            </a:r>
          </a:p>
          <a:p>
            <a:pPr lvl="1"/>
            <a:r>
              <a:rPr lang="en-US" dirty="0"/>
              <a:t> supports store-and-query functions traditionally provided only by relational databases.</a:t>
            </a:r>
          </a:p>
          <a:p>
            <a:pPr lvl="1"/>
            <a:r>
              <a:rPr lang="en-US" dirty="0"/>
              <a:t> Creates multiple geographically distributed copies of each data item and supports high-performance Web applications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694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5287E-1C59-91C4-7983-CA1F9E68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A6EE9-2ABA-6689-4876-A73364DA4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Simple Queue Service (SQS): hosted message queue. </a:t>
            </a:r>
          </a:p>
          <a:p>
            <a:pPr lvl="1"/>
            <a:r>
              <a:rPr lang="en-US" dirty="0"/>
              <a:t>SQS is a system for supporting automated workflows</a:t>
            </a:r>
          </a:p>
          <a:p>
            <a:pPr lvl="1"/>
            <a:r>
              <a:rPr lang="en-US" dirty="0"/>
              <a:t>allows multiple Amazon EC2 instances to coordinate their activities by sending and receiving SQS messages. </a:t>
            </a:r>
          </a:p>
          <a:p>
            <a:pPr lvl="1"/>
            <a:r>
              <a:rPr lang="en-US" dirty="0"/>
              <a:t>Any computer connected to the Internet can add or read messages without any installed software or special firewall configurations. </a:t>
            </a:r>
          </a:p>
          <a:p>
            <a:pPr lvl="1"/>
            <a:r>
              <a:rPr lang="en-US" dirty="0"/>
              <a:t>Applications using SQS can run independently and asynchronously and do not need to be developed with the same technologies.</a:t>
            </a:r>
          </a:p>
          <a:p>
            <a:pPr lvl="1"/>
            <a:r>
              <a:rPr lang="en-US" dirty="0"/>
              <a:t> A received message is “locked” during processing; if processing fails, the lock expires and the message is available again.</a:t>
            </a:r>
          </a:p>
          <a:p>
            <a:r>
              <a:rPr lang="en-US" dirty="0"/>
              <a:t>CloudWatch: </a:t>
            </a:r>
          </a:p>
          <a:p>
            <a:pPr lvl="1"/>
            <a:r>
              <a:rPr lang="en-US" dirty="0"/>
              <a:t>monitoring infrastructure used by application developers, users, and system administrators </a:t>
            </a:r>
          </a:p>
          <a:p>
            <a:pPr lvl="1"/>
            <a:r>
              <a:rPr lang="en-US" dirty="0"/>
              <a:t>collect and track metrics important for optimizing the performance of applications and for increasing the efficiency of resource utilization.</a:t>
            </a:r>
          </a:p>
          <a:p>
            <a:pPr lvl="1"/>
            <a:r>
              <a:rPr lang="en-US" dirty="0"/>
              <a:t> Without installing any software, a user can monitor approximately a dozen preselected metrics and then view graphs and statistics for these metrics.</a:t>
            </a:r>
          </a:p>
          <a:p>
            <a:pPr lvl="1"/>
            <a:r>
              <a:rPr lang="en-US" dirty="0"/>
              <a:t>Default is free of cost, detailed monitoring is subject to charge, </a:t>
            </a:r>
          </a:p>
        </p:txBody>
      </p:sp>
    </p:spTree>
    <p:extLst>
      <p:ext uri="{BB962C8B-B14F-4D97-AF65-F5344CB8AC3E}">
        <p14:creationId xmlns:p14="http://schemas.microsoft.com/office/powerpoint/2010/main" val="2101519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864D-8E08-6302-7245-A5DC18E90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Amazon Web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40A5B-76F3-31B8-F753-6CCC8D005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Elastic Beanstalk: </a:t>
            </a:r>
          </a:p>
          <a:p>
            <a:pPr lvl="1"/>
            <a:r>
              <a:rPr lang="en-US" dirty="0"/>
              <a:t>service that interact with other AWS services, including EC2, S3, Elastic load balancing , auto scaling</a:t>
            </a:r>
          </a:p>
          <a:p>
            <a:pPr lvl="1"/>
            <a:r>
              <a:rPr lang="en-US" dirty="0"/>
              <a:t>automatically scales the resources as required by the application, either up, or down based on default Auto Scaling settings. </a:t>
            </a:r>
          </a:p>
          <a:p>
            <a:pPr lvl="1"/>
            <a:r>
              <a:rPr lang="en-US" dirty="0"/>
              <a:t>Some of the management functions provided by the service are:</a:t>
            </a:r>
          </a:p>
          <a:p>
            <a:pPr lvl="2"/>
            <a:r>
              <a:rPr lang="en-US" dirty="0"/>
              <a:t> deployment of a new application version (or rollback to a previous version); </a:t>
            </a:r>
          </a:p>
          <a:p>
            <a:pPr lvl="2"/>
            <a:r>
              <a:rPr lang="en-US" dirty="0"/>
              <a:t> access to the results reported by CloudWatch monitoring service; </a:t>
            </a:r>
          </a:p>
          <a:p>
            <a:pPr lvl="2"/>
            <a:r>
              <a:rPr lang="en-US" dirty="0"/>
              <a:t>email notifications when application status changes or application servers are added or removed; </a:t>
            </a:r>
          </a:p>
          <a:p>
            <a:pPr lvl="2"/>
            <a:r>
              <a:rPr lang="en-US" dirty="0"/>
              <a:t>Simple application can also be managed via this services:</a:t>
            </a:r>
          </a:p>
          <a:p>
            <a:pPr lvl="2"/>
            <a:r>
              <a:rPr lang="en-US" dirty="0"/>
              <a:t>For example, a Java developer can create the application using any Integrated Development Environment (IDE) such as Eclipse and package the code into a Java Web Application Archive (a file of type “.war”) file. The “.war” file should then be uploaded to the Elastic Beanstalk using the Management Console and then deployed, and in a short time the application will be accessible via a URL. (Assignment #1)</a:t>
            </a:r>
          </a:p>
        </p:txBody>
      </p:sp>
    </p:spTree>
    <p:extLst>
      <p:ext uri="{BB962C8B-B14F-4D97-AF65-F5344CB8AC3E}">
        <p14:creationId xmlns:p14="http://schemas.microsoft.com/office/powerpoint/2010/main" val="862634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3DD6A6-09A4-A59F-6DEC-FBBED2FD9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Microsoft Windows Azure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5BE5DD0-FFC5-FA0A-9637-9FE3A7C05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106607"/>
            <a:ext cx="7214616" cy="461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906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0E6A8-E894-3CC7-EB07-CCDD6E10D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services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03EC4-CD84-4558-AD9C-5682B156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PaaS and SaaS cloud platform.</a:t>
            </a:r>
          </a:p>
          <a:p>
            <a:r>
              <a:rPr lang="en-US" dirty="0"/>
              <a:t>Three core components: </a:t>
            </a:r>
          </a:p>
          <a:p>
            <a:pPr lvl="1"/>
            <a:r>
              <a:rPr lang="en-US" dirty="0"/>
              <a:t>Compute: provides computation environment  to run application</a:t>
            </a:r>
          </a:p>
          <a:p>
            <a:pPr lvl="2"/>
            <a:r>
              <a:rPr lang="en-US" dirty="0"/>
              <a:t>an application typically runs multiple instances of a role.</a:t>
            </a:r>
          </a:p>
          <a:p>
            <a:pPr lvl="3"/>
            <a:r>
              <a:rPr lang="en-US" dirty="0"/>
              <a:t>Web role instances used to create Web applications;  (queue)</a:t>
            </a:r>
          </a:p>
          <a:p>
            <a:pPr lvl="3"/>
            <a:r>
              <a:rPr lang="en-US" dirty="0"/>
              <a:t>Worker role instances used to run Windows-based code;</a:t>
            </a:r>
          </a:p>
          <a:p>
            <a:pPr lvl="3"/>
            <a:r>
              <a:rPr lang="en-US" dirty="0"/>
              <a:t>VM role instances that run a user-provided Windows Server (blobs)</a:t>
            </a:r>
          </a:p>
          <a:p>
            <a:pPr lvl="1"/>
            <a:r>
              <a:rPr lang="en-US" dirty="0"/>
              <a:t>Storage: scalable storage uses , blobs, tables and queues to store data,</a:t>
            </a:r>
          </a:p>
          <a:p>
            <a:pPr lvl="2"/>
            <a:r>
              <a:rPr lang="en-US" dirty="0"/>
              <a:t>Blob: contain binary data( a container consists of one or more blobs, ), and its has metadata</a:t>
            </a:r>
          </a:p>
          <a:p>
            <a:pPr lvl="1"/>
            <a:r>
              <a:rPr lang="en-US" dirty="0"/>
              <a:t>Fabric Controller : deploy, manages and monitors applications </a:t>
            </a:r>
          </a:p>
          <a:p>
            <a:pPr lvl="1"/>
            <a:r>
              <a:rPr lang="en-US" dirty="0"/>
              <a:t>Connect : allow IP connection between user system and user application which is deployed at Azure.</a:t>
            </a:r>
          </a:p>
          <a:p>
            <a:pPr lvl="1"/>
            <a:r>
              <a:rPr lang="en-US" dirty="0"/>
              <a:t>Content Delivery Network (CDN): maintain cache copies of data to speed up computation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448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2AE7A-01DC-BC2A-072C-385ECE132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Google Computing: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F1CA6-7E07-5B7C-EABA-D443D3B0C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type of cloud services does google offer ? Hostel Task </a:t>
            </a:r>
          </a:p>
        </p:txBody>
      </p:sp>
    </p:spTree>
    <p:extLst>
      <p:ext uri="{BB962C8B-B14F-4D97-AF65-F5344CB8AC3E}">
        <p14:creationId xmlns:p14="http://schemas.microsoft.com/office/powerpoint/2010/main" val="777323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330</TotalTime>
  <Words>958</Words>
  <Application>Microsoft Office PowerPoint</Application>
  <PresentationFormat>Widescreen</PresentationFormat>
  <Paragraphs>81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Cloud Computing Architectures</vt:lpstr>
      <vt:lpstr>PowerPoint Presentation</vt:lpstr>
      <vt:lpstr>The Cloud Reference Model</vt:lpstr>
      <vt:lpstr>Cloud Computing Services </vt:lpstr>
      <vt:lpstr>IaaS</vt:lpstr>
      <vt:lpstr>Cloud Computing at Amazon</vt:lpstr>
      <vt:lpstr>EC2:</vt:lpstr>
      <vt:lpstr>S3</vt:lpstr>
      <vt:lpstr>Amazon Web Services</vt:lpstr>
      <vt:lpstr>Amazon Web Services</vt:lpstr>
      <vt:lpstr>Amazon Web Services</vt:lpstr>
      <vt:lpstr>Microsoft Windows Azure </vt:lpstr>
      <vt:lpstr>Azure services </vt:lpstr>
      <vt:lpstr>Google Computing: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Safia Baloch</dc:creator>
  <cp:lastModifiedBy>Safia Baloch</cp:lastModifiedBy>
  <cp:revision>70</cp:revision>
  <dcterms:created xsi:type="dcterms:W3CDTF">2025-02-17T03:16:11Z</dcterms:created>
  <dcterms:modified xsi:type="dcterms:W3CDTF">2025-02-18T06:26:27Z</dcterms:modified>
</cp:coreProperties>
</file>